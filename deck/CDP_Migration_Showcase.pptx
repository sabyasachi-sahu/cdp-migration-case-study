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88E"/>
        </a:solidFill>
      </p:bgPr>
    </p:bg>
    <p:spTree>
      <p:nvGrpSpPr>
        <p:cNvPr id="1" name=""/>
        <p:cNvGrpSpPr/>
        <p:nvPr/>
      </p:nvGrpSpPr>
      <p:grpSpPr>
        <a:xfrm>
          <a:off x="0" y="0"/>
          <a:ext cx="0" cy="0"/>
          <a:chOff x="0" y="0"/>
          <a:chExt cx="0" cy="0"/>
        </a:xfrm>
      </p:grpSpPr>
      <p:sp>
        <p:nvSpPr>
          <p:cNvPr id="2" name="Shape 0"/>
          <p:cNvSpPr/>
          <p:nvPr/>
        </p:nvSpPr>
        <p:spPr>
          <a:xfrm>
            <a:off x="9052560" y="-1371600"/>
            <a:ext cx="5120640" cy="5120640"/>
          </a:xfrm>
          <a:prstGeom prst="ellipse">
            <a:avLst/>
          </a:prstGeom>
          <a:solidFill>
            <a:srgbClr val="22318F"/>
          </a:solidFill>
          <a:ln/>
        </p:spPr>
      </p:sp>
      <p:sp>
        <p:nvSpPr>
          <p:cNvPr id="3" name="Shape 1"/>
          <p:cNvSpPr/>
          <p:nvPr/>
        </p:nvSpPr>
        <p:spPr>
          <a:xfrm>
            <a:off x="10332720" y="3840480"/>
            <a:ext cx="3657600" cy="3657600"/>
          </a:xfrm>
          <a:prstGeom prst="ellipse">
            <a:avLst/>
          </a:prstGeom>
          <a:solidFill>
            <a:srgbClr val="22318F"/>
          </a:solidFill>
          <a:ln/>
        </p:spPr>
      </p:sp>
      <p:sp>
        <p:nvSpPr>
          <p:cNvPr id="4" name="Text 2"/>
          <p:cNvSpPr/>
          <p:nvPr/>
        </p:nvSpPr>
        <p:spPr>
          <a:xfrm>
            <a:off x="822960" y="1280160"/>
            <a:ext cx="8778240" cy="274320"/>
          </a:xfrm>
          <a:prstGeom prst="rect">
            <a:avLst/>
          </a:prstGeom>
          <a:noFill/>
          <a:ln/>
        </p:spPr>
        <p:txBody>
          <a:bodyPr wrap="square" rtlCol="0" anchor="ctr"/>
          <a:lstStyle/>
          <a:p>
            <a:pPr indent="0" marL="0">
              <a:buNone/>
            </a:pPr>
            <a:r>
              <a:rPr lang="en-US" sz="1100" b="1" spc="160" kern="0" dirty="0">
                <a:solidFill>
                  <a:srgbClr val="F96806"/>
                </a:solidFill>
                <a:latin typeface="Calibri" pitchFamily="34" charset="0"/>
                <a:ea typeface="Calibri" pitchFamily="34" charset="-122"/>
                <a:cs typeface="Calibri" pitchFamily="34" charset="-120"/>
              </a:rPr>
              <a:t>CASE STUDY  |  LEGACY SAS → CDP MIGRATION</a:t>
            </a:r>
            <a:endParaRPr lang="en-US" sz="1100" dirty="0"/>
          </a:p>
        </p:txBody>
      </p:sp>
      <p:sp>
        <p:nvSpPr>
          <p:cNvPr id="5" name="Text 3"/>
          <p:cNvSpPr/>
          <p:nvPr/>
        </p:nvSpPr>
        <p:spPr>
          <a:xfrm>
            <a:off x="822960" y="1645920"/>
            <a:ext cx="9509760" cy="1371600"/>
          </a:xfrm>
          <a:prstGeom prst="rect">
            <a:avLst/>
          </a:prstGeom>
          <a:noFill/>
          <a:ln/>
        </p:spPr>
        <p:txBody>
          <a:bodyPr wrap="square" rtlCol="0" anchor="ctr"/>
          <a:lstStyle/>
          <a:p>
            <a:pPr indent="0" marL="0">
              <a:lnSpc>
                <a:spcPts val="4400"/>
              </a:lnSpc>
              <a:buNone/>
            </a:pPr>
            <a:r>
              <a:rPr lang="en-US" sz="3800" b="1" dirty="0">
                <a:solidFill>
                  <a:srgbClr val="FFFFFF"/>
                </a:solidFill>
                <a:latin typeface="Calibri" pitchFamily="34" charset="0"/>
                <a:ea typeface="Calibri" pitchFamily="34" charset="-122"/>
                <a:cs typeface="Calibri" pitchFamily="34" charset="-120"/>
              </a:rPr>
              <a:t>Rebuilding an Undocumented</a:t>
            </a:r>
            <a:endParaRPr lang="en-US" sz="3800" dirty="0"/>
          </a:p>
          <a:p>
            <a:pPr indent="0" marL="0">
              <a:lnSpc>
                <a:spcPts val="4400"/>
              </a:lnSpc>
              <a:buNone/>
            </a:pPr>
            <a:r>
              <a:rPr lang="en-US" sz="3800" b="1" dirty="0">
                <a:solidFill>
                  <a:srgbClr val="FFFFFF"/>
                </a:solidFill>
                <a:latin typeface="Calibri" pitchFamily="34" charset="0"/>
                <a:ea typeface="Calibri" pitchFamily="34" charset="-122"/>
                <a:cs typeface="Calibri" pitchFamily="34" charset="-120"/>
              </a:rPr>
              <a:t>Analytics Pipeline on a Modern CDP</a:t>
            </a:r>
            <a:endParaRPr lang="en-US" sz="3800" dirty="0"/>
          </a:p>
        </p:txBody>
      </p:sp>
      <p:sp>
        <p:nvSpPr>
          <p:cNvPr id="6" name="Shape 4"/>
          <p:cNvSpPr/>
          <p:nvPr/>
        </p:nvSpPr>
        <p:spPr>
          <a:xfrm>
            <a:off x="822960" y="3200400"/>
            <a:ext cx="822960" cy="45720"/>
          </a:xfrm>
          <a:prstGeom prst="rect">
            <a:avLst/>
          </a:prstGeom>
          <a:solidFill>
            <a:srgbClr val="F96806"/>
          </a:solidFill>
          <a:ln/>
        </p:spPr>
      </p:sp>
      <p:sp>
        <p:nvSpPr>
          <p:cNvPr id="7" name="Text 5"/>
          <p:cNvSpPr/>
          <p:nvPr/>
        </p:nvSpPr>
        <p:spPr>
          <a:xfrm>
            <a:off x="822960" y="3429000"/>
            <a:ext cx="8778240" cy="731520"/>
          </a:xfrm>
          <a:prstGeom prst="rect">
            <a:avLst/>
          </a:prstGeom>
          <a:noFill/>
          <a:ln/>
        </p:spPr>
        <p:txBody>
          <a:bodyPr wrap="square" rtlCol="0" anchor="ctr"/>
          <a:lstStyle/>
          <a:p>
            <a:pPr indent="0" marL="0">
              <a:lnSpc>
                <a:spcPts val="1900"/>
              </a:lnSpc>
              <a:buNone/>
            </a:pPr>
            <a:r>
              <a:rPr lang="en-US" sz="1300" dirty="0">
                <a:solidFill>
                  <a:srgbClr val="CADCFC"/>
                </a:solidFill>
                <a:latin typeface="Calibri" pitchFamily="34" charset="0"/>
                <a:ea typeface="Calibri" pitchFamily="34" charset="-122"/>
                <a:cs typeface="Calibri" pitchFamily="34" charset="-120"/>
              </a:rPr>
              <a:t>How a 475-variable marketing-analytics engine was reverse-engineered, migrated and proven correct to 100% variable population — without rewriting the client's code</a:t>
            </a:r>
            <a:endParaRPr lang="en-US" sz="1300" dirty="0"/>
          </a:p>
        </p:txBody>
      </p:sp>
      <p:sp>
        <p:nvSpPr>
          <p:cNvPr id="8" name="Shape 6"/>
          <p:cNvSpPr/>
          <p:nvPr/>
        </p:nvSpPr>
        <p:spPr>
          <a:xfrm>
            <a:off x="822960" y="4434840"/>
            <a:ext cx="6949440" cy="786384"/>
          </a:xfrm>
          <a:prstGeom prst="rect">
            <a:avLst/>
          </a:prstGeom>
          <a:solidFill>
            <a:srgbClr val="22318F"/>
          </a:solidFill>
          <a:ln/>
        </p:spPr>
      </p:sp>
      <p:sp>
        <p:nvSpPr>
          <p:cNvPr id="9" name="Text 7"/>
          <p:cNvSpPr/>
          <p:nvPr/>
        </p:nvSpPr>
        <p:spPr>
          <a:xfrm>
            <a:off x="987552" y="4526280"/>
            <a:ext cx="6583680" cy="201168"/>
          </a:xfrm>
          <a:prstGeom prst="rect">
            <a:avLst/>
          </a:prstGeom>
          <a:noFill/>
          <a:ln/>
        </p:spPr>
        <p:txBody>
          <a:bodyPr wrap="square" rtlCol="0" anchor="ctr"/>
          <a:lstStyle/>
          <a:p>
            <a:pPr indent="0" marL="0">
              <a:buNone/>
            </a:pPr>
            <a:r>
              <a:rPr lang="en-US" sz="900" b="1" spc="130" kern="0" dirty="0">
                <a:solidFill>
                  <a:srgbClr val="F96806"/>
                </a:solidFill>
                <a:latin typeface="Calibri" pitchFamily="34" charset="0"/>
                <a:ea typeface="Calibri" pitchFamily="34" charset="-122"/>
                <a:cs typeface="Calibri" pitchFamily="34" charset="-120"/>
              </a:rPr>
              <a:t>THE CLIENT</a:t>
            </a:r>
            <a:endParaRPr lang="en-US" sz="900" dirty="0"/>
          </a:p>
        </p:txBody>
      </p:sp>
      <p:sp>
        <p:nvSpPr>
          <p:cNvPr id="10" name="Text 8"/>
          <p:cNvSpPr/>
          <p:nvPr/>
        </p:nvSpPr>
        <p:spPr>
          <a:xfrm>
            <a:off x="987552" y="4727448"/>
            <a:ext cx="6629400" cy="457200"/>
          </a:xfrm>
          <a:prstGeom prst="rect">
            <a:avLst/>
          </a:prstGeom>
          <a:noFill/>
          <a:ln/>
        </p:spPr>
        <p:txBody>
          <a:bodyPr wrap="square" rtlCol="0" anchor="ctr"/>
          <a:lstStyle/>
          <a:p>
            <a:pPr indent="0" marL="0">
              <a:lnSpc>
                <a:spcPts val="1300"/>
              </a:lnSpc>
              <a:buNone/>
            </a:pPr>
            <a:r>
              <a:rPr lang="en-US" sz="1000" dirty="0">
                <a:solidFill>
                  <a:srgbClr val="FFFFFF"/>
                </a:solidFill>
                <a:latin typeface="Calibri" pitchFamily="34" charset="0"/>
                <a:ea typeface="Calibri" pitchFamily="34" charset="-122"/>
                <a:cs typeface="Calibri" pitchFamily="34" charset="-120"/>
              </a:rPr>
              <a:t>"Meridian Media" — a hypothetical multi-channel publisher selling magazines, books and continuity programmes, and running direct-mail fundraising. Name and figures are illustrative.</a:t>
            </a:r>
            <a:endParaRPr lang="en-US" sz="1000" dirty="0"/>
          </a:p>
        </p:txBody>
      </p:sp>
      <p:sp>
        <p:nvSpPr>
          <p:cNvPr id="11" name="Text 9"/>
          <p:cNvSpPr/>
          <p:nvPr/>
        </p:nvSpPr>
        <p:spPr>
          <a:xfrm>
            <a:off x="822960" y="5532120"/>
            <a:ext cx="7315200" cy="274320"/>
          </a:xfrm>
          <a:prstGeom prst="rect">
            <a:avLst/>
          </a:prstGeom>
          <a:noFill/>
          <a:ln/>
        </p:spPr>
        <p:txBody>
          <a:bodyPr wrap="square" rtlCol="0" anchor="ctr"/>
          <a:lstStyle/>
          <a:p>
            <a:pPr indent="0" marL="0">
              <a:buNone/>
            </a:pPr>
            <a:r>
              <a:rPr lang="en-US" sz="1100" dirty="0">
                <a:solidFill>
                  <a:srgbClr val="9FBEE8"/>
                </a:solidFill>
                <a:latin typeface="Calibri" pitchFamily="34" charset="0"/>
                <a:ea typeface="Calibri" pitchFamily="34" charset="-122"/>
                <a:cs typeface="Calibri" pitchFamily="34" charset="-120"/>
              </a:rPr>
              <a:t>Client Analytics  ·  Showcase Edition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BACKGROUND · ENGAGEMENT SCOPE</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The Engagement: Keep Scoring Running Through a Platform Move</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Meridian was moving its marketing data from a legacy Oracle warehouse to a cloud CDP. Every campaign model depended on a SAS feature engine nobody had documented — and it had to keep producing the same answers on the new platform</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47672"/>
            <a:ext cx="3657600" cy="3063240"/>
          </a:xfrm>
          <a:prstGeom prst="rect">
            <a:avLst/>
          </a:prstGeom>
          <a:solidFill>
            <a:srgbClr val="1A288E"/>
          </a:solidFill>
          <a:ln/>
        </p:spPr>
      </p:sp>
      <p:sp>
        <p:nvSpPr>
          <p:cNvPr id="8" name="Text 6"/>
          <p:cNvSpPr/>
          <p:nvPr/>
        </p:nvSpPr>
        <p:spPr>
          <a:xfrm>
            <a:off x="438912" y="2121408"/>
            <a:ext cx="3291840" cy="219456"/>
          </a:xfrm>
          <a:prstGeom prst="rect">
            <a:avLst/>
          </a:prstGeom>
          <a:noFill/>
          <a:ln/>
        </p:spPr>
        <p:txBody>
          <a:bodyPr wrap="square" rtlCol="0" anchor="ctr"/>
          <a:lstStyle/>
          <a:p>
            <a:pPr indent="0" marL="0">
              <a:buNone/>
            </a:pPr>
            <a:r>
              <a:rPr lang="en-US" sz="950" b="1" spc="110" kern="0" dirty="0">
                <a:solidFill>
                  <a:srgbClr val="FFFFFF"/>
                </a:solidFill>
                <a:latin typeface="Calibri" pitchFamily="34" charset="0"/>
                <a:ea typeface="Calibri" pitchFamily="34" charset="-122"/>
                <a:cs typeface="Calibri" pitchFamily="34" charset="-120"/>
              </a:rPr>
              <a:t>WHAT IT WAS SCOPED AS</a:t>
            </a:r>
            <a:endParaRPr lang="en-US" sz="950" dirty="0"/>
          </a:p>
        </p:txBody>
      </p:sp>
      <p:sp>
        <p:nvSpPr>
          <p:cNvPr id="9" name="Text 7"/>
          <p:cNvSpPr/>
          <p:nvPr/>
        </p:nvSpPr>
        <p:spPr>
          <a:xfrm>
            <a:off x="438912" y="2377440"/>
            <a:ext cx="3291840" cy="868680"/>
          </a:xfrm>
          <a:prstGeom prst="rect">
            <a:avLst/>
          </a:prstGeom>
          <a:noFill/>
          <a:ln/>
        </p:spPr>
        <p:txBody>
          <a:bodyPr wrap="square" rtlCol="0" anchor="ctr"/>
          <a:lstStyle/>
          <a:p>
            <a:pPr indent="0" marL="0">
              <a:lnSpc>
                <a:spcPts val="1400"/>
              </a:lnSpc>
              <a:buNone/>
            </a:pPr>
            <a:r>
              <a:rPr lang="en-US" sz="1050" dirty="0">
                <a:solidFill>
                  <a:srgbClr val="CADCFC"/>
                </a:solidFill>
                <a:latin typeface="Calibri" pitchFamily="34" charset="0"/>
                <a:ea typeface="Calibri" pitchFamily="34" charset="-122"/>
                <a:cs typeface="Calibri" pitchFamily="34" charset="-120"/>
              </a:rPr>
              <a:t>A short, time-and-materials remapping: point existing SAS jobs at the new CDP and swap table and field names</a:t>
            </a:r>
            <a:endParaRPr lang="en-US" sz="1050" dirty="0"/>
          </a:p>
        </p:txBody>
      </p:sp>
      <p:sp>
        <p:nvSpPr>
          <p:cNvPr id="10" name="Text 8"/>
          <p:cNvSpPr/>
          <p:nvPr/>
        </p:nvSpPr>
        <p:spPr>
          <a:xfrm>
            <a:off x="438912" y="3401568"/>
            <a:ext cx="3291840" cy="219456"/>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WHAT IT BECAME</a:t>
            </a:r>
            <a:endParaRPr lang="en-US" sz="950" dirty="0"/>
          </a:p>
        </p:txBody>
      </p:sp>
      <p:sp>
        <p:nvSpPr>
          <p:cNvPr id="11" name="Text 9"/>
          <p:cNvSpPr/>
          <p:nvPr/>
        </p:nvSpPr>
        <p:spPr>
          <a:xfrm>
            <a:off x="438912" y="3657600"/>
            <a:ext cx="3291840" cy="1188720"/>
          </a:xfrm>
          <a:prstGeom prst="rect">
            <a:avLst/>
          </a:prstGeom>
          <a:noFill/>
          <a:ln/>
        </p:spPr>
        <p:txBody>
          <a:bodyPr wrap="square" rtlCol="0" anchor="ctr"/>
          <a:lstStyle/>
          <a:p>
            <a:pPr indent="0" marL="0">
              <a:lnSpc>
                <a:spcPts val="1400"/>
              </a:lnSpc>
              <a:buNone/>
            </a:pPr>
            <a:r>
              <a:rPr lang="en-US" sz="1050" dirty="0">
                <a:solidFill>
                  <a:srgbClr val="FFFFFF"/>
                </a:solidFill>
                <a:latin typeface="Calibri" pitchFamily="34" charset="0"/>
                <a:ea typeface="Calibri" pitchFamily="34" charset="-122"/>
                <a:cs typeface="Calibri" pitchFamily="34" charset="-120"/>
              </a:rPr>
              <a:t>A discovery and modernisation programme: reverse-engineer the engine, map variable lineage, absorb platform differences and prove parity — while live campaigns kept running</a:t>
            </a:r>
            <a:endParaRPr lang="en-US" sz="1050" dirty="0"/>
          </a:p>
        </p:txBody>
      </p:sp>
      <p:sp>
        <p:nvSpPr>
          <p:cNvPr id="12" name="Shape 10"/>
          <p:cNvSpPr/>
          <p:nvPr/>
        </p:nvSpPr>
        <p:spPr>
          <a:xfrm>
            <a:off x="4206240" y="1947672"/>
            <a:ext cx="3666744" cy="54864"/>
          </a:xfrm>
          <a:prstGeom prst="rect">
            <a:avLst/>
          </a:prstGeom>
          <a:solidFill>
            <a:srgbClr val="1861F5"/>
          </a:solidFill>
          <a:ln/>
        </p:spPr>
      </p:sp>
      <p:sp>
        <p:nvSpPr>
          <p:cNvPr id="13" name="Shape 11"/>
          <p:cNvSpPr/>
          <p:nvPr/>
        </p:nvSpPr>
        <p:spPr>
          <a:xfrm>
            <a:off x="4206240" y="2002536"/>
            <a:ext cx="3666744" cy="1408176"/>
          </a:xfrm>
          <a:prstGeom prst="rect">
            <a:avLst/>
          </a:prstGeom>
          <a:solidFill>
            <a:srgbClr val="F2F5FC"/>
          </a:solidFill>
          <a:ln/>
        </p:spPr>
      </p:sp>
      <p:sp>
        <p:nvSpPr>
          <p:cNvPr id="14" name="Text 12"/>
          <p:cNvSpPr/>
          <p:nvPr/>
        </p:nvSpPr>
        <p:spPr>
          <a:xfrm>
            <a:off x="4370832" y="2103120"/>
            <a:ext cx="333756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No documentation</a:t>
            </a:r>
            <a:endParaRPr lang="en-US" sz="1200" dirty="0"/>
          </a:p>
        </p:txBody>
      </p:sp>
      <p:sp>
        <p:nvSpPr>
          <p:cNvPr id="15" name="Text 13"/>
          <p:cNvSpPr/>
          <p:nvPr/>
        </p:nvSpPr>
        <p:spPr>
          <a:xfrm>
            <a:off x="4370832" y="2359152"/>
            <a:ext cx="3337560" cy="932688"/>
          </a:xfrm>
          <a:prstGeom prst="rect">
            <a:avLst/>
          </a:prstGeom>
          <a:noFill/>
          <a:ln/>
        </p:spPr>
        <p:txBody>
          <a:bodyPr wrap="square" rtlCol="0" anchor="t"/>
          <a:lstStyle/>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Inherited from a prior vendor with no record of embedded logic, derivations or intended execution order</a:t>
            </a:r>
            <a:endParaRPr lang="en-US" sz="1000" dirty="0"/>
          </a:p>
        </p:txBody>
      </p:sp>
      <p:sp>
        <p:nvSpPr>
          <p:cNvPr id="16" name="Shape 14"/>
          <p:cNvSpPr/>
          <p:nvPr/>
        </p:nvSpPr>
        <p:spPr>
          <a:xfrm>
            <a:off x="8074152" y="1947672"/>
            <a:ext cx="3666744" cy="54864"/>
          </a:xfrm>
          <a:prstGeom prst="rect">
            <a:avLst/>
          </a:prstGeom>
          <a:solidFill>
            <a:srgbClr val="1861F5"/>
          </a:solidFill>
          <a:ln/>
        </p:spPr>
      </p:sp>
      <p:sp>
        <p:nvSpPr>
          <p:cNvPr id="17" name="Shape 15"/>
          <p:cNvSpPr/>
          <p:nvPr/>
        </p:nvSpPr>
        <p:spPr>
          <a:xfrm>
            <a:off x="8074152" y="2002536"/>
            <a:ext cx="3666744" cy="1408176"/>
          </a:xfrm>
          <a:prstGeom prst="rect">
            <a:avLst/>
          </a:prstGeom>
          <a:solidFill>
            <a:srgbClr val="F2F5FC"/>
          </a:solidFill>
          <a:ln/>
        </p:spPr>
      </p:sp>
      <p:sp>
        <p:nvSpPr>
          <p:cNvPr id="18" name="Text 16"/>
          <p:cNvSpPr/>
          <p:nvPr/>
        </p:nvSpPr>
        <p:spPr>
          <a:xfrm>
            <a:off x="8238744" y="2103120"/>
            <a:ext cx="333756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Interdependent code</a:t>
            </a:r>
            <a:endParaRPr lang="en-US" sz="1200" dirty="0"/>
          </a:p>
        </p:txBody>
      </p:sp>
      <p:sp>
        <p:nvSpPr>
          <p:cNvPr id="19" name="Text 17"/>
          <p:cNvSpPr/>
          <p:nvPr/>
        </p:nvSpPr>
        <p:spPr>
          <a:xfrm>
            <a:off x="8238744" y="2359152"/>
            <a:ext cx="3337560" cy="932688"/>
          </a:xfrm>
          <a:prstGeom prst="rect">
            <a:avLst/>
          </a:prstGeom>
          <a:noFill/>
          <a:ln/>
        </p:spPr>
        <p:txBody>
          <a:bodyPr wrap="square" rtlCol="0" anchor="t"/>
          <a:lstStyle/>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Driver, orchestrator, definitions, SQL generator and variable recipes — an error could originate in any of them</a:t>
            </a:r>
            <a:endParaRPr lang="en-US" sz="1000" dirty="0"/>
          </a:p>
        </p:txBody>
      </p:sp>
      <p:sp>
        <p:nvSpPr>
          <p:cNvPr id="20" name="Shape 18"/>
          <p:cNvSpPr/>
          <p:nvPr/>
        </p:nvSpPr>
        <p:spPr>
          <a:xfrm>
            <a:off x="4206240" y="3557016"/>
            <a:ext cx="3666744" cy="54864"/>
          </a:xfrm>
          <a:prstGeom prst="rect">
            <a:avLst/>
          </a:prstGeom>
          <a:solidFill>
            <a:srgbClr val="1861F5"/>
          </a:solidFill>
          <a:ln/>
        </p:spPr>
      </p:sp>
      <p:sp>
        <p:nvSpPr>
          <p:cNvPr id="21" name="Shape 19"/>
          <p:cNvSpPr/>
          <p:nvPr/>
        </p:nvSpPr>
        <p:spPr>
          <a:xfrm>
            <a:off x="4206240" y="3611880"/>
            <a:ext cx="3666744" cy="1399032"/>
          </a:xfrm>
          <a:prstGeom prst="rect">
            <a:avLst/>
          </a:prstGeom>
          <a:solidFill>
            <a:srgbClr val="F2F5FC"/>
          </a:solidFill>
          <a:ln/>
        </p:spPr>
      </p:sp>
      <p:sp>
        <p:nvSpPr>
          <p:cNvPr id="22" name="Text 20"/>
          <p:cNvSpPr/>
          <p:nvPr/>
        </p:nvSpPr>
        <p:spPr>
          <a:xfrm>
            <a:off x="4370832" y="3712464"/>
            <a:ext cx="333756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Data that changed shape</a:t>
            </a:r>
            <a:endParaRPr lang="en-US" sz="1200" dirty="0"/>
          </a:p>
        </p:txBody>
      </p:sp>
      <p:sp>
        <p:nvSpPr>
          <p:cNvPr id="23" name="Text 21"/>
          <p:cNvSpPr/>
          <p:nvPr/>
        </p:nvSpPr>
        <p:spPr>
          <a:xfrm>
            <a:off x="4370832" y="3968496"/>
            <a:ext cx="3337560" cy="923544"/>
          </a:xfrm>
          <a:prstGeom prst="rect">
            <a:avLst/>
          </a:prstGeom>
          <a:noFill/>
          <a:ln/>
        </p:spPr>
        <p:txBody>
          <a:bodyPr wrap="square" rtlCol="0" anchor="t"/>
          <a:lstStyle/>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Columns renamed, re-typed or left empty in migration; some legacy objects had several candidate equivalents, others none</a:t>
            </a:r>
            <a:endParaRPr lang="en-US" sz="1000" dirty="0"/>
          </a:p>
        </p:txBody>
      </p:sp>
      <p:sp>
        <p:nvSpPr>
          <p:cNvPr id="24" name="Shape 22"/>
          <p:cNvSpPr/>
          <p:nvPr/>
        </p:nvSpPr>
        <p:spPr>
          <a:xfrm>
            <a:off x="8074152" y="3557016"/>
            <a:ext cx="3666744" cy="54864"/>
          </a:xfrm>
          <a:prstGeom prst="rect">
            <a:avLst/>
          </a:prstGeom>
          <a:solidFill>
            <a:srgbClr val="1861F5"/>
          </a:solidFill>
          <a:ln/>
        </p:spPr>
      </p:sp>
      <p:sp>
        <p:nvSpPr>
          <p:cNvPr id="25" name="Shape 23"/>
          <p:cNvSpPr/>
          <p:nvPr/>
        </p:nvSpPr>
        <p:spPr>
          <a:xfrm>
            <a:off x="8074152" y="3611880"/>
            <a:ext cx="3666744" cy="1399032"/>
          </a:xfrm>
          <a:prstGeom prst="rect">
            <a:avLst/>
          </a:prstGeom>
          <a:solidFill>
            <a:srgbClr val="F2F5FC"/>
          </a:solidFill>
          <a:ln/>
        </p:spPr>
      </p:sp>
      <p:sp>
        <p:nvSpPr>
          <p:cNvPr id="26" name="Text 24"/>
          <p:cNvSpPr/>
          <p:nvPr/>
        </p:nvSpPr>
        <p:spPr>
          <a:xfrm>
            <a:off x="8238744" y="3712464"/>
            <a:ext cx="333756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Platform behaviour changes</a:t>
            </a:r>
            <a:endParaRPr lang="en-US" sz="1200" dirty="0"/>
          </a:p>
        </p:txBody>
      </p:sp>
      <p:sp>
        <p:nvSpPr>
          <p:cNvPr id="27" name="Text 25"/>
          <p:cNvSpPr/>
          <p:nvPr/>
        </p:nvSpPr>
        <p:spPr>
          <a:xfrm>
            <a:off x="8238744" y="3968496"/>
            <a:ext cx="3337560" cy="923544"/>
          </a:xfrm>
          <a:prstGeom prst="rect">
            <a:avLst/>
          </a:prstGeom>
          <a:noFill/>
          <a:ln/>
        </p:spPr>
        <p:txBody>
          <a:bodyPr wrap="square" rtlCol="0" anchor="t"/>
          <a:lstStyle/>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Temp tables, NULL handling and date types behave differently on the CDP than on Oracle — silently, not with errors</a:t>
            </a:r>
            <a:endParaRPr lang="en-US" sz="1000" dirty="0"/>
          </a:p>
        </p:txBody>
      </p:sp>
      <p:sp>
        <p:nvSpPr>
          <p:cNvPr id="28" name="Shape 26"/>
          <p:cNvSpPr/>
          <p:nvPr/>
        </p:nvSpPr>
        <p:spPr>
          <a:xfrm>
            <a:off x="237744" y="5422392"/>
            <a:ext cx="11713464" cy="758952"/>
          </a:xfrm>
          <a:prstGeom prst="rect">
            <a:avLst/>
          </a:prstGeom>
          <a:solidFill>
            <a:srgbClr val="1A288E"/>
          </a:solidFill>
          <a:ln/>
        </p:spPr>
      </p:sp>
      <p:sp>
        <p:nvSpPr>
          <p:cNvPr id="29" name="Text 27"/>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WHY THE WORK WAS MORE COMPLEX THAN EXPECTED</a:t>
            </a:r>
            <a:endParaRPr lang="en-US" sz="900" dirty="0"/>
          </a:p>
        </p:txBody>
      </p:sp>
      <p:sp>
        <p:nvSpPr>
          <p:cNvPr id="30" name="Text 28"/>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The code had to be understood before it could be migrated — discovery, not replacement, drove the timeline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DISCOVERY · READING THE CODEBASE</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Deriving the Data Flow From the Code Itself</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No design document existed. The architecture was reconstructed by parsing the SAS itself — the include chain, the macro call graph and the SQL the engine actually generated — before a single line was migrated</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2029968"/>
            <a:ext cx="2807208" cy="54864"/>
          </a:xfrm>
          <a:prstGeom prst="rect">
            <a:avLst/>
          </a:prstGeom>
          <a:solidFill>
            <a:srgbClr val="1861F5"/>
          </a:solidFill>
          <a:ln/>
        </p:spPr>
      </p:sp>
      <p:sp>
        <p:nvSpPr>
          <p:cNvPr id="8" name="Shape 6"/>
          <p:cNvSpPr/>
          <p:nvPr/>
        </p:nvSpPr>
        <p:spPr>
          <a:xfrm>
            <a:off x="237744" y="2084832"/>
            <a:ext cx="2807208" cy="1572768"/>
          </a:xfrm>
          <a:prstGeom prst="rect">
            <a:avLst/>
          </a:prstGeom>
          <a:solidFill>
            <a:srgbClr val="F2F5FC"/>
          </a:solidFill>
          <a:ln/>
        </p:spPr>
      </p:sp>
      <p:sp>
        <p:nvSpPr>
          <p:cNvPr id="9" name="Text 7"/>
          <p:cNvSpPr/>
          <p:nvPr/>
        </p:nvSpPr>
        <p:spPr>
          <a:xfrm>
            <a:off x="402336" y="2185416"/>
            <a:ext cx="2478024"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Parse the include chain</a:t>
            </a:r>
            <a:endParaRPr lang="en-US" sz="1200" dirty="0"/>
          </a:p>
        </p:txBody>
      </p:sp>
      <p:sp>
        <p:nvSpPr>
          <p:cNvPr id="10" name="Text 8"/>
          <p:cNvSpPr/>
          <p:nvPr/>
        </p:nvSpPr>
        <p:spPr>
          <a:xfrm>
            <a:off x="402336" y="2441448"/>
            <a:ext cx="2478024" cy="1097280"/>
          </a:xfrm>
          <a:prstGeom prst="rect">
            <a:avLst/>
          </a:prstGeom>
          <a:noFill/>
          <a:ln/>
        </p:spPr>
        <p:txBody>
          <a:bodyPr wrap="square" rtlCol="0" anchor="t"/>
          <a:lstStyle/>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Five files load in a fixed order. Establishing it revealed which layer owned connections, lookups, SQL and variable logic.</a:t>
            </a:r>
            <a:endParaRPr lang="en-US" sz="1000" dirty="0"/>
          </a:p>
        </p:txBody>
      </p:sp>
      <p:sp>
        <p:nvSpPr>
          <p:cNvPr id="11" name="Text 9"/>
          <p:cNvSpPr/>
          <p:nvPr/>
        </p:nvSpPr>
        <p:spPr>
          <a:xfrm>
            <a:off x="2569464" y="2157984"/>
            <a:ext cx="365760" cy="201168"/>
          </a:xfrm>
          <a:prstGeom prst="rect">
            <a:avLst/>
          </a:prstGeom>
          <a:noFill/>
          <a:ln/>
        </p:spPr>
        <p:txBody>
          <a:bodyPr wrap="square" rtlCol="0" anchor="ctr"/>
          <a:lstStyle/>
          <a:p>
            <a:pPr indent="0" marL="0">
              <a:buNone/>
            </a:pPr>
            <a:r>
              <a:rPr lang="en-US" sz="1000" b="1" dirty="0">
                <a:solidFill>
                  <a:srgbClr val="F96806"/>
                </a:solidFill>
                <a:latin typeface="Calibri" pitchFamily="34" charset="0"/>
                <a:ea typeface="Calibri" pitchFamily="34" charset="-122"/>
                <a:cs typeface="Calibri" pitchFamily="34" charset="-120"/>
              </a:rPr>
              <a:t>01</a:t>
            </a:r>
            <a:endParaRPr lang="en-US" sz="1000" dirty="0"/>
          </a:p>
        </p:txBody>
      </p:sp>
      <p:sp>
        <p:nvSpPr>
          <p:cNvPr id="12" name="Shape 10"/>
          <p:cNvSpPr/>
          <p:nvPr/>
        </p:nvSpPr>
        <p:spPr>
          <a:xfrm>
            <a:off x="3209544" y="2029968"/>
            <a:ext cx="2807208" cy="54864"/>
          </a:xfrm>
          <a:prstGeom prst="rect">
            <a:avLst/>
          </a:prstGeom>
          <a:solidFill>
            <a:srgbClr val="1861F5"/>
          </a:solidFill>
          <a:ln/>
        </p:spPr>
      </p:sp>
      <p:sp>
        <p:nvSpPr>
          <p:cNvPr id="13" name="Shape 11"/>
          <p:cNvSpPr/>
          <p:nvPr/>
        </p:nvSpPr>
        <p:spPr>
          <a:xfrm>
            <a:off x="3209544" y="2084832"/>
            <a:ext cx="2807208" cy="1572768"/>
          </a:xfrm>
          <a:prstGeom prst="rect">
            <a:avLst/>
          </a:prstGeom>
          <a:solidFill>
            <a:srgbClr val="F2F5FC"/>
          </a:solidFill>
          <a:ln/>
        </p:spPr>
      </p:sp>
      <p:sp>
        <p:nvSpPr>
          <p:cNvPr id="14" name="Text 12"/>
          <p:cNvSpPr/>
          <p:nvPr/>
        </p:nvSpPr>
        <p:spPr>
          <a:xfrm>
            <a:off x="3374136" y="2185416"/>
            <a:ext cx="2478024"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Map the macro call graph</a:t>
            </a:r>
            <a:endParaRPr lang="en-US" sz="1200" dirty="0"/>
          </a:p>
        </p:txBody>
      </p:sp>
      <p:sp>
        <p:nvSpPr>
          <p:cNvPr id="15" name="Text 13"/>
          <p:cNvSpPr/>
          <p:nvPr/>
        </p:nvSpPr>
        <p:spPr>
          <a:xfrm>
            <a:off x="3374136" y="2441448"/>
            <a:ext cx="2478024" cy="1097280"/>
          </a:xfrm>
          <a:prstGeom prst="rect">
            <a:avLst/>
          </a:prstGeom>
          <a:noFill/>
          <a:ln/>
        </p:spPr>
        <p:txBody>
          <a:bodyPr wrap="square" rtlCol="0" anchor="t"/>
          <a:lstStyle/>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21 SQL-builder macros, 16 variable categories, 500+ recipe calls — each traced back to the builder that emits its query.</a:t>
            </a:r>
            <a:endParaRPr lang="en-US" sz="1000" dirty="0"/>
          </a:p>
        </p:txBody>
      </p:sp>
      <p:sp>
        <p:nvSpPr>
          <p:cNvPr id="16" name="Text 14"/>
          <p:cNvSpPr/>
          <p:nvPr/>
        </p:nvSpPr>
        <p:spPr>
          <a:xfrm>
            <a:off x="5541264" y="2157984"/>
            <a:ext cx="365760" cy="201168"/>
          </a:xfrm>
          <a:prstGeom prst="rect">
            <a:avLst/>
          </a:prstGeom>
          <a:noFill/>
          <a:ln/>
        </p:spPr>
        <p:txBody>
          <a:bodyPr wrap="square" rtlCol="0" anchor="ctr"/>
          <a:lstStyle/>
          <a:p>
            <a:pPr indent="0" marL="0">
              <a:buNone/>
            </a:pPr>
            <a:r>
              <a:rPr lang="en-US" sz="1000" b="1" dirty="0">
                <a:solidFill>
                  <a:srgbClr val="F96806"/>
                </a:solidFill>
                <a:latin typeface="Calibri" pitchFamily="34" charset="0"/>
                <a:ea typeface="Calibri" pitchFamily="34" charset="-122"/>
                <a:cs typeface="Calibri" pitchFamily="34" charset="-120"/>
              </a:rPr>
              <a:t>02</a:t>
            </a:r>
            <a:endParaRPr lang="en-US" sz="1000" dirty="0"/>
          </a:p>
        </p:txBody>
      </p:sp>
      <p:sp>
        <p:nvSpPr>
          <p:cNvPr id="17" name="Shape 15"/>
          <p:cNvSpPr/>
          <p:nvPr/>
        </p:nvSpPr>
        <p:spPr>
          <a:xfrm>
            <a:off x="6181344" y="2029968"/>
            <a:ext cx="2807208" cy="54864"/>
          </a:xfrm>
          <a:prstGeom prst="rect">
            <a:avLst/>
          </a:prstGeom>
          <a:solidFill>
            <a:srgbClr val="1861F5"/>
          </a:solidFill>
          <a:ln/>
        </p:spPr>
      </p:sp>
      <p:sp>
        <p:nvSpPr>
          <p:cNvPr id="18" name="Shape 16"/>
          <p:cNvSpPr/>
          <p:nvPr/>
        </p:nvSpPr>
        <p:spPr>
          <a:xfrm>
            <a:off x="6181344" y="2084832"/>
            <a:ext cx="2807208" cy="1572768"/>
          </a:xfrm>
          <a:prstGeom prst="rect">
            <a:avLst/>
          </a:prstGeom>
          <a:solidFill>
            <a:srgbClr val="F2F5FC"/>
          </a:solidFill>
          <a:ln/>
        </p:spPr>
      </p:sp>
      <p:sp>
        <p:nvSpPr>
          <p:cNvPr id="19" name="Text 17"/>
          <p:cNvSpPr/>
          <p:nvPr/>
        </p:nvSpPr>
        <p:spPr>
          <a:xfrm>
            <a:off x="6345936" y="2185416"/>
            <a:ext cx="2478024"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Capture the emitted SQL</a:t>
            </a:r>
            <a:endParaRPr lang="en-US" sz="1200" dirty="0"/>
          </a:p>
        </p:txBody>
      </p:sp>
      <p:sp>
        <p:nvSpPr>
          <p:cNvPr id="20" name="Text 18"/>
          <p:cNvSpPr/>
          <p:nvPr/>
        </p:nvSpPr>
        <p:spPr>
          <a:xfrm>
            <a:off x="6345936" y="2441448"/>
            <a:ext cx="2478024" cy="1097280"/>
          </a:xfrm>
          <a:prstGeom prst="rect">
            <a:avLst/>
          </a:prstGeom>
          <a:noFill/>
          <a:ln/>
        </p:spPr>
        <p:txBody>
          <a:bodyPr wrap="square" rtlCol="0" anchor="t"/>
          <a:lstStyle/>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The engine writes every query to its log. Reading emitted SQL — not source — showed what really reached the database.</a:t>
            </a:r>
            <a:endParaRPr lang="en-US" sz="1000" dirty="0"/>
          </a:p>
        </p:txBody>
      </p:sp>
      <p:sp>
        <p:nvSpPr>
          <p:cNvPr id="21" name="Text 19"/>
          <p:cNvSpPr/>
          <p:nvPr/>
        </p:nvSpPr>
        <p:spPr>
          <a:xfrm>
            <a:off x="8513064" y="2157984"/>
            <a:ext cx="365760" cy="201168"/>
          </a:xfrm>
          <a:prstGeom prst="rect">
            <a:avLst/>
          </a:prstGeom>
          <a:noFill/>
          <a:ln/>
        </p:spPr>
        <p:txBody>
          <a:bodyPr wrap="square" rtlCol="0" anchor="ctr"/>
          <a:lstStyle/>
          <a:p>
            <a:pPr indent="0" marL="0">
              <a:buNone/>
            </a:pPr>
            <a:r>
              <a:rPr lang="en-US" sz="1000" b="1" dirty="0">
                <a:solidFill>
                  <a:srgbClr val="F96806"/>
                </a:solidFill>
                <a:latin typeface="Calibri" pitchFamily="34" charset="0"/>
                <a:ea typeface="Calibri" pitchFamily="34" charset="-122"/>
                <a:cs typeface="Calibri" pitchFamily="34" charset="-120"/>
              </a:rPr>
              <a:t>03</a:t>
            </a:r>
            <a:endParaRPr lang="en-US" sz="1000" dirty="0"/>
          </a:p>
        </p:txBody>
      </p:sp>
      <p:sp>
        <p:nvSpPr>
          <p:cNvPr id="22" name="Shape 20"/>
          <p:cNvSpPr/>
          <p:nvPr/>
        </p:nvSpPr>
        <p:spPr>
          <a:xfrm>
            <a:off x="9153144" y="2029968"/>
            <a:ext cx="2807208" cy="54864"/>
          </a:xfrm>
          <a:prstGeom prst="rect">
            <a:avLst/>
          </a:prstGeom>
          <a:solidFill>
            <a:srgbClr val="1861F5"/>
          </a:solidFill>
          <a:ln/>
        </p:spPr>
      </p:sp>
      <p:sp>
        <p:nvSpPr>
          <p:cNvPr id="23" name="Shape 21"/>
          <p:cNvSpPr/>
          <p:nvPr/>
        </p:nvSpPr>
        <p:spPr>
          <a:xfrm>
            <a:off x="9153144" y="2084832"/>
            <a:ext cx="2807208" cy="1572768"/>
          </a:xfrm>
          <a:prstGeom prst="rect">
            <a:avLst/>
          </a:prstGeom>
          <a:solidFill>
            <a:srgbClr val="F2F5FC"/>
          </a:solidFill>
          <a:ln/>
        </p:spPr>
      </p:sp>
      <p:sp>
        <p:nvSpPr>
          <p:cNvPr id="24" name="Text 22"/>
          <p:cNvSpPr/>
          <p:nvPr/>
        </p:nvSpPr>
        <p:spPr>
          <a:xfrm>
            <a:off x="9317736" y="2185416"/>
            <a:ext cx="2478024"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Rebuild the lineage</a:t>
            </a:r>
            <a:endParaRPr lang="en-US" sz="1200" dirty="0"/>
          </a:p>
        </p:txBody>
      </p:sp>
      <p:sp>
        <p:nvSpPr>
          <p:cNvPr id="25" name="Text 23"/>
          <p:cNvSpPr/>
          <p:nvPr/>
        </p:nvSpPr>
        <p:spPr>
          <a:xfrm>
            <a:off x="9317736" y="2441448"/>
            <a:ext cx="2478024" cy="1097280"/>
          </a:xfrm>
          <a:prstGeom prst="rect">
            <a:avLst/>
          </a:prstGeom>
          <a:noFill/>
          <a:ln/>
        </p:spPr>
        <p:txBody>
          <a:bodyPr wrap="square" rtlCol="0" anchor="t"/>
          <a:lstStyle/>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Each variable traced to source table, filter slot and join key: the dependency map the system had never had.</a:t>
            </a:r>
            <a:endParaRPr lang="en-US" sz="1000" dirty="0"/>
          </a:p>
        </p:txBody>
      </p:sp>
      <p:sp>
        <p:nvSpPr>
          <p:cNvPr id="26" name="Text 24"/>
          <p:cNvSpPr/>
          <p:nvPr/>
        </p:nvSpPr>
        <p:spPr>
          <a:xfrm>
            <a:off x="11484864" y="2157984"/>
            <a:ext cx="365760" cy="201168"/>
          </a:xfrm>
          <a:prstGeom prst="rect">
            <a:avLst/>
          </a:prstGeom>
          <a:noFill/>
          <a:ln/>
        </p:spPr>
        <p:txBody>
          <a:bodyPr wrap="square" rtlCol="0" anchor="ctr"/>
          <a:lstStyle/>
          <a:p>
            <a:pPr indent="0" marL="0">
              <a:buNone/>
            </a:pPr>
            <a:r>
              <a:rPr lang="en-US" sz="1000" b="1" dirty="0">
                <a:solidFill>
                  <a:srgbClr val="F96806"/>
                </a:solidFill>
                <a:latin typeface="Calibri" pitchFamily="34" charset="0"/>
                <a:ea typeface="Calibri" pitchFamily="34" charset="-122"/>
                <a:cs typeface="Calibri" pitchFamily="34" charset="-120"/>
              </a:rPr>
              <a:t>04</a:t>
            </a:r>
            <a:endParaRPr lang="en-US" sz="1000" dirty="0"/>
          </a:p>
        </p:txBody>
      </p:sp>
      <p:sp>
        <p:nvSpPr>
          <p:cNvPr id="27" name="Shape 25"/>
          <p:cNvSpPr/>
          <p:nvPr/>
        </p:nvSpPr>
        <p:spPr>
          <a:xfrm>
            <a:off x="237744" y="3886200"/>
            <a:ext cx="11713464" cy="1371600"/>
          </a:xfrm>
          <a:prstGeom prst="rect">
            <a:avLst/>
          </a:prstGeom>
          <a:solidFill>
            <a:srgbClr val="F2F5FC"/>
          </a:solidFill>
          <a:ln/>
        </p:spPr>
      </p:sp>
      <p:sp>
        <p:nvSpPr>
          <p:cNvPr id="28" name="Shape 26"/>
          <p:cNvSpPr/>
          <p:nvPr/>
        </p:nvSpPr>
        <p:spPr>
          <a:xfrm>
            <a:off x="237744" y="3886200"/>
            <a:ext cx="50292" cy="1371600"/>
          </a:xfrm>
          <a:prstGeom prst="rect">
            <a:avLst/>
          </a:prstGeom>
          <a:solidFill>
            <a:srgbClr val="F96806"/>
          </a:solidFill>
          <a:ln/>
        </p:spPr>
      </p:sp>
      <p:sp>
        <p:nvSpPr>
          <p:cNvPr id="29" name="Text 27"/>
          <p:cNvSpPr/>
          <p:nvPr/>
        </p:nvSpPr>
        <p:spPr>
          <a:xfrm>
            <a:off x="466344" y="4023360"/>
            <a:ext cx="10972800" cy="219456"/>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WHAT THE RECONSTRUCTION EXPOSED</a:t>
            </a:r>
            <a:endParaRPr lang="en-US" sz="950" dirty="0"/>
          </a:p>
        </p:txBody>
      </p:sp>
      <p:sp>
        <p:nvSpPr>
          <p:cNvPr id="30" name="Text 28"/>
          <p:cNvSpPr/>
          <p:nvPr/>
        </p:nvSpPr>
        <p:spPr>
          <a:xfrm>
            <a:off x="466344" y="4297680"/>
            <a:ext cx="3703320" cy="237744"/>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SQL is written at run time</a:t>
            </a:r>
            <a:endParaRPr lang="en-US" sz="1100" dirty="0"/>
          </a:p>
        </p:txBody>
      </p:sp>
      <p:sp>
        <p:nvSpPr>
          <p:cNvPr id="31" name="Text 29"/>
          <p:cNvSpPr/>
          <p:nvPr/>
        </p:nvSpPr>
        <p:spPr>
          <a:xfrm>
            <a:off x="466344" y="4544568"/>
            <a:ext cx="3703320" cy="65836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Queries are assembled by shared builders during execution, so a symptom in one variable almost never originates in that variable's code.</a:t>
            </a:r>
            <a:endParaRPr lang="en-US" sz="950" dirty="0"/>
          </a:p>
        </p:txBody>
      </p:sp>
      <p:sp>
        <p:nvSpPr>
          <p:cNvPr id="32" name="Text 30"/>
          <p:cNvSpPr/>
          <p:nvPr/>
        </p:nvSpPr>
        <p:spPr>
          <a:xfrm>
            <a:off x="4288536" y="4297680"/>
            <a:ext cx="3703320" cy="237744"/>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Filters live in numbered slots</a:t>
            </a:r>
            <a:endParaRPr lang="en-US" sz="1100" dirty="0"/>
          </a:p>
        </p:txBody>
      </p:sp>
      <p:sp>
        <p:nvSpPr>
          <p:cNvPr id="33" name="Text 31"/>
          <p:cNvSpPr/>
          <p:nvPr/>
        </p:nvSpPr>
        <p:spPr>
          <a:xfrm>
            <a:off x="4288536" y="4544568"/>
            <a:ext cx="3703320" cy="65836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Every recipe passes conditions into positional macro arguments. Exclusion and sign slots are shared branches serving over a hundred variables.</a:t>
            </a:r>
            <a:endParaRPr lang="en-US" sz="950" dirty="0"/>
          </a:p>
        </p:txBody>
      </p:sp>
      <p:sp>
        <p:nvSpPr>
          <p:cNvPr id="34" name="Text 32"/>
          <p:cNvSpPr/>
          <p:nvPr/>
        </p:nvSpPr>
        <p:spPr>
          <a:xfrm>
            <a:off x="8110728" y="4297680"/>
            <a:ext cx="3703320" cy="237744"/>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Dates are stored as offsets</a:t>
            </a:r>
            <a:endParaRPr lang="en-US" sz="1100" dirty="0"/>
          </a:p>
        </p:txBody>
      </p:sp>
      <p:sp>
        <p:nvSpPr>
          <p:cNvPr id="35" name="Text 33"/>
          <p:cNvSpPr/>
          <p:nvPr/>
        </p:nvSpPr>
        <p:spPr>
          <a:xfrm>
            <a:off x="8110728" y="4544568"/>
            <a:ext cx="3703320" cy="65836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Date variables hold days-since-build, not calendar dates — which changes how any comparison against legacy has to be done.</a:t>
            </a:r>
            <a:endParaRPr lang="en-US" sz="950" dirty="0"/>
          </a:p>
        </p:txBody>
      </p:sp>
      <p:sp>
        <p:nvSpPr>
          <p:cNvPr id="36" name="Shape 34"/>
          <p:cNvSpPr/>
          <p:nvPr/>
        </p:nvSpPr>
        <p:spPr>
          <a:xfrm>
            <a:off x="237744" y="5422392"/>
            <a:ext cx="11713464" cy="758952"/>
          </a:xfrm>
          <a:prstGeom prst="rect">
            <a:avLst/>
          </a:prstGeom>
          <a:solidFill>
            <a:srgbClr val="1A288E"/>
          </a:solidFill>
          <a:ln/>
        </p:spPr>
      </p:sp>
      <p:sp>
        <p:nvSpPr>
          <p:cNvPr id="37" name="Text 35"/>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OUTCOME</a:t>
            </a:r>
            <a:endParaRPr lang="en-US" sz="900" dirty="0"/>
          </a:p>
        </p:txBody>
      </p:sp>
      <p:sp>
        <p:nvSpPr>
          <p:cNvPr id="38" name="Text 36"/>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The pipeline became legible: files, tiers, 475 output variables and their full lineage documented — the prerequisite that made every later fix targeted rather than speculative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ARCHITECTURE · ORIGINAL</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Architecture Overview — End-to-End Flow</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As found: a caller configures the run, an orchestrator loads three library files, and the SQL engine round-trips against the source database once per variable to build one wide customer table</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3163824" y="1810512"/>
            <a:ext cx="5852160" cy="969264"/>
          </a:xfrm>
          <a:prstGeom prst="rect">
            <a:avLst/>
          </a:prstGeom>
          <a:solidFill>
            <a:srgbClr val="F7F9FE"/>
          </a:solidFill>
          <a:ln w="12700">
            <a:solidFill>
              <a:srgbClr val="DCE4F5"/>
            </a:solidFill>
            <a:prstDash val="solid"/>
          </a:ln>
        </p:spPr>
      </p:sp>
      <p:sp>
        <p:nvSpPr>
          <p:cNvPr id="8" name="Text 6"/>
          <p:cNvSpPr/>
          <p:nvPr/>
        </p:nvSpPr>
        <p:spPr>
          <a:xfrm>
            <a:off x="3310128" y="1874520"/>
            <a:ext cx="5559552" cy="201168"/>
          </a:xfrm>
          <a:prstGeom prst="rect">
            <a:avLst/>
          </a:prstGeom>
          <a:noFill/>
          <a:ln/>
        </p:spPr>
        <p:txBody>
          <a:bodyPr wrap="square" rtlCol="0" anchor="ctr"/>
          <a:lstStyle/>
          <a:p>
            <a:pPr indent="0" marL="0">
              <a:buNone/>
            </a:pPr>
            <a:r>
              <a:rPr lang="en-US" sz="850" b="1" spc="110" kern="0" dirty="0">
                <a:solidFill>
                  <a:srgbClr val="F96806"/>
                </a:solidFill>
                <a:latin typeface="Calibri" pitchFamily="34" charset="0"/>
                <a:ea typeface="Calibri" pitchFamily="34" charset="-122"/>
                <a:cs typeface="Calibri" pitchFamily="34" charset="-120"/>
              </a:rPr>
              <a:t>CALLER LAYER</a:t>
            </a:r>
            <a:endParaRPr lang="en-US" sz="850" dirty="0"/>
          </a:p>
        </p:txBody>
      </p:sp>
      <p:sp>
        <p:nvSpPr>
          <p:cNvPr id="9" name="Shape 7"/>
          <p:cNvSpPr/>
          <p:nvPr/>
        </p:nvSpPr>
        <p:spPr>
          <a:xfrm>
            <a:off x="4681728" y="2066544"/>
            <a:ext cx="2816352" cy="603504"/>
          </a:xfrm>
          <a:prstGeom prst="roundRect">
            <a:avLst>
              <a:gd name="adj" fmla="val 7576"/>
            </a:avLst>
          </a:prstGeom>
          <a:solidFill>
            <a:srgbClr val="1A288E"/>
          </a:solidFill>
          <a:ln w="12700">
            <a:solidFill>
              <a:srgbClr val="C3CFE8"/>
            </a:solidFill>
            <a:prstDash val="solid"/>
          </a:ln>
        </p:spPr>
      </p:sp>
      <p:sp>
        <p:nvSpPr>
          <p:cNvPr id="10" name="Text 8"/>
          <p:cNvSpPr/>
          <p:nvPr/>
        </p:nvSpPr>
        <p:spPr>
          <a:xfrm>
            <a:off x="4791456" y="2121408"/>
            <a:ext cx="2596896" cy="201168"/>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driver.sas</a:t>
            </a:r>
            <a:endParaRPr lang="en-US" sz="950" dirty="0"/>
          </a:p>
        </p:txBody>
      </p:sp>
      <p:sp>
        <p:nvSpPr>
          <p:cNvPr id="11" name="Text 9"/>
          <p:cNvSpPr/>
          <p:nvPr/>
        </p:nvSpPr>
        <p:spPr>
          <a:xfrm>
            <a:off x="4791456" y="2322576"/>
            <a:ext cx="2596896" cy="292608"/>
          </a:xfrm>
          <a:prstGeom prst="rect">
            <a:avLst/>
          </a:prstGeom>
          <a:noFill/>
          <a:ln/>
        </p:spPr>
        <p:txBody>
          <a:bodyPr wrap="square" rtlCol="0" anchor="t"/>
          <a:lstStyle/>
          <a:p>
            <a:pPr indent="0" marL="0">
              <a:lnSpc>
                <a:spcPts val="950"/>
              </a:lnSpc>
              <a:buNone/>
            </a:pPr>
            <a:r>
              <a:rPr lang="en-US" sz="750" dirty="0">
                <a:solidFill>
                  <a:srgbClr val="C9D2F0"/>
                </a:solidFill>
                <a:latin typeface="Calibri" pitchFamily="34" charset="0"/>
                <a:ea typeface="Calibri" pitchFamily="34" charset="-122"/>
                <a:cs typeface="Calibri" pitchFamily="34" charset="-120"/>
              </a:rPr>
              <a:t>Credentials, build date, audience keycode, variable list — then invokes the pipeline</a:t>
            </a:r>
            <a:endParaRPr lang="en-US" sz="750" dirty="0"/>
          </a:p>
        </p:txBody>
      </p:sp>
      <p:sp>
        <p:nvSpPr>
          <p:cNvPr id="12" name="Shape 10"/>
          <p:cNvSpPr/>
          <p:nvPr/>
        </p:nvSpPr>
        <p:spPr>
          <a:xfrm>
            <a:off x="6078931" y="2779776"/>
            <a:ext cx="21946" cy="164592"/>
          </a:xfrm>
          <a:prstGeom prst="rect">
            <a:avLst/>
          </a:prstGeom>
          <a:solidFill>
            <a:srgbClr val="8FA6D9"/>
          </a:solidFill>
          <a:ln/>
        </p:spPr>
      </p:sp>
      <p:sp>
        <p:nvSpPr>
          <p:cNvPr id="13" name="Text 11"/>
          <p:cNvSpPr/>
          <p:nvPr/>
        </p:nvSpPr>
        <p:spPr>
          <a:xfrm>
            <a:off x="5989320" y="2889504"/>
            <a:ext cx="201168" cy="164592"/>
          </a:xfrm>
          <a:prstGeom prst="rect">
            <a:avLst/>
          </a:prstGeom>
          <a:noFill/>
          <a:ln/>
        </p:spPr>
        <p:txBody>
          <a:bodyPr wrap="square" rtlCol="0" anchor="ctr"/>
          <a:lstStyle/>
          <a:p>
            <a:pPr algn="ctr" indent="0" marL="0">
              <a:buNone/>
            </a:pPr>
            <a:r>
              <a:rPr lang="en-US" sz="900" b="1" dirty="0">
                <a:solidFill>
                  <a:srgbClr val="8FA6D9"/>
                </a:solidFill>
                <a:latin typeface="Calibri" pitchFamily="34" charset="0"/>
                <a:ea typeface="Calibri" pitchFamily="34" charset="-122"/>
                <a:cs typeface="Calibri" pitchFamily="34" charset="-120"/>
              </a:rPr>
              <a:t>▼</a:t>
            </a:r>
            <a:endParaRPr lang="en-US" sz="900" dirty="0"/>
          </a:p>
        </p:txBody>
      </p:sp>
      <p:sp>
        <p:nvSpPr>
          <p:cNvPr id="14" name="Text 12"/>
          <p:cNvSpPr/>
          <p:nvPr/>
        </p:nvSpPr>
        <p:spPr>
          <a:xfrm>
            <a:off x="6181344" y="2779776"/>
            <a:ext cx="1463040" cy="164592"/>
          </a:xfrm>
          <a:prstGeom prst="rect">
            <a:avLst/>
          </a:prstGeom>
          <a:noFill/>
          <a:ln/>
        </p:spPr>
        <p:txBody>
          <a:bodyPr wrap="square" rtlCol="0" anchor="ctr"/>
          <a:lstStyle/>
          <a:p>
            <a:pPr algn="ctr" indent="0" marL="0">
              <a:buNone/>
            </a:pPr>
            <a:r>
              <a:rPr lang="en-US" sz="750" i="1" dirty="0">
                <a:solidFill>
                  <a:srgbClr val="64748B"/>
                </a:solidFill>
                <a:latin typeface="Calibri" pitchFamily="34" charset="0"/>
                <a:ea typeface="Calibri" pitchFamily="34" charset="-122"/>
                <a:cs typeface="Calibri" pitchFamily="34" charset="-120"/>
              </a:rPr>
              <a:t>%include</a:t>
            </a:r>
            <a:endParaRPr lang="en-US" sz="750" dirty="0"/>
          </a:p>
        </p:txBody>
      </p:sp>
      <p:sp>
        <p:nvSpPr>
          <p:cNvPr id="15" name="Shape 13"/>
          <p:cNvSpPr/>
          <p:nvPr/>
        </p:nvSpPr>
        <p:spPr>
          <a:xfrm>
            <a:off x="3163824" y="3108960"/>
            <a:ext cx="5852160" cy="786384"/>
          </a:xfrm>
          <a:prstGeom prst="rect">
            <a:avLst/>
          </a:prstGeom>
          <a:solidFill>
            <a:srgbClr val="F7F9FE"/>
          </a:solidFill>
          <a:ln w="12700">
            <a:solidFill>
              <a:srgbClr val="DCE4F5"/>
            </a:solidFill>
            <a:prstDash val="solid"/>
          </a:ln>
        </p:spPr>
      </p:sp>
      <p:sp>
        <p:nvSpPr>
          <p:cNvPr id="16" name="Text 14"/>
          <p:cNvSpPr/>
          <p:nvPr/>
        </p:nvSpPr>
        <p:spPr>
          <a:xfrm>
            <a:off x="3310128" y="3172968"/>
            <a:ext cx="5559552" cy="201168"/>
          </a:xfrm>
          <a:prstGeom prst="rect">
            <a:avLst/>
          </a:prstGeom>
          <a:noFill/>
          <a:ln/>
        </p:spPr>
        <p:txBody>
          <a:bodyPr wrap="square" rtlCol="0" anchor="ctr"/>
          <a:lstStyle/>
          <a:p>
            <a:pPr indent="0" marL="0">
              <a:buNone/>
            </a:pPr>
            <a:r>
              <a:rPr lang="en-US" sz="850" b="1" spc="110" kern="0" dirty="0">
                <a:solidFill>
                  <a:srgbClr val="F96806"/>
                </a:solidFill>
                <a:latin typeface="Calibri" pitchFamily="34" charset="0"/>
                <a:ea typeface="Calibri" pitchFamily="34" charset="-122"/>
                <a:cs typeface="Calibri" pitchFamily="34" charset="-120"/>
              </a:rPr>
              <a:t>ORCHESTRATION LAYER</a:t>
            </a:r>
            <a:endParaRPr lang="en-US" sz="850" dirty="0"/>
          </a:p>
        </p:txBody>
      </p:sp>
      <p:sp>
        <p:nvSpPr>
          <p:cNvPr id="17" name="Shape 15"/>
          <p:cNvSpPr/>
          <p:nvPr/>
        </p:nvSpPr>
        <p:spPr>
          <a:xfrm>
            <a:off x="3310128" y="3346704"/>
            <a:ext cx="5559552" cy="457200"/>
          </a:xfrm>
          <a:prstGeom prst="roundRect">
            <a:avLst>
              <a:gd name="adj" fmla="val 10000"/>
            </a:avLst>
          </a:prstGeom>
          <a:solidFill>
            <a:srgbClr val="1A288E"/>
          </a:solidFill>
          <a:ln w="12700">
            <a:solidFill>
              <a:srgbClr val="C3CFE8"/>
            </a:solidFill>
            <a:prstDash val="solid"/>
          </a:ln>
        </p:spPr>
      </p:sp>
      <p:sp>
        <p:nvSpPr>
          <p:cNvPr id="18" name="Text 16"/>
          <p:cNvSpPr/>
          <p:nvPr/>
        </p:nvSpPr>
        <p:spPr>
          <a:xfrm>
            <a:off x="3419856" y="3401568"/>
            <a:ext cx="5340096" cy="201168"/>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orchestrator.sas</a:t>
            </a:r>
            <a:endParaRPr lang="en-US" sz="950" dirty="0"/>
          </a:p>
        </p:txBody>
      </p:sp>
      <p:sp>
        <p:nvSpPr>
          <p:cNvPr id="19" name="Text 17"/>
          <p:cNvSpPr/>
          <p:nvPr/>
        </p:nvSpPr>
        <p:spPr>
          <a:xfrm>
            <a:off x="3419856" y="3602736"/>
            <a:ext cx="5340096" cy="146304"/>
          </a:xfrm>
          <a:prstGeom prst="rect">
            <a:avLst/>
          </a:prstGeom>
          <a:noFill/>
          <a:ln/>
        </p:spPr>
        <p:txBody>
          <a:bodyPr wrap="square" rtlCol="0" anchor="t"/>
          <a:lstStyle/>
          <a:p>
            <a:pPr indent="0" marL="0">
              <a:lnSpc>
                <a:spcPts val="950"/>
              </a:lnSpc>
              <a:buNone/>
            </a:pPr>
            <a:r>
              <a:rPr lang="en-US" sz="750" dirty="0">
                <a:solidFill>
                  <a:srgbClr val="C9D2F0"/>
                </a:solidFill>
                <a:latin typeface="Calibri" pitchFamily="34" charset="0"/>
                <a:ea typeface="Calibri" pitchFamily="34" charset="-122"/>
                <a:cs typeface="Calibri" pitchFamily="34" charset="-120"/>
              </a:rPr>
              <a:t>Run executors for full pulls, audience pulls and point-in-time saves; loads the library</a:t>
            </a:r>
            <a:endParaRPr lang="en-US" sz="750" dirty="0"/>
          </a:p>
        </p:txBody>
      </p:sp>
      <p:sp>
        <p:nvSpPr>
          <p:cNvPr id="20" name="Shape 18"/>
          <p:cNvSpPr/>
          <p:nvPr/>
        </p:nvSpPr>
        <p:spPr>
          <a:xfrm>
            <a:off x="6078931" y="3895344"/>
            <a:ext cx="21946" cy="164592"/>
          </a:xfrm>
          <a:prstGeom prst="rect">
            <a:avLst/>
          </a:prstGeom>
          <a:solidFill>
            <a:srgbClr val="8FA6D9"/>
          </a:solidFill>
          <a:ln/>
        </p:spPr>
      </p:sp>
      <p:sp>
        <p:nvSpPr>
          <p:cNvPr id="21" name="Text 19"/>
          <p:cNvSpPr/>
          <p:nvPr/>
        </p:nvSpPr>
        <p:spPr>
          <a:xfrm>
            <a:off x="5989320" y="4005072"/>
            <a:ext cx="201168" cy="164592"/>
          </a:xfrm>
          <a:prstGeom prst="rect">
            <a:avLst/>
          </a:prstGeom>
          <a:noFill/>
          <a:ln/>
        </p:spPr>
        <p:txBody>
          <a:bodyPr wrap="square" rtlCol="0" anchor="ctr"/>
          <a:lstStyle/>
          <a:p>
            <a:pPr algn="ctr" indent="0" marL="0">
              <a:buNone/>
            </a:pPr>
            <a:r>
              <a:rPr lang="en-US" sz="900" b="1" dirty="0">
                <a:solidFill>
                  <a:srgbClr val="8FA6D9"/>
                </a:solidFill>
                <a:latin typeface="Calibri" pitchFamily="34" charset="0"/>
                <a:ea typeface="Calibri" pitchFamily="34" charset="-122"/>
                <a:cs typeface="Calibri" pitchFamily="34" charset="-120"/>
              </a:rPr>
              <a:t>▼</a:t>
            </a:r>
            <a:endParaRPr lang="en-US" sz="900" dirty="0"/>
          </a:p>
        </p:txBody>
      </p:sp>
      <p:sp>
        <p:nvSpPr>
          <p:cNvPr id="22" name="Text 20"/>
          <p:cNvSpPr/>
          <p:nvPr/>
        </p:nvSpPr>
        <p:spPr>
          <a:xfrm>
            <a:off x="6181344" y="3895344"/>
            <a:ext cx="1188720" cy="164592"/>
          </a:xfrm>
          <a:prstGeom prst="rect">
            <a:avLst/>
          </a:prstGeom>
          <a:noFill/>
          <a:ln/>
        </p:spPr>
        <p:txBody>
          <a:bodyPr wrap="square" rtlCol="0" anchor="ctr"/>
          <a:lstStyle/>
          <a:p>
            <a:pPr algn="ctr" indent="0" marL="0">
              <a:buNone/>
            </a:pPr>
            <a:r>
              <a:rPr lang="en-US" sz="750" i="1" dirty="0">
                <a:solidFill>
                  <a:srgbClr val="64748B"/>
                </a:solidFill>
                <a:latin typeface="Calibri" pitchFamily="34" charset="0"/>
                <a:ea typeface="Calibri" pitchFamily="34" charset="-122"/>
                <a:cs typeface="Calibri" pitchFamily="34" charset="-120"/>
              </a:rPr>
              <a:t>%include ×3</a:t>
            </a:r>
            <a:endParaRPr lang="en-US" sz="750" dirty="0"/>
          </a:p>
        </p:txBody>
      </p:sp>
      <p:sp>
        <p:nvSpPr>
          <p:cNvPr id="23" name="Shape 21"/>
          <p:cNvSpPr/>
          <p:nvPr/>
        </p:nvSpPr>
        <p:spPr>
          <a:xfrm>
            <a:off x="3163824" y="4224528"/>
            <a:ext cx="5852160" cy="1097280"/>
          </a:xfrm>
          <a:prstGeom prst="rect">
            <a:avLst/>
          </a:prstGeom>
          <a:solidFill>
            <a:srgbClr val="F7F9FE"/>
          </a:solidFill>
          <a:ln w="12700">
            <a:solidFill>
              <a:srgbClr val="DCE4F5"/>
            </a:solidFill>
            <a:prstDash val="solid"/>
          </a:ln>
        </p:spPr>
      </p:sp>
      <p:sp>
        <p:nvSpPr>
          <p:cNvPr id="24" name="Text 22"/>
          <p:cNvSpPr/>
          <p:nvPr/>
        </p:nvSpPr>
        <p:spPr>
          <a:xfrm>
            <a:off x="3310128" y="4288536"/>
            <a:ext cx="5559552" cy="201168"/>
          </a:xfrm>
          <a:prstGeom prst="rect">
            <a:avLst/>
          </a:prstGeom>
          <a:noFill/>
          <a:ln/>
        </p:spPr>
        <p:txBody>
          <a:bodyPr wrap="square" rtlCol="0" anchor="ctr"/>
          <a:lstStyle/>
          <a:p>
            <a:pPr indent="0" marL="0">
              <a:buNone/>
            </a:pPr>
            <a:r>
              <a:rPr lang="en-US" sz="850" b="1" spc="110" kern="0" dirty="0">
                <a:solidFill>
                  <a:srgbClr val="F96806"/>
                </a:solidFill>
                <a:latin typeface="Calibri" pitchFamily="34" charset="0"/>
                <a:ea typeface="Calibri" pitchFamily="34" charset="-122"/>
                <a:cs typeface="Calibri" pitchFamily="34" charset="-120"/>
              </a:rPr>
              <a:t>LIBRARY LAYER</a:t>
            </a:r>
            <a:endParaRPr lang="en-US" sz="850" dirty="0"/>
          </a:p>
        </p:txBody>
      </p:sp>
      <p:sp>
        <p:nvSpPr>
          <p:cNvPr id="25" name="Shape 23"/>
          <p:cNvSpPr/>
          <p:nvPr/>
        </p:nvSpPr>
        <p:spPr>
          <a:xfrm>
            <a:off x="3310128" y="4480560"/>
            <a:ext cx="1783080" cy="731520"/>
          </a:xfrm>
          <a:prstGeom prst="roundRect">
            <a:avLst>
              <a:gd name="adj" fmla="val 6250"/>
            </a:avLst>
          </a:prstGeom>
          <a:solidFill>
            <a:srgbClr val="FFFFFF"/>
          </a:solidFill>
          <a:ln w="12700">
            <a:solidFill>
              <a:srgbClr val="C3CFE8"/>
            </a:solidFill>
            <a:prstDash val="solid"/>
          </a:ln>
        </p:spPr>
      </p:sp>
      <p:sp>
        <p:nvSpPr>
          <p:cNvPr id="26" name="Text 24"/>
          <p:cNvSpPr/>
          <p:nvPr/>
        </p:nvSpPr>
        <p:spPr>
          <a:xfrm>
            <a:off x="3419856" y="4535424"/>
            <a:ext cx="1563624"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definitions.sas</a:t>
            </a:r>
            <a:endParaRPr lang="en-US" sz="950" dirty="0"/>
          </a:p>
        </p:txBody>
      </p:sp>
      <p:sp>
        <p:nvSpPr>
          <p:cNvPr id="27" name="Text 25"/>
          <p:cNvSpPr/>
          <p:nvPr/>
        </p:nvSpPr>
        <p:spPr>
          <a:xfrm>
            <a:off x="3419856" y="4736592"/>
            <a:ext cx="1563624" cy="420624"/>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~1,100 lines</a:t>
            </a:r>
            <a:endParaRPr lang="en-US" sz="750" dirty="0"/>
          </a:p>
          <a:p>
            <a:pPr indent="0" marL="0">
              <a:lnSpc>
                <a:spcPts val="950"/>
              </a:lnSpc>
              <a:buNone/>
            </a:pPr>
            <a:r>
              <a:rPr lang="en-US" sz="750" dirty="0">
                <a:solidFill>
                  <a:srgbClr val="5B6577"/>
                </a:solidFill>
                <a:latin typeface="Calibri" pitchFamily="34" charset="0"/>
                <a:ea typeface="Calibri" pitchFamily="34" charset="-122"/>
                <a:cs typeface="Calibri" pitchFamily="34" charset="-120"/>
              </a:rPr>
              <a:t>product &amp; campaign lookups,</a:t>
            </a:r>
            <a:endParaRPr lang="en-US" sz="750" dirty="0"/>
          </a:p>
          <a:p>
            <a:pPr indent="0" marL="0">
              <a:lnSpc>
                <a:spcPts val="950"/>
              </a:lnSpc>
              <a:buNone/>
            </a:pPr>
            <a:r>
              <a:rPr lang="en-US" sz="750" dirty="0">
                <a:solidFill>
                  <a:srgbClr val="5B6577"/>
                </a:solidFill>
                <a:latin typeface="Calibri" pitchFamily="34" charset="0"/>
                <a:ea typeface="Calibri" pitchFamily="34" charset="-122"/>
                <a:cs typeface="Calibri" pitchFamily="34" charset="-120"/>
              </a:rPr>
              <a:t>utility macros, formats</a:t>
            </a:r>
            <a:endParaRPr lang="en-US" sz="750" dirty="0"/>
          </a:p>
        </p:txBody>
      </p:sp>
      <p:sp>
        <p:nvSpPr>
          <p:cNvPr id="28" name="Shape 26"/>
          <p:cNvSpPr/>
          <p:nvPr/>
        </p:nvSpPr>
        <p:spPr>
          <a:xfrm>
            <a:off x="5202936" y="4480560"/>
            <a:ext cx="1783080" cy="731520"/>
          </a:xfrm>
          <a:prstGeom prst="roundRect">
            <a:avLst>
              <a:gd name="adj" fmla="val 6250"/>
            </a:avLst>
          </a:prstGeom>
          <a:solidFill>
            <a:srgbClr val="FFFFFF"/>
          </a:solidFill>
          <a:ln w="12700">
            <a:solidFill>
              <a:srgbClr val="C3CFE8"/>
            </a:solidFill>
            <a:prstDash val="solid"/>
          </a:ln>
        </p:spPr>
      </p:sp>
      <p:sp>
        <p:nvSpPr>
          <p:cNvPr id="29" name="Text 27"/>
          <p:cNvSpPr/>
          <p:nvPr/>
        </p:nvSpPr>
        <p:spPr>
          <a:xfrm>
            <a:off x="5312664" y="4535424"/>
            <a:ext cx="1563624"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sql_engine.sas</a:t>
            </a:r>
            <a:endParaRPr lang="en-US" sz="950" dirty="0"/>
          </a:p>
        </p:txBody>
      </p:sp>
      <p:sp>
        <p:nvSpPr>
          <p:cNvPr id="30" name="Text 28"/>
          <p:cNvSpPr/>
          <p:nvPr/>
        </p:nvSpPr>
        <p:spPr>
          <a:xfrm>
            <a:off x="5312664" y="4736592"/>
            <a:ext cx="1563624" cy="420624"/>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~1,950 lines</a:t>
            </a:r>
            <a:endParaRPr lang="en-US" sz="750" dirty="0"/>
          </a:p>
          <a:p>
            <a:pPr indent="0" marL="0">
              <a:lnSpc>
                <a:spcPts val="950"/>
              </a:lnSpc>
              <a:buNone/>
            </a:pPr>
            <a:r>
              <a:rPr lang="en-US" sz="750" dirty="0">
                <a:solidFill>
                  <a:srgbClr val="5B6577"/>
                </a:solidFill>
                <a:latin typeface="Calibri" pitchFamily="34" charset="0"/>
                <a:ea typeface="Calibri" pitchFamily="34" charset="-122"/>
                <a:cs typeface="Calibri" pitchFamily="34" charset="-120"/>
              </a:rPr>
              <a:t>21 query builders,</a:t>
            </a:r>
            <a:endParaRPr lang="en-US" sz="750" dirty="0"/>
          </a:p>
          <a:p>
            <a:pPr indent="0" marL="0">
              <a:lnSpc>
                <a:spcPts val="950"/>
              </a:lnSpc>
              <a:buNone/>
            </a:pPr>
            <a:r>
              <a:rPr lang="en-US" sz="750" dirty="0">
                <a:solidFill>
                  <a:srgbClr val="5B6577"/>
                </a:solidFill>
                <a:latin typeface="Calibri" pitchFamily="34" charset="0"/>
                <a:ea typeface="Calibri" pitchFamily="34" charset="-122"/>
                <a:cs typeface="Calibri" pitchFamily="34" charset="-120"/>
              </a:rPr>
              <a:t>execute · stage · merge</a:t>
            </a:r>
            <a:endParaRPr lang="en-US" sz="750" dirty="0"/>
          </a:p>
        </p:txBody>
      </p:sp>
      <p:sp>
        <p:nvSpPr>
          <p:cNvPr id="31" name="Shape 29"/>
          <p:cNvSpPr/>
          <p:nvPr/>
        </p:nvSpPr>
        <p:spPr>
          <a:xfrm>
            <a:off x="7086600" y="4480560"/>
            <a:ext cx="1783080" cy="731520"/>
          </a:xfrm>
          <a:prstGeom prst="roundRect">
            <a:avLst>
              <a:gd name="adj" fmla="val 6250"/>
            </a:avLst>
          </a:prstGeom>
          <a:solidFill>
            <a:srgbClr val="FFFFFF"/>
          </a:solidFill>
          <a:ln w="12700">
            <a:solidFill>
              <a:srgbClr val="C3CFE8"/>
            </a:solidFill>
            <a:prstDash val="solid"/>
          </a:ln>
        </p:spPr>
      </p:sp>
      <p:sp>
        <p:nvSpPr>
          <p:cNvPr id="32" name="Text 30"/>
          <p:cNvSpPr/>
          <p:nvPr/>
        </p:nvSpPr>
        <p:spPr>
          <a:xfrm>
            <a:off x="7196328" y="4535424"/>
            <a:ext cx="1563624"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variables.sas</a:t>
            </a:r>
            <a:endParaRPr lang="en-US" sz="950" dirty="0"/>
          </a:p>
        </p:txBody>
      </p:sp>
      <p:sp>
        <p:nvSpPr>
          <p:cNvPr id="33" name="Text 31"/>
          <p:cNvSpPr/>
          <p:nvPr/>
        </p:nvSpPr>
        <p:spPr>
          <a:xfrm>
            <a:off x="7196328" y="4736592"/>
            <a:ext cx="1563624" cy="420624"/>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~1,650 lines</a:t>
            </a:r>
            <a:endParaRPr lang="en-US" sz="750" dirty="0"/>
          </a:p>
          <a:p>
            <a:pPr indent="0" marL="0">
              <a:lnSpc>
                <a:spcPts val="950"/>
              </a:lnSpc>
              <a:buNone/>
            </a:pPr>
            <a:r>
              <a:rPr lang="en-US" sz="750" dirty="0">
                <a:solidFill>
                  <a:srgbClr val="5B6577"/>
                </a:solidFill>
                <a:latin typeface="Calibri" pitchFamily="34" charset="0"/>
                <a:ea typeface="Calibri" pitchFamily="34" charset="-122"/>
                <a:cs typeface="Calibri" pitchFamily="34" charset="-120"/>
              </a:rPr>
              <a:t>16 categories,</a:t>
            </a:r>
            <a:endParaRPr lang="en-US" sz="750" dirty="0"/>
          </a:p>
          <a:p>
            <a:pPr indent="0" marL="0">
              <a:lnSpc>
                <a:spcPts val="950"/>
              </a:lnSpc>
              <a:buNone/>
            </a:pPr>
            <a:r>
              <a:rPr lang="en-US" sz="750" dirty="0">
                <a:solidFill>
                  <a:srgbClr val="5B6577"/>
                </a:solidFill>
                <a:latin typeface="Calibri" pitchFamily="34" charset="0"/>
                <a:ea typeface="Calibri" pitchFamily="34" charset="-122"/>
                <a:cs typeface="Calibri" pitchFamily="34" charset="-120"/>
              </a:rPr>
              <a:t>500+ feature recipes</a:t>
            </a:r>
            <a:endParaRPr lang="en-US" sz="750" dirty="0"/>
          </a:p>
        </p:txBody>
      </p:sp>
      <p:sp>
        <p:nvSpPr>
          <p:cNvPr id="34" name="Shape 32"/>
          <p:cNvSpPr/>
          <p:nvPr/>
        </p:nvSpPr>
        <p:spPr>
          <a:xfrm>
            <a:off x="237744" y="3108960"/>
            <a:ext cx="2651760" cy="2212848"/>
          </a:xfrm>
          <a:prstGeom prst="rect">
            <a:avLst/>
          </a:prstGeom>
          <a:solidFill>
            <a:srgbClr val="F7F9FE"/>
          </a:solidFill>
          <a:ln w="12700">
            <a:solidFill>
              <a:srgbClr val="DCE4F5"/>
            </a:solidFill>
            <a:prstDash val="solid"/>
          </a:ln>
        </p:spPr>
      </p:sp>
      <p:sp>
        <p:nvSpPr>
          <p:cNvPr id="35" name="Text 33"/>
          <p:cNvSpPr/>
          <p:nvPr/>
        </p:nvSpPr>
        <p:spPr>
          <a:xfrm>
            <a:off x="384048" y="3172968"/>
            <a:ext cx="2359152" cy="201168"/>
          </a:xfrm>
          <a:prstGeom prst="rect">
            <a:avLst/>
          </a:prstGeom>
          <a:noFill/>
          <a:ln/>
        </p:spPr>
        <p:txBody>
          <a:bodyPr wrap="square" rtlCol="0" anchor="ctr"/>
          <a:lstStyle/>
          <a:p>
            <a:pPr indent="0" marL="0">
              <a:buNone/>
            </a:pPr>
            <a:r>
              <a:rPr lang="en-US" sz="850" b="1" spc="110" kern="0" dirty="0">
                <a:solidFill>
                  <a:srgbClr val="F96806"/>
                </a:solidFill>
                <a:latin typeface="Calibri" pitchFamily="34" charset="0"/>
                <a:ea typeface="Calibri" pitchFamily="34" charset="-122"/>
                <a:cs typeface="Calibri" pitchFamily="34" charset="-120"/>
              </a:rPr>
              <a:t>OUTPUTS</a:t>
            </a:r>
            <a:endParaRPr lang="en-US" sz="850" dirty="0"/>
          </a:p>
        </p:txBody>
      </p:sp>
      <p:sp>
        <p:nvSpPr>
          <p:cNvPr id="36" name="Shape 34"/>
          <p:cNvSpPr/>
          <p:nvPr/>
        </p:nvSpPr>
        <p:spPr>
          <a:xfrm>
            <a:off x="365760" y="3383280"/>
            <a:ext cx="2395728" cy="438912"/>
          </a:xfrm>
          <a:prstGeom prst="roundRect">
            <a:avLst>
              <a:gd name="adj" fmla="val 10417"/>
            </a:avLst>
          </a:prstGeom>
          <a:solidFill>
            <a:srgbClr val="FFFFFF"/>
          </a:solidFill>
          <a:ln w="12700">
            <a:solidFill>
              <a:srgbClr val="C3CFE8"/>
            </a:solidFill>
            <a:prstDash val="solid"/>
          </a:ln>
        </p:spPr>
      </p:sp>
      <p:sp>
        <p:nvSpPr>
          <p:cNvPr id="37" name="Text 35"/>
          <p:cNvSpPr/>
          <p:nvPr/>
        </p:nvSpPr>
        <p:spPr>
          <a:xfrm>
            <a:off x="475488" y="3438144"/>
            <a:ext cx="2176272"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Modelling dataset</a:t>
            </a:r>
            <a:endParaRPr lang="en-US" sz="950" dirty="0"/>
          </a:p>
        </p:txBody>
      </p:sp>
      <p:sp>
        <p:nvSpPr>
          <p:cNvPr id="38" name="Text 36"/>
          <p:cNvSpPr/>
          <p:nvPr/>
        </p:nvSpPr>
        <p:spPr>
          <a:xfrm>
            <a:off x="475488" y="3639312"/>
            <a:ext cx="2176272" cy="128016"/>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one row per customer</a:t>
            </a:r>
            <a:endParaRPr lang="en-US" sz="750" dirty="0"/>
          </a:p>
        </p:txBody>
      </p:sp>
      <p:sp>
        <p:nvSpPr>
          <p:cNvPr id="39" name="Shape 37"/>
          <p:cNvSpPr/>
          <p:nvPr/>
        </p:nvSpPr>
        <p:spPr>
          <a:xfrm>
            <a:off x="365760" y="3867912"/>
            <a:ext cx="2395728" cy="438912"/>
          </a:xfrm>
          <a:prstGeom prst="roundRect">
            <a:avLst>
              <a:gd name="adj" fmla="val 10417"/>
            </a:avLst>
          </a:prstGeom>
          <a:solidFill>
            <a:srgbClr val="FFFFFF"/>
          </a:solidFill>
          <a:ln w="12700">
            <a:solidFill>
              <a:srgbClr val="C3CFE8"/>
            </a:solidFill>
            <a:prstDash val="solid"/>
          </a:ln>
        </p:spPr>
      </p:sp>
      <p:sp>
        <p:nvSpPr>
          <p:cNvPr id="40" name="Text 38"/>
          <p:cNvSpPr/>
          <p:nvPr/>
        </p:nvSpPr>
        <p:spPr>
          <a:xfrm>
            <a:off x="475488" y="3922776"/>
            <a:ext cx="2176272"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Point-in-time saves</a:t>
            </a:r>
            <a:endParaRPr lang="en-US" sz="950" dirty="0"/>
          </a:p>
        </p:txBody>
      </p:sp>
      <p:sp>
        <p:nvSpPr>
          <p:cNvPr id="41" name="Text 39"/>
          <p:cNvSpPr/>
          <p:nvPr/>
        </p:nvSpPr>
        <p:spPr>
          <a:xfrm>
            <a:off x="475488" y="4123944"/>
            <a:ext cx="2176272" cy="128016"/>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scoring snapshots</a:t>
            </a:r>
            <a:endParaRPr lang="en-US" sz="750" dirty="0"/>
          </a:p>
        </p:txBody>
      </p:sp>
      <p:sp>
        <p:nvSpPr>
          <p:cNvPr id="42" name="Shape 40"/>
          <p:cNvSpPr/>
          <p:nvPr/>
        </p:nvSpPr>
        <p:spPr>
          <a:xfrm>
            <a:off x="365760" y="4352544"/>
            <a:ext cx="2395728" cy="438912"/>
          </a:xfrm>
          <a:prstGeom prst="roundRect">
            <a:avLst>
              <a:gd name="adj" fmla="val 10417"/>
            </a:avLst>
          </a:prstGeom>
          <a:solidFill>
            <a:srgbClr val="FFFFFF"/>
          </a:solidFill>
          <a:ln w="12700">
            <a:solidFill>
              <a:srgbClr val="C3CFE8"/>
            </a:solidFill>
            <a:prstDash val="solid"/>
          </a:ln>
        </p:spPr>
      </p:sp>
      <p:sp>
        <p:nvSpPr>
          <p:cNvPr id="43" name="Text 41"/>
          <p:cNvSpPr/>
          <p:nvPr/>
        </p:nvSpPr>
        <p:spPr>
          <a:xfrm>
            <a:off x="475488" y="4407408"/>
            <a:ext cx="2176272"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Inventory reports</a:t>
            </a:r>
            <a:endParaRPr lang="en-US" sz="950" dirty="0"/>
          </a:p>
        </p:txBody>
      </p:sp>
      <p:sp>
        <p:nvSpPr>
          <p:cNvPr id="44" name="Text 42"/>
          <p:cNvSpPr/>
          <p:nvPr/>
        </p:nvSpPr>
        <p:spPr>
          <a:xfrm>
            <a:off x="475488" y="4608576"/>
            <a:ext cx="2176272" cy="128016"/>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list counts by segment</a:t>
            </a:r>
            <a:endParaRPr lang="en-US" sz="750" dirty="0"/>
          </a:p>
        </p:txBody>
      </p:sp>
      <p:sp>
        <p:nvSpPr>
          <p:cNvPr id="45" name="Shape 43"/>
          <p:cNvSpPr/>
          <p:nvPr/>
        </p:nvSpPr>
        <p:spPr>
          <a:xfrm>
            <a:off x="365760" y="4837176"/>
            <a:ext cx="2395728" cy="438912"/>
          </a:xfrm>
          <a:prstGeom prst="roundRect">
            <a:avLst>
              <a:gd name="adj" fmla="val 10417"/>
            </a:avLst>
          </a:prstGeom>
          <a:solidFill>
            <a:srgbClr val="FFFFFF"/>
          </a:solidFill>
          <a:ln w="12700">
            <a:solidFill>
              <a:srgbClr val="C3CFE8"/>
            </a:solidFill>
            <a:prstDash val="solid"/>
          </a:ln>
        </p:spPr>
      </p:sp>
      <p:sp>
        <p:nvSpPr>
          <p:cNvPr id="46" name="Text 44"/>
          <p:cNvSpPr/>
          <p:nvPr/>
        </p:nvSpPr>
        <p:spPr>
          <a:xfrm>
            <a:off x="475488" y="4892040"/>
            <a:ext cx="2176272"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Production tables</a:t>
            </a:r>
            <a:endParaRPr lang="en-US" sz="950" dirty="0"/>
          </a:p>
        </p:txBody>
      </p:sp>
      <p:sp>
        <p:nvSpPr>
          <p:cNvPr id="47" name="Text 45"/>
          <p:cNvSpPr/>
          <p:nvPr/>
        </p:nvSpPr>
        <p:spPr>
          <a:xfrm>
            <a:off x="475488" y="5093208"/>
            <a:ext cx="2176272" cy="128016"/>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loaded back for campaigns</a:t>
            </a:r>
            <a:endParaRPr lang="en-US" sz="750" dirty="0"/>
          </a:p>
        </p:txBody>
      </p:sp>
      <p:sp>
        <p:nvSpPr>
          <p:cNvPr id="48" name="Shape 46"/>
          <p:cNvSpPr/>
          <p:nvPr/>
        </p:nvSpPr>
        <p:spPr>
          <a:xfrm>
            <a:off x="2889504" y="3491179"/>
            <a:ext cx="274320" cy="21946"/>
          </a:xfrm>
          <a:prstGeom prst="rect">
            <a:avLst/>
          </a:prstGeom>
          <a:solidFill>
            <a:srgbClr val="8FA6D9"/>
          </a:solidFill>
          <a:ln/>
        </p:spPr>
      </p:sp>
      <p:sp>
        <p:nvSpPr>
          <p:cNvPr id="49" name="Text 47"/>
          <p:cNvSpPr/>
          <p:nvPr/>
        </p:nvSpPr>
        <p:spPr>
          <a:xfrm>
            <a:off x="2862072" y="3429000"/>
            <a:ext cx="201168" cy="164592"/>
          </a:xfrm>
          <a:prstGeom prst="rect">
            <a:avLst/>
          </a:prstGeom>
          <a:noFill/>
          <a:ln/>
        </p:spPr>
        <p:txBody>
          <a:bodyPr wrap="square" rtlCol="0" anchor="ctr"/>
          <a:lstStyle/>
          <a:p>
            <a:pPr algn="ctr" indent="0" marL="0">
              <a:buNone/>
            </a:pPr>
            <a:r>
              <a:rPr lang="en-US" sz="900" b="1" dirty="0">
                <a:solidFill>
                  <a:srgbClr val="8FA6D9"/>
                </a:solidFill>
                <a:latin typeface="Calibri" pitchFamily="34" charset="0"/>
                <a:ea typeface="Calibri" pitchFamily="34" charset="-122"/>
                <a:cs typeface="Calibri" pitchFamily="34" charset="-120"/>
              </a:rPr>
              <a:t>◀</a:t>
            </a:r>
            <a:endParaRPr lang="en-US" sz="900" dirty="0"/>
          </a:p>
        </p:txBody>
      </p:sp>
      <p:sp>
        <p:nvSpPr>
          <p:cNvPr id="50" name="Shape 48"/>
          <p:cNvSpPr/>
          <p:nvPr/>
        </p:nvSpPr>
        <p:spPr>
          <a:xfrm>
            <a:off x="9290304" y="3108960"/>
            <a:ext cx="2660904" cy="2212848"/>
          </a:xfrm>
          <a:prstGeom prst="rect">
            <a:avLst/>
          </a:prstGeom>
          <a:solidFill>
            <a:srgbClr val="F7F9FE"/>
          </a:solidFill>
          <a:ln w="12700">
            <a:solidFill>
              <a:srgbClr val="DCE4F5"/>
            </a:solidFill>
            <a:prstDash val="solid"/>
          </a:ln>
        </p:spPr>
      </p:sp>
      <p:sp>
        <p:nvSpPr>
          <p:cNvPr id="51" name="Text 49"/>
          <p:cNvSpPr/>
          <p:nvPr/>
        </p:nvSpPr>
        <p:spPr>
          <a:xfrm>
            <a:off x="9436608" y="3172968"/>
            <a:ext cx="2368296" cy="201168"/>
          </a:xfrm>
          <a:prstGeom prst="rect">
            <a:avLst/>
          </a:prstGeom>
          <a:noFill/>
          <a:ln/>
        </p:spPr>
        <p:txBody>
          <a:bodyPr wrap="square" rtlCol="0" anchor="ctr"/>
          <a:lstStyle/>
          <a:p>
            <a:pPr indent="0" marL="0">
              <a:buNone/>
            </a:pPr>
            <a:r>
              <a:rPr lang="en-US" sz="850" b="1" spc="110" kern="0" dirty="0">
                <a:solidFill>
                  <a:srgbClr val="F96806"/>
                </a:solidFill>
                <a:latin typeface="Calibri" pitchFamily="34" charset="0"/>
                <a:ea typeface="Calibri" pitchFamily="34" charset="-122"/>
                <a:cs typeface="Calibri" pitchFamily="34" charset="-120"/>
              </a:rPr>
              <a:t>DATA SOURCE</a:t>
            </a:r>
            <a:endParaRPr lang="en-US" sz="850" dirty="0"/>
          </a:p>
        </p:txBody>
      </p:sp>
      <p:sp>
        <p:nvSpPr>
          <p:cNvPr id="52" name="Shape 50"/>
          <p:cNvSpPr/>
          <p:nvPr/>
        </p:nvSpPr>
        <p:spPr>
          <a:xfrm>
            <a:off x="9418320" y="3383280"/>
            <a:ext cx="2404872" cy="1078992"/>
          </a:xfrm>
          <a:prstGeom prst="roundRect">
            <a:avLst>
              <a:gd name="adj" fmla="val 4237"/>
            </a:avLst>
          </a:prstGeom>
          <a:solidFill>
            <a:srgbClr val="1861F5"/>
          </a:solidFill>
          <a:ln w="12700">
            <a:solidFill>
              <a:srgbClr val="C3CFE8"/>
            </a:solidFill>
            <a:prstDash val="solid"/>
          </a:ln>
        </p:spPr>
      </p:sp>
      <p:sp>
        <p:nvSpPr>
          <p:cNvPr id="53" name="Text 51"/>
          <p:cNvSpPr/>
          <p:nvPr/>
        </p:nvSpPr>
        <p:spPr>
          <a:xfrm>
            <a:off x="9528048" y="3438144"/>
            <a:ext cx="2185416" cy="201168"/>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Legacy Oracle warehouse</a:t>
            </a:r>
            <a:endParaRPr lang="en-US" sz="950" dirty="0"/>
          </a:p>
        </p:txBody>
      </p:sp>
      <p:sp>
        <p:nvSpPr>
          <p:cNvPr id="54" name="Text 52"/>
          <p:cNvSpPr/>
          <p:nvPr/>
        </p:nvSpPr>
        <p:spPr>
          <a:xfrm>
            <a:off x="9528048" y="3639312"/>
            <a:ext cx="2185416" cy="768096"/>
          </a:xfrm>
          <a:prstGeom prst="rect">
            <a:avLst/>
          </a:prstGeom>
          <a:noFill/>
          <a:ln/>
        </p:spPr>
        <p:txBody>
          <a:bodyPr wrap="square" rtlCol="0" anchor="t"/>
          <a:lstStyle/>
          <a:p>
            <a:pPr indent="0" marL="0">
              <a:lnSpc>
                <a:spcPts val="950"/>
              </a:lnSpc>
              <a:buNone/>
            </a:pPr>
            <a:r>
              <a:rPr lang="en-US" sz="750" dirty="0">
                <a:solidFill>
                  <a:srgbClr val="D6E2FB"/>
                </a:solidFill>
                <a:latin typeface="Calibri" pitchFamily="34" charset="0"/>
                <a:ea typeface="Calibri" pitchFamily="34" charset="-122"/>
                <a:cs typeface="Calibri" pitchFamily="34" charset="-120"/>
              </a:rPr>
              <a:t>via SAS/ACCESS pass-through</a:t>
            </a:r>
            <a:endParaRPr lang="en-US" sz="750" dirty="0"/>
          </a:p>
          <a:p>
            <a:pPr indent="0" marL="0">
              <a:lnSpc>
                <a:spcPts val="950"/>
              </a:lnSpc>
              <a:buNone/>
            </a:pPr>
            <a:endParaRPr lang="en-US" sz="750" dirty="0"/>
          </a:p>
          <a:p>
            <a:pPr indent="0" marL="0">
              <a:lnSpc>
                <a:spcPts val="950"/>
              </a:lnSpc>
              <a:buNone/>
            </a:pPr>
            <a:r>
              <a:rPr lang="en-US" sz="750" dirty="0">
                <a:solidFill>
                  <a:srgbClr val="D6E2FB"/>
                </a:solidFill>
                <a:latin typeface="Calibri" pitchFamily="34" charset="0"/>
                <a:ea typeface="Calibri" pitchFamily="34" charset="-122"/>
                <a:cs typeface="Calibri" pitchFamily="34" charset="-120"/>
              </a:rPr>
              <a:t>orders · order lines</a:t>
            </a:r>
            <a:endParaRPr lang="en-US" sz="750" dirty="0"/>
          </a:p>
          <a:p>
            <a:pPr indent="0" marL="0">
              <a:lnSpc>
                <a:spcPts val="950"/>
              </a:lnSpc>
              <a:buNone/>
            </a:pPr>
            <a:r>
              <a:rPr lang="en-US" sz="750" dirty="0">
                <a:solidFill>
                  <a:srgbClr val="D6E2FB"/>
                </a:solidFill>
                <a:latin typeface="Calibri" pitchFamily="34" charset="0"/>
                <a:ea typeface="Calibri" pitchFamily="34" charset="-122"/>
                <a:cs typeface="Calibri" pitchFamily="34" charset="-120"/>
              </a:rPr>
              <a:t>subscriptions · promotions</a:t>
            </a:r>
            <a:endParaRPr lang="en-US" sz="750" dirty="0"/>
          </a:p>
          <a:p>
            <a:pPr indent="0" marL="0">
              <a:lnSpc>
                <a:spcPts val="950"/>
              </a:lnSpc>
              <a:buNone/>
            </a:pPr>
            <a:r>
              <a:rPr lang="en-US" sz="750" dirty="0">
                <a:solidFill>
                  <a:srgbClr val="D6E2FB"/>
                </a:solidFill>
                <a:latin typeface="Calibri" pitchFamily="34" charset="0"/>
                <a:ea typeface="Calibri" pitchFamily="34" charset="-122"/>
                <a:cs typeface="Calibri" pitchFamily="34" charset="-120"/>
              </a:rPr>
              <a:t>audience log · product master</a:t>
            </a:r>
            <a:endParaRPr lang="en-US" sz="750" dirty="0"/>
          </a:p>
        </p:txBody>
      </p:sp>
      <p:sp>
        <p:nvSpPr>
          <p:cNvPr id="55" name="Shape 53"/>
          <p:cNvSpPr/>
          <p:nvPr/>
        </p:nvSpPr>
        <p:spPr>
          <a:xfrm>
            <a:off x="9418320" y="4681728"/>
            <a:ext cx="2404872" cy="457200"/>
          </a:xfrm>
          <a:prstGeom prst="roundRect">
            <a:avLst>
              <a:gd name="adj" fmla="val 10000"/>
            </a:avLst>
          </a:prstGeom>
          <a:solidFill>
            <a:srgbClr val="FFFFFF"/>
          </a:solidFill>
          <a:ln w="12700">
            <a:solidFill>
              <a:srgbClr val="C3CFE8"/>
            </a:solidFill>
            <a:prstDash val="solid"/>
          </a:ln>
        </p:spPr>
      </p:sp>
      <p:sp>
        <p:nvSpPr>
          <p:cNvPr id="56" name="Text 54"/>
          <p:cNvSpPr/>
          <p:nvPr/>
        </p:nvSpPr>
        <p:spPr>
          <a:xfrm>
            <a:off x="9528048" y="4736592"/>
            <a:ext cx="2185416"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temp table</a:t>
            </a:r>
            <a:endParaRPr lang="en-US" sz="950" dirty="0"/>
          </a:p>
        </p:txBody>
      </p:sp>
      <p:sp>
        <p:nvSpPr>
          <p:cNvPr id="57" name="Text 55"/>
          <p:cNvSpPr/>
          <p:nvPr/>
        </p:nvSpPr>
        <p:spPr>
          <a:xfrm>
            <a:off x="9528048" y="4937760"/>
            <a:ext cx="2185416" cy="146304"/>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one per variable, created then merged</a:t>
            </a:r>
            <a:endParaRPr lang="en-US" sz="750" dirty="0"/>
          </a:p>
        </p:txBody>
      </p:sp>
      <p:sp>
        <p:nvSpPr>
          <p:cNvPr id="58" name="Text 56"/>
          <p:cNvSpPr/>
          <p:nvPr/>
        </p:nvSpPr>
        <p:spPr>
          <a:xfrm>
            <a:off x="9418320" y="5157216"/>
            <a:ext cx="2404872" cy="164592"/>
          </a:xfrm>
          <a:prstGeom prst="rect">
            <a:avLst/>
          </a:prstGeom>
          <a:noFill/>
          <a:ln/>
        </p:spPr>
        <p:txBody>
          <a:bodyPr wrap="square" rtlCol="0" anchor="ctr"/>
          <a:lstStyle/>
          <a:p>
            <a:pPr algn="ctr" indent="0" marL="0">
              <a:buNone/>
            </a:pPr>
            <a:r>
              <a:rPr lang="en-US" sz="750" i="1" dirty="0">
                <a:solidFill>
                  <a:srgbClr val="64748B"/>
                </a:solidFill>
                <a:latin typeface="Calibri" pitchFamily="34" charset="0"/>
                <a:ea typeface="Calibri" pitchFamily="34" charset="-122"/>
                <a:cs typeface="Calibri" pitchFamily="34" charset="-120"/>
              </a:rPr>
              <a:t>repeat 500+ times</a:t>
            </a:r>
            <a:endParaRPr lang="en-US" sz="750" dirty="0"/>
          </a:p>
        </p:txBody>
      </p:sp>
      <p:sp>
        <p:nvSpPr>
          <p:cNvPr id="59" name="Shape 57"/>
          <p:cNvSpPr/>
          <p:nvPr/>
        </p:nvSpPr>
        <p:spPr>
          <a:xfrm>
            <a:off x="9015984" y="3884371"/>
            <a:ext cx="274320" cy="21946"/>
          </a:xfrm>
          <a:prstGeom prst="rect">
            <a:avLst/>
          </a:prstGeom>
          <a:solidFill>
            <a:srgbClr val="8FA6D9"/>
          </a:solidFill>
          <a:ln/>
        </p:spPr>
      </p:sp>
      <p:sp>
        <p:nvSpPr>
          <p:cNvPr id="60" name="Text 58"/>
          <p:cNvSpPr/>
          <p:nvPr/>
        </p:nvSpPr>
        <p:spPr>
          <a:xfrm>
            <a:off x="9116568" y="3822192"/>
            <a:ext cx="201168" cy="164592"/>
          </a:xfrm>
          <a:prstGeom prst="rect">
            <a:avLst/>
          </a:prstGeom>
          <a:noFill/>
          <a:ln/>
        </p:spPr>
        <p:txBody>
          <a:bodyPr wrap="square" rtlCol="0" anchor="ctr"/>
          <a:lstStyle/>
          <a:p>
            <a:pPr algn="ctr" indent="0" marL="0">
              <a:buNone/>
            </a:pPr>
            <a:r>
              <a:rPr lang="en-US" sz="900" b="1" dirty="0">
                <a:solidFill>
                  <a:srgbClr val="8FA6D9"/>
                </a:solidFill>
                <a:latin typeface="Calibri" pitchFamily="34" charset="0"/>
                <a:ea typeface="Calibri" pitchFamily="34" charset="-122"/>
                <a:cs typeface="Calibri" pitchFamily="34" charset="-120"/>
              </a:rPr>
              <a:t>▶</a:t>
            </a:r>
            <a:endParaRPr lang="en-US" sz="900" dirty="0"/>
          </a:p>
        </p:txBody>
      </p:sp>
      <p:sp>
        <p:nvSpPr>
          <p:cNvPr id="61" name="Shape 59"/>
          <p:cNvSpPr/>
          <p:nvPr/>
        </p:nvSpPr>
        <p:spPr>
          <a:xfrm>
            <a:off x="9015984" y="4140403"/>
            <a:ext cx="274320" cy="21946"/>
          </a:xfrm>
          <a:prstGeom prst="rect">
            <a:avLst/>
          </a:prstGeom>
          <a:solidFill>
            <a:srgbClr val="8FA6D9"/>
          </a:solidFill>
          <a:ln/>
        </p:spPr>
      </p:sp>
      <p:sp>
        <p:nvSpPr>
          <p:cNvPr id="62" name="Text 60"/>
          <p:cNvSpPr/>
          <p:nvPr/>
        </p:nvSpPr>
        <p:spPr>
          <a:xfrm>
            <a:off x="8988552" y="4078224"/>
            <a:ext cx="201168" cy="164592"/>
          </a:xfrm>
          <a:prstGeom prst="rect">
            <a:avLst/>
          </a:prstGeom>
          <a:noFill/>
          <a:ln/>
        </p:spPr>
        <p:txBody>
          <a:bodyPr wrap="square" rtlCol="0" anchor="ctr"/>
          <a:lstStyle/>
          <a:p>
            <a:pPr algn="ctr" indent="0" marL="0">
              <a:buNone/>
            </a:pPr>
            <a:r>
              <a:rPr lang="en-US" sz="900" b="1" dirty="0">
                <a:solidFill>
                  <a:srgbClr val="8FA6D9"/>
                </a:solidFill>
                <a:latin typeface="Calibri" pitchFamily="34" charset="0"/>
                <a:ea typeface="Calibri" pitchFamily="34" charset="-122"/>
                <a:cs typeface="Calibri" pitchFamily="34" charset="-120"/>
              </a:rPr>
              <a:t>◀</a:t>
            </a:r>
            <a:endParaRPr lang="en-US" sz="900" dirty="0"/>
          </a:p>
        </p:txBody>
      </p:sp>
      <p:sp>
        <p:nvSpPr>
          <p:cNvPr id="63" name="Text 61"/>
          <p:cNvSpPr/>
          <p:nvPr/>
        </p:nvSpPr>
        <p:spPr>
          <a:xfrm>
            <a:off x="9418320" y="4498848"/>
            <a:ext cx="2404872" cy="164592"/>
          </a:xfrm>
          <a:prstGeom prst="rect">
            <a:avLst/>
          </a:prstGeom>
          <a:noFill/>
          <a:ln/>
        </p:spPr>
        <p:txBody>
          <a:bodyPr wrap="square"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  pass-through SQL          ◀  merged features</a:t>
            </a:r>
            <a:endParaRPr lang="en-US" sz="750" dirty="0"/>
          </a:p>
        </p:txBody>
      </p:sp>
      <p:sp>
        <p:nvSpPr>
          <p:cNvPr id="64" name="Shape 62"/>
          <p:cNvSpPr/>
          <p:nvPr/>
        </p:nvSpPr>
        <p:spPr>
          <a:xfrm>
            <a:off x="237744" y="5422392"/>
            <a:ext cx="11713464" cy="758952"/>
          </a:xfrm>
          <a:prstGeom prst="rect">
            <a:avLst/>
          </a:prstGeom>
          <a:solidFill>
            <a:srgbClr val="1A288E"/>
          </a:solidFill>
          <a:ln/>
        </p:spPr>
      </p:sp>
      <p:sp>
        <p:nvSpPr>
          <p:cNvPr id="65" name="Text 63"/>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WHAT THE DIAGRAM MAKES VISIBLE</a:t>
            </a:r>
            <a:endParaRPr lang="en-US" sz="900" dirty="0"/>
          </a:p>
        </p:txBody>
      </p:sp>
      <p:sp>
        <p:nvSpPr>
          <p:cNvPr id="66" name="Text 64"/>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The caller only configures; the orchestrator only wires; every query is written at run time by the library — so one corrected pattern in a shared builder propagates to every variable it serves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ARCHITECTURE · WHAT CHANGED</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Before vs After Architecture</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The macro framework is unchanged — deliberately. What changed sits at the boundary: how the engine connects, what it maps names to, and how it handles values the legacy platform never produced</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38528"/>
            <a:ext cx="5577840" cy="310896"/>
          </a:xfrm>
          <a:prstGeom prst="rect">
            <a:avLst/>
          </a:prstGeom>
          <a:solidFill>
            <a:srgbClr val="64748B"/>
          </a:solidFill>
          <a:ln/>
        </p:spPr>
      </p:sp>
      <p:sp>
        <p:nvSpPr>
          <p:cNvPr id="8" name="Text 6"/>
          <p:cNvSpPr/>
          <p:nvPr/>
        </p:nvSpPr>
        <p:spPr>
          <a:xfrm>
            <a:off x="420624" y="1984248"/>
            <a:ext cx="5212080" cy="219456"/>
          </a:xfrm>
          <a:prstGeom prst="rect">
            <a:avLst/>
          </a:prstGeom>
          <a:noFill/>
          <a:ln/>
        </p:spPr>
        <p:txBody>
          <a:bodyPr wrap="square" rtlCol="0" anchor="ctr"/>
          <a:lstStyle/>
          <a:p>
            <a:pPr indent="0" marL="0">
              <a:buNone/>
            </a:pPr>
            <a:r>
              <a:rPr lang="en-US" sz="1000" b="1" spc="120" kern="0" dirty="0">
                <a:solidFill>
                  <a:srgbClr val="FFFFFF"/>
                </a:solidFill>
                <a:latin typeface="Calibri" pitchFamily="34" charset="0"/>
                <a:ea typeface="Calibri" pitchFamily="34" charset="-122"/>
                <a:cs typeface="Calibri" pitchFamily="34" charset="-120"/>
              </a:rPr>
              <a:t>BEFORE  ·  LEGACY ORACLE</a:t>
            </a:r>
            <a:endParaRPr lang="en-US" sz="1000" dirty="0"/>
          </a:p>
        </p:txBody>
      </p:sp>
      <p:sp>
        <p:nvSpPr>
          <p:cNvPr id="9" name="Shape 7"/>
          <p:cNvSpPr/>
          <p:nvPr/>
        </p:nvSpPr>
        <p:spPr>
          <a:xfrm>
            <a:off x="6126480" y="1938528"/>
            <a:ext cx="5824728" cy="310896"/>
          </a:xfrm>
          <a:prstGeom prst="rect">
            <a:avLst/>
          </a:prstGeom>
          <a:solidFill>
            <a:srgbClr val="1A288E"/>
          </a:solidFill>
          <a:ln/>
        </p:spPr>
      </p:sp>
      <p:sp>
        <p:nvSpPr>
          <p:cNvPr id="10" name="Text 8"/>
          <p:cNvSpPr/>
          <p:nvPr/>
        </p:nvSpPr>
        <p:spPr>
          <a:xfrm>
            <a:off x="6309360" y="1984248"/>
            <a:ext cx="5486400" cy="219456"/>
          </a:xfrm>
          <a:prstGeom prst="rect">
            <a:avLst/>
          </a:prstGeom>
          <a:noFill/>
          <a:ln/>
        </p:spPr>
        <p:txBody>
          <a:bodyPr wrap="square" rtlCol="0" anchor="ctr"/>
          <a:lstStyle/>
          <a:p>
            <a:pPr indent="0" marL="0">
              <a:buNone/>
            </a:pPr>
            <a:r>
              <a:rPr lang="en-US" sz="1000" b="1" spc="120" kern="0" dirty="0">
                <a:solidFill>
                  <a:srgbClr val="FFFFFF"/>
                </a:solidFill>
                <a:latin typeface="Calibri" pitchFamily="34" charset="0"/>
                <a:ea typeface="Calibri" pitchFamily="34" charset="-122"/>
                <a:cs typeface="Calibri" pitchFamily="34" charset="-120"/>
              </a:rPr>
              <a:t>AFTER  ·  CLOUD CDP</a:t>
            </a:r>
            <a:endParaRPr lang="en-US" sz="1000" dirty="0"/>
          </a:p>
        </p:txBody>
      </p:sp>
      <p:sp>
        <p:nvSpPr>
          <p:cNvPr id="11" name="Shape 9"/>
          <p:cNvSpPr/>
          <p:nvPr/>
        </p:nvSpPr>
        <p:spPr>
          <a:xfrm>
            <a:off x="237744" y="2359152"/>
            <a:ext cx="45720" cy="530352"/>
          </a:xfrm>
          <a:prstGeom prst="rect">
            <a:avLst/>
          </a:prstGeom>
          <a:solidFill>
            <a:srgbClr val="64748B"/>
          </a:solidFill>
          <a:ln/>
        </p:spPr>
      </p:sp>
      <p:sp>
        <p:nvSpPr>
          <p:cNvPr id="12" name="Shape 10"/>
          <p:cNvSpPr/>
          <p:nvPr/>
        </p:nvSpPr>
        <p:spPr>
          <a:xfrm>
            <a:off x="283464" y="2359152"/>
            <a:ext cx="5532120" cy="530352"/>
          </a:xfrm>
          <a:prstGeom prst="rect">
            <a:avLst/>
          </a:prstGeom>
          <a:solidFill>
            <a:srgbClr val="F4F5F7"/>
          </a:solidFill>
          <a:ln/>
        </p:spPr>
      </p:sp>
      <p:sp>
        <p:nvSpPr>
          <p:cNvPr id="13" name="Text 11"/>
          <p:cNvSpPr/>
          <p:nvPr/>
        </p:nvSpPr>
        <p:spPr>
          <a:xfrm>
            <a:off x="438912" y="2404872"/>
            <a:ext cx="5212080" cy="201168"/>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Data platform</a:t>
            </a:r>
            <a:endParaRPr lang="en-US" sz="1050" dirty="0"/>
          </a:p>
        </p:txBody>
      </p:sp>
      <p:sp>
        <p:nvSpPr>
          <p:cNvPr id="14" name="Text 12"/>
          <p:cNvSpPr/>
          <p:nvPr/>
        </p:nvSpPr>
        <p:spPr>
          <a:xfrm>
            <a:off x="438912" y="2596896"/>
            <a:ext cx="5212080" cy="274320"/>
          </a:xfrm>
          <a:prstGeom prst="rect">
            <a:avLst/>
          </a:prstGeom>
          <a:noFill/>
          <a:ln/>
        </p:spPr>
        <p:txBody>
          <a:bodyPr wrap="square" rtlCol="0" anchor="ctr"/>
          <a:lstStyle/>
          <a:p>
            <a:pPr indent="0" marL="0">
              <a:buNone/>
            </a:pPr>
            <a:r>
              <a:rPr lang="en-US" sz="900" dirty="0">
                <a:solidFill>
                  <a:srgbClr val="5B6577"/>
                </a:solidFill>
                <a:latin typeface="Calibri" pitchFamily="34" charset="0"/>
                <a:ea typeface="Calibri" pitchFamily="34" charset="-122"/>
                <a:cs typeface="Calibri" pitchFamily="34" charset="-120"/>
              </a:rPr>
              <a:t>Oracle — columns reliably populated, native temp tables, direct pass-through</a:t>
            </a:r>
            <a:endParaRPr lang="en-US" sz="900" dirty="0"/>
          </a:p>
        </p:txBody>
      </p:sp>
      <p:sp>
        <p:nvSpPr>
          <p:cNvPr id="15" name="Shape 13"/>
          <p:cNvSpPr/>
          <p:nvPr/>
        </p:nvSpPr>
        <p:spPr>
          <a:xfrm>
            <a:off x="6126480" y="2359152"/>
            <a:ext cx="45720" cy="530352"/>
          </a:xfrm>
          <a:prstGeom prst="rect">
            <a:avLst/>
          </a:prstGeom>
          <a:solidFill>
            <a:srgbClr val="F96806"/>
          </a:solidFill>
          <a:ln/>
        </p:spPr>
      </p:sp>
      <p:sp>
        <p:nvSpPr>
          <p:cNvPr id="16" name="Shape 14"/>
          <p:cNvSpPr/>
          <p:nvPr/>
        </p:nvSpPr>
        <p:spPr>
          <a:xfrm>
            <a:off x="6172200" y="2359152"/>
            <a:ext cx="5779008" cy="530352"/>
          </a:xfrm>
          <a:prstGeom prst="rect">
            <a:avLst/>
          </a:prstGeom>
          <a:solidFill>
            <a:srgbClr val="F2F5FC"/>
          </a:solidFill>
          <a:ln/>
        </p:spPr>
      </p:sp>
      <p:sp>
        <p:nvSpPr>
          <p:cNvPr id="17" name="Text 15"/>
          <p:cNvSpPr/>
          <p:nvPr/>
        </p:nvSpPr>
        <p:spPr>
          <a:xfrm>
            <a:off x="6345936" y="2404872"/>
            <a:ext cx="548640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Data platform</a:t>
            </a:r>
            <a:endParaRPr lang="en-US" sz="1050" dirty="0"/>
          </a:p>
        </p:txBody>
      </p:sp>
      <p:sp>
        <p:nvSpPr>
          <p:cNvPr id="18" name="Text 16"/>
          <p:cNvSpPr/>
          <p:nvPr/>
        </p:nvSpPr>
        <p:spPr>
          <a:xfrm>
            <a:off x="6345936" y="2596896"/>
            <a:ext cx="5486400" cy="274320"/>
          </a:xfrm>
          <a:prstGeom prst="rect">
            <a:avLst/>
          </a:prstGeom>
          <a:noFill/>
          <a:ln/>
        </p:spPr>
        <p:txBody>
          <a:bodyPr wrap="square" rtlCol="0" anchor="ctr"/>
          <a:lstStyle/>
          <a:p>
            <a:pPr indent="0" marL="0">
              <a:buNone/>
            </a:pPr>
            <a:r>
              <a:rPr lang="en-US" sz="900" dirty="0">
                <a:solidFill>
                  <a:srgbClr val="5B6577"/>
                </a:solidFill>
                <a:latin typeface="Calibri" pitchFamily="34" charset="0"/>
                <a:ea typeface="Calibri" pitchFamily="34" charset="-122"/>
                <a:cs typeface="Calibri" pitchFamily="34" charset="-120"/>
              </a:rPr>
              <a:t>Spark-based CDP over ODBC — two schemas, server-side staging, scoped temp objects</a:t>
            </a:r>
            <a:endParaRPr lang="en-US" sz="900" dirty="0"/>
          </a:p>
        </p:txBody>
      </p:sp>
      <p:sp>
        <p:nvSpPr>
          <p:cNvPr id="19" name="Shape 17"/>
          <p:cNvSpPr/>
          <p:nvPr/>
        </p:nvSpPr>
        <p:spPr>
          <a:xfrm>
            <a:off x="237744" y="2944368"/>
            <a:ext cx="45720" cy="530352"/>
          </a:xfrm>
          <a:prstGeom prst="rect">
            <a:avLst/>
          </a:prstGeom>
          <a:solidFill>
            <a:srgbClr val="64748B"/>
          </a:solidFill>
          <a:ln/>
        </p:spPr>
      </p:sp>
      <p:sp>
        <p:nvSpPr>
          <p:cNvPr id="20" name="Shape 18"/>
          <p:cNvSpPr/>
          <p:nvPr/>
        </p:nvSpPr>
        <p:spPr>
          <a:xfrm>
            <a:off x="283464" y="2944368"/>
            <a:ext cx="5532120" cy="530352"/>
          </a:xfrm>
          <a:prstGeom prst="rect">
            <a:avLst/>
          </a:prstGeom>
          <a:solidFill>
            <a:srgbClr val="F4F5F7"/>
          </a:solidFill>
          <a:ln/>
        </p:spPr>
      </p:sp>
      <p:sp>
        <p:nvSpPr>
          <p:cNvPr id="21" name="Text 19"/>
          <p:cNvSpPr/>
          <p:nvPr/>
        </p:nvSpPr>
        <p:spPr>
          <a:xfrm>
            <a:off x="438912" y="2990088"/>
            <a:ext cx="5212080" cy="201168"/>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Column names</a:t>
            </a:r>
            <a:endParaRPr lang="en-US" sz="1050" dirty="0"/>
          </a:p>
        </p:txBody>
      </p:sp>
      <p:sp>
        <p:nvSpPr>
          <p:cNvPr id="22" name="Text 20"/>
          <p:cNvSpPr/>
          <p:nvPr/>
        </p:nvSpPr>
        <p:spPr>
          <a:xfrm>
            <a:off x="438912" y="3182112"/>
            <a:ext cx="5212080" cy="274320"/>
          </a:xfrm>
          <a:prstGeom prst="rect">
            <a:avLst/>
          </a:prstGeom>
          <a:noFill/>
          <a:ln/>
        </p:spPr>
        <p:txBody>
          <a:bodyPr wrap="square" rtlCol="0" anchor="ctr"/>
          <a:lstStyle/>
          <a:p>
            <a:pPr indent="0" marL="0">
              <a:buNone/>
            </a:pPr>
            <a:r>
              <a:rPr lang="en-US" sz="900" dirty="0">
                <a:solidFill>
                  <a:srgbClr val="5B6577"/>
                </a:solidFill>
                <a:latin typeface="Calibri" pitchFamily="34" charset="0"/>
                <a:ea typeface="Calibri" pitchFamily="34" charset="-122"/>
                <a:cs typeface="Calibri" pitchFamily="34" charset="-120"/>
              </a:rPr>
              <a:t>Legacy UPPER_SNAKE names referenced directly by every recipe</a:t>
            </a:r>
            <a:endParaRPr lang="en-US" sz="900" dirty="0"/>
          </a:p>
        </p:txBody>
      </p:sp>
      <p:sp>
        <p:nvSpPr>
          <p:cNvPr id="23" name="Shape 21"/>
          <p:cNvSpPr/>
          <p:nvPr/>
        </p:nvSpPr>
        <p:spPr>
          <a:xfrm>
            <a:off x="6126480" y="2944368"/>
            <a:ext cx="45720" cy="530352"/>
          </a:xfrm>
          <a:prstGeom prst="rect">
            <a:avLst/>
          </a:prstGeom>
          <a:solidFill>
            <a:srgbClr val="F96806"/>
          </a:solidFill>
          <a:ln/>
        </p:spPr>
      </p:sp>
      <p:sp>
        <p:nvSpPr>
          <p:cNvPr id="24" name="Shape 22"/>
          <p:cNvSpPr/>
          <p:nvPr/>
        </p:nvSpPr>
        <p:spPr>
          <a:xfrm>
            <a:off x="6172200" y="2944368"/>
            <a:ext cx="5779008" cy="530352"/>
          </a:xfrm>
          <a:prstGeom prst="rect">
            <a:avLst/>
          </a:prstGeom>
          <a:solidFill>
            <a:srgbClr val="F2F5FC"/>
          </a:solidFill>
          <a:ln/>
        </p:spPr>
      </p:sp>
      <p:sp>
        <p:nvSpPr>
          <p:cNvPr id="25" name="Text 23"/>
          <p:cNvSpPr/>
          <p:nvPr/>
        </p:nvSpPr>
        <p:spPr>
          <a:xfrm>
            <a:off x="6345936" y="2990088"/>
            <a:ext cx="548640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Column names</a:t>
            </a:r>
            <a:endParaRPr lang="en-US" sz="1050" dirty="0"/>
          </a:p>
        </p:txBody>
      </p:sp>
      <p:sp>
        <p:nvSpPr>
          <p:cNvPr id="26" name="Text 24"/>
          <p:cNvSpPr/>
          <p:nvPr/>
        </p:nvSpPr>
        <p:spPr>
          <a:xfrm>
            <a:off x="6345936" y="3182112"/>
            <a:ext cx="5486400" cy="274320"/>
          </a:xfrm>
          <a:prstGeom prst="rect">
            <a:avLst/>
          </a:prstGeom>
          <a:noFill/>
          <a:ln/>
        </p:spPr>
        <p:txBody>
          <a:bodyPr wrap="square" rtlCol="0" anchor="ctr"/>
          <a:lstStyle/>
          <a:p>
            <a:pPr indent="0" marL="0">
              <a:buNone/>
            </a:pPr>
            <a:r>
              <a:rPr lang="en-US" sz="900" dirty="0">
                <a:solidFill>
                  <a:srgbClr val="5B6577"/>
                </a:solidFill>
                <a:latin typeface="Calibri" pitchFamily="34" charset="0"/>
                <a:ea typeface="Calibri" pitchFamily="34" charset="-122"/>
                <a:cs typeface="Calibri" pitchFamily="34" charset="-120"/>
              </a:rPr>
              <a:t>A bridge layer maps legacy names to CDP names at run time; recipes untouched</a:t>
            </a:r>
            <a:endParaRPr lang="en-US" sz="900" dirty="0"/>
          </a:p>
        </p:txBody>
      </p:sp>
      <p:sp>
        <p:nvSpPr>
          <p:cNvPr id="27" name="Shape 25"/>
          <p:cNvSpPr/>
          <p:nvPr/>
        </p:nvSpPr>
        <p:spPr>
          <a:xfrm>
            <a:off x="237744" y="3529584"/>
            <a:ext cx="45720" cy="530352"/>
          </a:xfrm>
          <a:prstGeom prst="rect">
            <a:avLst/>
          </a:prstGeom>
          <a:solidFill>
            <a:srgbClr val="64748B"/>
          </a:solidFill>
          <a:ln/>
        </p:spPr>
      </p:sp>
      <p:sp>
        <p:nvSpPr>
          <p:cNvPr id="28" name="Shape 26"/>
          <p:cNvSpPr/>
          <p:nvPr/>
        </p:nvSpPr>
        <p:spPr>
          <a:xfrm>
            <a:off x="283464" y="3529584"/>
            <a:ext cx="5532120" cy="530352"/>
          </a:xfrm>
          <a:prstGeom prst="rect">
            <a:avLst/>
          </a:prstGeom>
          <a:solidFill>
            <a:srgbClr val="F4F5F7"/>
          </a:solidFill>
          <a:ln/>
        </p:spPr>
      </p:sp>
      <p:sp>
        <p:nvSpPr>
          <p:cNvPr id="29" name="Text 27"/>
          <p:cNvSpPr/>
          <p:nvPr/>
        </p:nvSpPr>
        <p:spPr>
          <a:xfrm>
            <a:off x="438912" y="3575304"/>
            <a:ext cx="5212080" cy="201168"/>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Filter semantics</a:t>
            </a:r>
            <a:endParaRPr lang="en-US" sz="1050" dirty="0"/>
          </a:p>
        </p:txBody>
      </p:sp>
      <p:sp>
        <p:nvSpPr>
          <p:cNvPr id="30" name="Text 28"/>
          <p:cNvSpPr/>
          <p:nvPr/>
        </p:nvSpPr>
        <p:spPr>
          <a:xfrm>
            <a:off x="438912" y="3767328"/>
            <a:ext cx="5212080" cy="274320"/>
          </a:xfrm>
          <a:prstGeom prst="rect">
            <a:avLst/>
          </a:prstGeom>
          <a:noFill/>
          <a:ln/>
        </p:spPr>
        <p:txBody>
          <a:bodyPr wrap="square" rtlCol="0" anchor="ctr"/>
          <a:lstStyle/>
          <a:p>
            <a:pPr indent="0" marL="0">
              <a:buNone/>
            </a:pPr>
            <a:r>
              <a:rPr lang="en-US" sz="900" dirty="0">
                <a:solidFill>
                  <a:srgbClr val="5B6577"/>
                </a:solidFill>
                <a:latin typeface="Calibri" pitchFamily="34" charset="0"/>
                <a:ea typeface="Calibri" pitchFamily="34" charset="-122"/>
                <a:cs typeface="Calibri" pitchFamily="34" charset="-120"/>
              </a:rPr>
              <a:t>A bare ≠ comparison behaved as expected because NULLs effectively never occurred</a:t>
            </a:r>
            <a:endParaRPr lang="en-US" sz="900" dirty="0"/>
          </a:p>
        </p:txBody>
      </p:sp>
      <p:sp>
        <p:nvSpPr>
          <p:cNvPr id="31" name="Shape 29"/>
          <p:cNvSpPr/>
          <p:nvPr/>
        </p:nvSpPr>
        <p:spPr>
          <a:xfrm>
            <a:off x="6126480" y="3529584"/>
            <a:ext cx="45720" cy="530352"/>
          </a:xfrm>
          <a:prstGeom prst="rect">
            <a:avLst/>
          </a:prstGeom>
          <a:solidFill>
            <a:srgbClr val="F96806"/>
          </a:solidFill>
          <a:ln/>
        </p:spPr>
      </p:sp>
      <p:sp>
        <p:nvSpPr>
          <p:cNvPr id="32" name="Shape 30"/>
          <p:cNvSpPr/>
          <p:nvPr/>
        </p:nvSpPr>
        <p:spPr>
          <a:xfrm>
            <a:off x="6172200" y="3529584"/>
            <a:ext cx="5779008" cy="530352"/>
          </a:xfrm>
          <a:prstGeom prst="rect">
            <a:avLst/>
          </a:prstGeom>
          <a:solidFill>
            <a:srgbClr val="F2F5FC"/>
          </a:solidFill>
          <a:ln/>
        </p:spPr>
      </p:sp>
      <p:sp>
        <p:nvSpPr>
          <p:cNvPr id="33" name="Text 31"/>
          <p:cNvSpPr/>
          <p:nvPr/>
        </p:nvSpPr>
        <p:spPr>
          <a:xfrm>
            <a:off x="6345936" y="3575304"/>
            <a:ext cx="548640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Filter semantics</a:t>
            </a:r>
            <a:endParaRPr lang="en-US" sz="1050" dirty="0"/>
          </a:p>
        </p:txBody>
      </p:sp>
      <p:sp>
        <p:nvSpPr>
          <p:cNvPr id="34" name="Text 32"/>
          <p:cNvSpPr/>
          <p:nvPr/>
        </p:nvSpPr>
        <p:spPr>
          <a:xfrm>
            <a:off x="6345936" y="3767328"/>
            <a:ext cx="5486400" cy="274320"/>
          </a:xfrm>
          <a:prstGeom prst="rect">
            <a:avLst/>
          </a:prstGeom>
          <a:noFill/>
          <a:ln/>
        </p:spPr>
        <p:txBody>
          <a:bodyPr wrap="square" rtlCol="0" anchor="ctr"/>
          <a:lstStyle/>
          <a:p>
            <a:pPr indent="0" marL="0">
              <a:buNone/>
            </a:pPr>
            <a:r>
              <a:rPr lang="en-US" sz="900" dirty="0">
                <a:solidFill>
                  <a:srgbClr val="5B6577"/>
                </a:solidFill>
                <a:latin typeface="Calibri" pitchFamily="34" charset="0"/>
                <a:ea typeface="Calibri" pitchFamily="34" charset="-122"/>
                <a:cs typeface="Calibri" pitchFamily="34" charset="-120"/>
              </a:rPr>
              <a:t>Every not-equal comparison NULL-safe by construction, in every filter slot of the shared builders</a:t>
            </a:r>
            <a:endParaRPr lang="en-US" sz="900" dirty="0"/>
          </a:p>
        </p:txBody>
      </p:sp>
      <p:sp>
        <p:nvSpPr>
          <p:cNvPr id="35" name="Shape 33"/>
          <p:cNvSpPr/>
          <p:nvPr/>
        </p:nvSpPr>
        <p:spPr>
          <a:xfrm>
            <a:off x="237744" y="4114800"/>
            <a:ext cx="45720" cy="530352"/>
          </a:xfrm>
          <a:prstGeom prst="rect">
            <a:avLst/>
          </a:prstGeom>
          <a:solidFill>
            <a:srgbClr val="64748B"/>
          </a:solidFill>
          <a:ln/>
        </p:spPr>
      </p:sp>
      <p:sp>
        <p:nvSpPr>
          <p:cNvPr id="36" name="Shape 34"/>
          <p:cNvSpPr/>
          <p:nvPr/>
        </p:nvSpPr>
        <p:spPr>
          <a:xfrm>
            <a:off x="283464" y="4114800"/>
            <a:ext cx="5532120" cy="530352"/>
          </a:xfrm>
          <a:prstGeom prst="rect">
            <a:avLst/>
          </a:prstGeom>
          <a:solidFill>
            <a:srgbClr val="F4F5F7"/>
          </a:solidFill>
          <a:ln/>
        </p:spPr>
      </p:sp>
      <p:sp>
        <p:nvSpPr>
          <p:cNvPr id="37" name="Text 35"/>
          <p:cNvSpPr/>
          <p:nvPr/>
        </p:nvSpPr>
        <p:spPr>
          <a:xfrm>
            <a:off x="438912" y="4160520"/>
            <a:ext cx="5212080" cy="201168"/>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Date handling</a:t>
            </a:r>
            <a:endParaRPr lang="en-US" sz="1050" dirty="0"/>
          </a:p>
        </p:txBody>
      </p:sp>
      <p:sp>
        <p:nvSpPr>
          <p:cNvPr id="38" name="Text 36"/>
          <p:cNvSpPr/>
          <p:nvPr/>
        </p:nvSpPr>
        <p:spPr>
          <a:xfrm>
            <a:off x="438912" y="4352544"/>
            <a:ext cx="5212080" cy="274320"/>
          </a:xfrm>
          <a:prstGeom prst="rect">
            <a:avLst/>
          </a:prstGeom>
          <a:noFill/>
          <a:ln/>
        </p:spPr>
        <p:txBody>
          <a:bodyPr wrap="square" rtlCol="0" anchor="ctr"/>
          <a:lstStyle/>
          <a:p>
            <a:pPr indent="0" marL="0">
              <a:buNone/>
            </a:pPr>
            <a:r>
              <a:rPr lang="en-US" sz="900" dirty="0">
                <a:solidFill>
                  <a:srgbClr val="5B6577"/>
                </a:solidFill>
                <a:latin typeface="Calibri" pitchFamily="34" charset="0"/>
                <a:ea typeface="Calibri" pitchFamily="34" charset="-122"/>
                <a:cs typeface="Calibri" pitchFamily="34" charset="-120"/>
              </a:rPr>
              <a:t>Date columns arrived as DATETIME; the engine's offset arithmetic assumed it</a:t>
            </a:r>
            <a:endParaRPr lang="en-US" sz="900" dirty="0"/>
          </a:p>
        </p:txBody>
      </p:sp>
      <p:sp>
        <p:nvSpPr>
          <p:cNvPr id="39" name="Shape 37"/>
          <p:cNvSpPr/>
          <p:nvPr/>
        </p:nvSpPr>
        <p:spPr>
          <a:xfrm>
            <a:off x="6126480" y="4114800"/>
            <a:ext cx="45720" cy="530352"/>
          </a:xfrm>
          <a:prstGeom prst="rect">
            <a:avLst/>
          </a:prstGeom>
          <a:solidFill>
            <a:srgbClr val="F96806"/>
          </a:solidFill>
          <a:ln/>
        </p:spPr>
      </p:sp>
      <p:sp>
        <p:nvSpPr>
          <p:cNvPr id="40" name="Shape 38"/>
          <p:cNvSpPr/>
          <p:nvPr/>
        </p:nvSpPr>
        <p:spPr>
          <a:xfrm>
            <a:off x="6172200" y="4114800"/>
            <a:ext cx="5779008" cy="530352"/>
          </a:xfrm>
          <a:prstGeom prst="rect">
            <a:avLst/>
          </a:prstGeom>
          <a:solidFill>
            <a:srgbClr val="F2F5FC"/>
          </a:solidFill>
          <a:ln/>
        </p:spPr>
      </p:sp>
      <p:sp>
        <p:nvSpPr>
          <p:cNvPr id="41" name="Text 39"/>
          <p:cNvSpPr/>
          <p:nvPr/>
        </p:nvSpPr>
        <p:spPr>
          <a:xfrm>
            <a:off x="6345936" y="4160520"/>
            <a:ext cx="548640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Date handling</a:t>
            </a:r>
            <a:endParaRPr lang="en-US" sz="1050" dirty="0"/>
          </a:p>
        </p:txBody>
      </p:sp>
      <p:sp>
        <p:nvSpPr>
          <p:cNvPr id="42" name="Text 40"/>
          <p:cNvSpPr/>
          <p:nvPr/>
        </p:nvSpPr>
        <p:spPr>
          <a:xfrm>
            <a:off x="6345936" y="4352544"/>
            <a:ext cx="5486400" cy="274320"/>
          </a:xfrm>
          <a:prstGeom prst="rect">
            <a:avLst/>
          </a:prstGeom>
          <a:noFill/>
          <a:ln/>
        </p:spPr>
        <p:txBody>
          <a:bodyPr wrap="square" rtlCol="0" anchor="ctr"/>
          <a:lstStyle/>
          <a:p>
            <a:pPr indent="0" marL="0">
              <a:buNone/>
            </a:pPr>
            <a:r>
              <a:rPr lang="en-US" sz="900" dirty="0">
                <a:solidFill>
                  <a:srgbClr val="5B6577"/>
                </a:solidFill>
                <a:latin typeface="Calibri" pitchFamily="34" charset="0"/>
                <a:ea typeface="Calibri" pitchFamily="34" charset="-122"/>
                <a:cs typeface="Calibri" pitchFamily="34" charset="-120"/>
              </a:rPr>
              <a:t>Source type detected before conversion; multi-field dates resolved explicitly</a:t>
            </a:r>
            <a:endParaRPr lang="en-US" sz="900" dirty="0"/>
          </a:p>
        </p:txBody>
      </p:sp>
      <p:sp>
        <p:nvSpPr>
          <p:cNvPr id="43" name="Shape 41"/>
          <p:cNvSpPr/>
          <p:nvPr/>
        </p:nvSpPr>
        <p:spPr>
          <a:xfrm>
            <a:off x="237744" y="4700016"/>
            <a:ext cx="45720" cy="530352"/>
          </a:xfrm>
          <a:prstGeom prst="rect">
            <a:avLst/>
          </a:prstGeom>
          <a:solidFill>
            <a:srgbClr val="64748B"/>
          </a:solidFill>
          <a:ln/>
        </p:spPr>
      </p:sp>
      <p:sp>
        <p:nvSpPr>
          <p:cNvPr id="44" name="Shape 42"/>
          <p:cNvSpPr/>
          <p:nvPr/>
        </p:nvSpPr>
        <p:spPr>
          <a:xfrm>
            <a:off x="283464" y="4700016"/>
            <a:ext cx="5532120" cy="530352"/>
          </a:xfrm>
          <a:prstGeom prst="rect">
            <a:avLst/>
          </a:prstGeom>
          <a:solidFill>
            <a:srgbClr val="F4F5F7"/>
          </a:solidFill>
          <a:ln/>
        </p:spPr>
      </p:sp>
      <p:sp>
        <p:nvSpPr>
          <p:cNvPr id="45" name="Text 43"/>
          <p:cNvSpPr/>
          <p:nvPr/>
        </p:nvSpPr>
        <p:spPr>
          <a:xfrm>
            <a:off x="438912" y="4745736"/>
            <a:ext cx="5212080" cy="201168"/>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Assurance</a:t>
            </a:r>
            <a:endParaRPr lang="en-US" sz="1050" dirty="0"/>
          </a:p>
        </p:txBody>
      </p:sp>
      <p:sp>
        <p:nvSpPr>
          <p:cNvPr id="46" name="Text 44"/>
          <p:cNvSpPr/>
          <p:nvPr/>
        </p:nvSpPr>
        <p:spPr>
          <a:xfrm>
            <a:off x="438912" y="4937760"/>
            <a:ext cx="5212080" cy="274320"/>
          </a:xfrm>
          <a:prstGeom prst="rect">
            <a:avLst/>
          </a:prstGeom>
          <a:noFill/>
          <a:ln/>
        </p:spPr>
        <p:txBody>
          <a:bodyPr wrap="square" rtlCol="0" anchor="ctr"/>
          <a:lstStyle/>
          <a:p>
            <a:pPr indent="0" marL="0">
              <a:buNone/>
            </a:pPr>
            <a:r>
              <a:rPr lang="en-US" sz="900" dirty="0">
                <a:solidFill>
                  <a:srgbClr val="5B6577"/>
                </a:solidFill>
                <a:latin typeface="Calibri" pitchFamily="34" charset="0"/>
                <a:ea typeface="Calibri" pitchFamily="34" charset="-122"/>
                <a:cs typeface="Calibri" pitchFamily="34" charset="-120"/>
              </a:rPr>
              <a:t>A clean execution log was treated as proof the run was correct</a:t>
            </a:r>
            <a:endParaRPr lang="en-US" sz="900" dirty="0"/>
          </a:p>
        </p:txBody>
      </p:sp>
      <p:sp>
        <p:nvSpPr>
          <p:cNvPr id="47" name="Shape 45"/>
          <p:cNvSpPr/>
          <p:nvPr/>
        </p:nvSpPr>
        <p:spPr>
          <a:xfrm>
            <a:off x="6126480" y="4700016"/>
            <a:ext cx="45720" cy="530352"/>
          </a:xfrm>
          <a:prstGeom prst="rect">
            <a:avLst/>
          </a:prstGeom>
          <a:solidFill>
            <a:srgbClr val="F96806"/>
          </a:solidFill>
          <a:ln/>
        </p:spPr>
      </p:sp>
      <p:sp>
        <p:nvSpPr>
          <p:cNvPr id="48" name="Shape 46"/>
          <p:cNvSpPr/>
          <p:nvPr/>
        </p:nvSpPr>
        <p:spPr>
          <a:xfrm>
            <a:off x="6172200" y="4700016"/>
            <a:ext cx="5779008" cy="530352"/>
          </a:xfrm>
          <a:prstGeom prst="rect">
            <a:avLst/>
          </a:prstGeom>
          <a:solidFill>
            <a:srgbClr val="F2F5FC"/>
          </a:solidFill>
          <a:ln/>
        </p:spPr>
      </p:sp>
      <p:sp>
        <p:nvSpPr>
          <p:cNvPr id="49" name="Text 47"/>
          <p:cNvSpPr/>
          <p:nvPr/>
        </p:nvSpPr>
        <p:spPr>
          <a:xfrm>
            <a:off x="6345936" y="4745736"/>
            <a:ext cx="548640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Assurance</a:t>
            </a:r>
            <a:endParaRPr lang="en-US" sz="1050" dirty="0"/>
          </a:p>
        </p:txBody>
      </p:sp>
      <p:sp>
        <p:nvSpPr>
          <p:cNvPr id="50" name="Text 48"/>
          <p:cNvSpPr/>
          <p:nvPr/>
        </p:nvSpPr>
        <p:spPr>
          <a:xfrm>
            <a:off x="6345936" y="4937760"/>
            <a:ext cx="5486400" cy="274320"/>
          </a:xfrm>
          <a:prstGeom prst="rect">
            <a:avLst/>
          </a:prstGeom>
          <a:noFill/>
          <a:ln/>
        </p:spPr>
        <p:txBody>
          <a:bodyPr wrap="square" rtlCol="0" anchor="ctr"/>
          <a:lstStyle/>
          <a:p>
            <a:pPr indent="0" marL="0">
              <a:buNone/>
            </a:pPr>
            <a:r>
              <a:rPr lang="en-US" sz="900" dirty="0">
                <a:solidFill>
                  <a:srgbClr val="5B6577"/>
                </a:solidFill>
                <a:latin typeface="Calibri" pitchFamily="34" charset="0"/>
                <a:ea typeface="Calibri" pitchFamily="34" charset="-122"/>
                <a:cs typeface="Calibri" pitchFamily="34" charset="-120"/>
              </a:rPr>
              <a:t>Variable-level census plus legacy reconciliation is the gate; the log confirms completion only</a:t>
            </a:r>
            <a:endParaRPr lang="en-US" sz="900" dirty="0"/>
          </a:p>
        </p:txBody>
      </p:sp>
      <p:sp>
        <p:nvSpPr>
          <p:cNvPr id="51" name="Shape 49"/>
          <p:cNvSpPr/>
          <p:nvPr/>
        </p:nvSpPr>
        <p:spPr>
          <a:xfrm>
            <a:off x="237744" y="5422392"/>
            <a:ext cx="11713464" cy="758952"/>
          </a:xfrm>
          <a:prstGeom prst="rect">
            <a:avLst/>
          </a:prstGeom>
          <a:solidFill>
            <a:srgbClr val="1A288E"/>
          </a:solidFill>
          <a:ln/>
        </p:spPr>
      </p:sp>
      <p:sp>
        <p:nvSpPr>
          <p:cNvPr id="52" name="Text 50"/>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DESIGN DECISION BEHIND THIS</a:t>
            </a:r>
            <a:endParaRPr lang="en-US" sz="900" dirty="0"/>
          </a:p>
        </p:txBody>
      </p:sp>
      <p:sp>
        <p:nvSpPr>
          <p:cNvPr id="53" name="Text 51"/>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The recipes were left as written. Every platform difference was absorbed in a bridge layer instead — which is why a single mapping correction could move dozens of variables at once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ARCHITECTURE · EXECUTION</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How One Run Actually Executes</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The orchestrator loads the framework, then the engine generates, runs, stages and merges one query per variable. Understanding this loop is what made both the defects and the runtime explainable</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828800"/>
            <a:ext cx="11713464" cy="3429000"/>
          </a:xfrm>
          <a:prstGeom prst="rect">
            <a:avLst/>
          </a:prstGeom>
          <a:solidFill>
            <a:srgbClr val="F7F9FE"/>
          </a:solidFill>
          <a:ln/>
        </p:spPr>
      </p:sp>
      <p:sp>
        <p:nvSpPr>
          <p:cNvPr id="8" name="Text 6"/>
          <p:cNvSpPr/>
          <p:nvPr/>
        </p:nvSpPr>
        <p:spPr>
          <a:xfrm>
            <a:off x="374904" y="1920240"/>
            <a:ext cx="2194560" cy="201168"/>
          </a:xfrm>
          <a:prstGeom prst="rect">
            <a:avLst/>
          </a:prstGeom>
          <a:noFill/>
          <a:ln/>
        </p:spPr>
        <p:txBody>
          <a:bodyPr wrap="square" rtlCol="0" anchor="ctr"/>
          <a:lstStyle/>
          <a:p>
            <a:pPr indent="0" marL="0">
              <a:buNone/>
            </a:pPr>
            <a:r>
              <a:rPr lang="en-US" sz="850" b="1" spc="100" kern="0" dirty="0">
                <a:solidFill>
                  <a:srgbClr val="F96806"/>
                </a:solidFill>
                <a:latin typeface="Calibri" pitchFamily="34" charset="0"/>
                <a:ea typeface="Calibri" pitchFamily="34" charset="-122"/>
                <a:cs typeface="Calibri" pitchFamily="34" charset="-120"/>
              </a:rPr>
              <a:t>CALLER</a:t>
            </a:r>
            <a:endParaRPr lang="en-US" sz="850" dirty="0"/>
          </a:p>
        </p:txBody>
      </p:sp>
      <p:sp>
        <p:nvSpPr>
          <p:cNvPr id="9" name="Shape 7"/>
          <p:cNvSpPr/>
          <p:nvPr/>
        </p:nvSpPr>
        <p:spPr>
          <a:xfrm>
            <a:off x="374904" y="2148840"/>
            <a:ext cx="2240280" cy="969264"/>
          </a:xfrm>
          <a:prstGeom prst="roundRect">
            <a:avLst>
              <a:gd name="adj" fmla="val 5660"/>
            </a:avLst>
          </a:prstGeom>
          <a:solidFill>
            <a:srgbClr val="1A288E"/>
          </a:solidFill>
          <a:ln/>
        </p:spPr>
      </p:sp>
      <p:sp>
        <p:nvSpPr>
          <p:cNvPr id="10" name="Text 8"/>
          <p:cNvSpPr/>
          <p:nvPr/>
        </p:nvSpPr>
        <p:spPr>
          <a:xfrm>
            <a:off x="493776" y="2240280"/>
            <a:ext cx="548640" cy="201168"/>
          </a:xfrm>
          <a:prstGeom prst="rect">
            <a:avLst/>
          </a:prstGeom>
          <a:noFill/>
          <a:ln/>
        </p:spPr>
        <p:txBody>
          <a:bodyPr wrap="square" rtlCol="0" anchor="ctr"/>
          <a:lstStyle/>
          <a:p>
            <a:pPr indent="0" marL="0">
              <a:buNone/>
            </a:pPr>
            <a:r>
              <a:rPr lang="en-US" sz="900" b="1" dirty="0">
                <a:solidFill>
                  <a:srgbClr val="F96806"/>
                </a:solidFill>
                <a:latin typeface="Calibri" pitchFamily="34" charset="0"/>
                <a:ea typeface="Calibri" pitchFamily="34" charset="-122"/>
                <a:cs typeface="Calibri" pitchFamily="34" charset="-120"/>
              </a:rPr>
              <a:t>01</a:t>
            </a:r>
            <a:endParaRPr lang="en-US" sz="900" dirty="0"/>
          </a:p>
        </p:txBody>
      </p:sp>
      <p:sp>
        <p:nvSpPr>
          <p:cNvPr id="11" name="Text 9"/>
          <p:cNvSpPr/>
          <p:nvPr/>
        </p:nvSpPr>
        <p:spPr>
          <a:xfrm>
            <a:off x="493776" y="2432304"/>
            <a:ext cx="2002536"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Driver</a:t>
            </a:r>
            <a:endParaRPr lang="en-US" sz="1050" dirty="0"/>
          </a:p>
        </p:txBody>
      </p:sp>
      <p:sp>
        <p:nvSpPr>
          <p:cNvPr id="12" name="Text 10"/>
          <p:cNvSpPr/>
          <p:nvPr/>
        </p:nvSpPr>
        <p:spPr>
          <a:xfrm>
            <a:off x="493776" y="2697480"/>
            <a:ext cx="2002536" cy="365760"/>
          </a:xfrm>
          <a:prstGeom prst="rect">
            <a:avLst/>
          </a:prstGeom>
          <a:noFill/>
          <a:ln/>
        </p:spPr>
        <p:txBody>
          <a:bodyPr wrap="square" rtlCol="0" anchor="ctr"/>
          <a:lstStyle/>
          <a:p>
            <a:pPr indent="0" marL="0">
              <a:lnSpc>
                <a:spcPts val="1050"/>
              </a:lnSpc>
              <a:buNone/>
            </a:pPr>
            <a:r>
              <a:rPr lang="en-US" sz="850" dirty="0">
                <a:solidFill>
                  <a:srgbClr val="C9D2F0"/>
                </a:solidFill>
                <a:latin typeface="Calibri" pitchFamily="34" charset="0"/>
                <a:ea typeface="Calibri" pitchFamily="34" charset="-122"/>
                <a:cs typeface="Calibri" pitchFamily="34" charset="-120"/>
              </a:rPr>
              <a:t>Build date, audience keycode, output name, variable list</a:t>
            </a:r>
            <a:endParaRPr lang="en-US" sz="850" dirty="0"/>
          </a:p>
        </p:txBody>
      </p:sp>
      <p:sp>
        <p:nvSpPr>
          <p:cNvPr id="13" name="Text 11"/>
          <p:cNvSpPr/>
          <p:nvPr/>
        </p:nvSpPr>
        <p:spPr>
          <a:xfrm>
            <a:off x="2779776" y="2523744"/>
            <a:ext cx="274320" cy="219456"/>
          </a:xfrm>
          <a:prstGeom prst="rect">
            <a:avLst/>
          </a:prstGeom>
          <a:noFill/>
          <a:ln/>
        </p:spPr>
        <p:txBody>
          <a:bodyPr wrap="square" rtlCol="0" anchor="ctr"/>
          <a:lstStyle/>
          <a:p>
            <a:pPr algn="ctr" indent="0" marL="0">
              <a:buNone/>
            </a:pPr>
            <a:r>
              <a:rPr lang="en-US" sz="1100" b="1" dirty="0">
                <a:solidFill>
                  <a:srgbClr val="1861F5"/>
                </a:solidFill>
                <a:latin typeface="Calibri" pitchFamily="34" charset="0"/>
                <a:ea typeface="Calibri" pitchFamily="34" charset="-122"/>
                <a:cs typeface="Calibri" pitchFamily="34" charset="-120"/>
              </a:rPr>
              <a:t>▶</a:t>
            </a:r>
            <a:endParaRPr lang="en-US" sz="1100" dirty="0"/>
          </a:p>
        </p:txBody>
      </p:sp>
      <p:sp>
        <p:nvSpPr>
          <p:cNvPr id="14" name="Text 12"/>
          <p:cNvSpPr/>
          <p:nvPr/>
        </p:nvSpPr>
        <p:spPr>
          <a:xfrm>
            <a:off x="2880360" y="1920240"/>
            <a:ext cx="2194560" cy="201168"/>
          </a:xfrm>
          <a:prstGeom prst="rect">
            <a:avLst/>
          </a:prstGeom>
          <a:noFill/>
          <a:ln/>
        </p:spPr>
        <p:txBody>
          <a:bodyPr wrap="square" rtlCol="0" anchor="ctr"/>
          <a:lstStyle/>
          <a:p>
            <a:pPr indent="0" marL="0">
              <a:buNone/>
            </a:pPr>
            <a:r>
              <a:rPr lang="en-US" sz="850" b="1" spc="100" kern="0" dirty="0">
                <a:solidFill>
                  <a:srgbClr val="F96806"/>
                </a:solidFill>
                <a:latin typeface="Calibri" pitchFamily="34" charset="0"/>
                <a:ea typeface="Calibri" pitchFamily="34" charset="-122"/>
                <a:cs typeface="Calibri" pitchFamily="34" charset="-120"/>
              </a:rPr>
              <a:t>ORCHESTRATION</a:t>
            </a:r>
            <a:endParaRPr lang="en-US" sz="850" dirty="0"/>
          </a:p>
        </p:txBody>
      </p:sp>
      <p:sp>
        <p:nvSpPr>
          <p:cNvPr id="15" name="Shape 13"/>
          <p:cNvSpPr/>
          <p:nvPr/>
        </p:nvSpPr>
        <p:spPr>
          <a:xfrm>
            <a:off x="2880360" y="2148840"/>
            <a:ext cx="2240280" cy="969264"/>
          </a:xfrm>
          <a:prstGeom prst="roundRect">
            <a:avLst>
              <a:gd name="adj" fmla="val 5660"/>
            </a:avLst>
          </a:prstGeom>
          <a:solidFill>
            <a:srgbClr val="1A288E"/>
          </a:solidFill>
          <a:ln/>
        </p:spPr>
      </p:sp>
      <p:sp>
        <p:nvSpPr>
          <p:cNvPr id="16" name="Text 14"/>
          <p:cNvSpPr/>
          <p:nvPr/>
        </p:nvSpPr>
        <p:spPr>
          <a:xfrm>
            <a:off x="2999232" y="2240280"/>
            <a:ext cx="548640" cy="201168"/>
          </a:xfrm>
          <a:prstGeom prst="rect">
            <a:avLst/>
          </a:prstGeom>
          <a:noFill/>
          <a:ln/>
        </p:spPr>
        <p:txBody>
          <a:bodyPr wrap="square" rtlCol="0" anchor="ctr"/>
          <a:lstStyle/>
          <a:p>
            <a:pPr indent="0" marL="0">
              <a:buNone/>
            </a:pPr>
            <a:r>
              <a:rPr lang="en-US" sz="900" b="1" dirty="0">
                <a:solidFill>
                  <a:srgbClr val="F96806"/>
                </a:solidFill>
                <a:latin typeface="Calibri" pitchFamily="34" charset="0"/>
                <a:ea typeface="Calibri" pitchFamily="34" charset="-122"/>
                <a:cs typeface="Calibri" pitchFamily="34" charset="-120"/>
              </a:rPr>
              <a:t>02</a:t>
            </a:r>
            <a:endParaRPr lang="en-US" sz="900" dirty="0"/>
          </a:p>
        </p:txBody>
      </p:sp>
      <p:sp>
        <p:nvSpPr>
          <p:cNvPr id="17" name="Text 15"/>
          <p:cNvSpPr/>
          <p:nvPr/>
        </p:nvSpPr>
        <p:spPr>
          <a:xfrm>
            <a:off x="2999232" y="2432304"/>
            <a:ext cx="2002536"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Orchestrator</a:t>
            </a:r>
            <a:endParaRPr lang="en-US" sz="1050" dirty="0"/>
          </a:p>
        </p:txBody>
      </p:sp>
      <p:sp>
        <p:nvSpPr>
          <p:cNvPr id="18" name="Text 16"/>
          <p:cNvSpPr/>
          <p:nvPr/>
        </p:nvSpPr>
        <p:spPr>
          <a:xfrm>
            <a:off x="2999232" y="2697480"/>
            <a:ext cx="2002536" cy="365760"/>
          </a:xfrm>
          <a:prstGeom prst="rect">
            <a:avLst/>
          </a:prstGeom>
          <a:noFill/>
          <a:ln/>
        </p:spPr>
        <p:txBody>
          <a:bodyPr wrap="square" rtlCol="0" anchor="ctr"/>
          <a:lstStyle/>
          <a:p>
            <a:pPr indent="0" marL="0">
              <a:lnSpc>
                <a:spcPts val="1050"/>
              </a:lnSpc>
              <a:buNone/>
            </a:pPr>
            <a:r>
              <a:rPr lang="en-US" sz="850" dirty="0">
                <a:solidFill>
                  <a:srgbClr val="C9D2F0"/>
                </a:solidFill>
                <a:latin typeface="Calibri" pitchFamily="34" charset="0"/>
                <a:ea typeface="Calibri" pitchFamily="34" charset="-122"/>
                <a:cs typeface="Calibri" pitchFamily="34" charset="-120"/>
              </a:rPr>
              <a:t>Assigns ODBC connections, defines executors, loads the library</a:t>
            </a:r>
            <a:endParaRPr lang="en-US" sz="850" dirty="0"/>
          </a:p>
        </p:txBody>
      </p:sp>
      <p:sp>
        <p:nvSpPr>
          <p:cNvPr id="19" name="Text 17"/>
          <p:cNvSpPr/>
          <p:nvPr/>
        </p:nvSpPr>
        <p:spPr>
          <a:xfrm>
            <a:off x="5285232" y="2523744"/>
            <a:ext cx="274320" cy="219456"/>
          </a:xfrm>
          <a:prstGeom prst="rect">
            <a:avLst/>
          </a:prstGeom>
          <a:noFill/>
          <a:ln/>
        </p:spPr>
        <p:txBody>
          <a:bodyPr wrap="square" rtlCol="0" anchor="ctr"/>
          <a:lstStyle/>
          <a:p>
            <a:pPr algn="ctr" indent="0" marL="0">
              <a:buNone/>
            </a:pPr>
            <a:r>
              <a:rPr lang="en-US" sz="1100" b="1" dirty="0">
                <a:solidFill>
                  <a:srgbClr val="1861F5"/>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5623560" y="1920240"/>
            <a:ext cx="2194560" cy="201168"/>
          </a:xfrm>
          <a:prstGeom prst="rect">
            <a:avLst/>
          </a:prstGeom>
          <a:noFill/>
          <a:ln/>
        </p:spPr>
        <p:txBody>
          <a:bodyPr wrap="square" rtlCol="0" anchor="ctr"/>
          <a:lstStyle/>
          <a:p>
            <a:pPr indent="0" marL="0">
              <a:buNone/>
            </a:pPr>
            <a:r>
              <a:rPr lang="en-US" sz="850" b="1" spc="100" kern="0" dirty="0">
                <a:solidFill>
                  <a:srgbClr val="F96806"/>
                </a:solidFill>
                <a:latin typeface="Calibri" pitchFamily="34" charset="0"/>
                <a:ea typeface="Calibri" pitchFamily="34" charset="-122"/>
                <a:cs typeface="Calibri" pitchFamily="34" charset="-120"/>
              </a:rPr>
              <a:t>MACRO ENGINE</a:t>
            </a:r>
            <a:endParaRPr lang="en-US" sz="850" dirty="0"/>
          </a:p>
        </p:txBody>
      </p:sp>
      <p:sp>
        <p:nvSpPr>
          <p:cNvPr id="21" name="Shape 19"/>
          <p:cNvSpPr/>
          <p:nvPr/>
        </p:nvSpPr>
        <p:spPr>
          <a:xfrm>
            <a:off x="5623560" y="2148840"/>
            <a:ext cx="2240280" cy="969264"/>
          </a:xfrm>
          <a:prstGeom prst="roundRect">
            <a:avLst>
              <a:gd name="adj" fmla="val 5660"/>
            </a:avLst>
          </a:prstGeom>
          <a:solidFill>
            <a:srgbClr val="1A288E"/>
          </a:solidFill>
          <a:ln/>
        </p:spPr>
      </p:sp>
      <p:sp>
        <p:nvSpPr>
          <p:cNvPr id="22" name="Text 20"/>
          <p:cNvSpPr/>
          <p:nvPr/>
        </p:nvSpPr>
        <p:spPr>
          <a:xfrm>
            <a:off x="5742432" y="2240280"/>
            <a:ext cx="548640" cy="201168"/>
          </a:xfrm>
          <a:prstGeom prst="rect">
            <a:avLst/>
          </a:prstGeom>
          <a:noFill/>
          <a:ln/>
        </p:spPr>
        <p:txBody>
          <a:bodyPr wrap="square" rtlCol="0" anchor="ctr"/>
          <a:lstStyle/>
          <a:p>
            <a:pPr indent="0" marL="0">
              <a:buNone/>
            </a:pPr>
            <a:r>
              <a:rPr lang="en-US" sz="900" b="1" dirty="0">
                <a:solidFill>
                  <a:srgbClr val="F96806"/>
                </a:solidFill>
                <a:latin typeface="Calibri" pitchFamily="34" charset="0"/>
                <a:ea typeface="Calibri" pitchFamily="34" charset="-122"/>
                <a:cs typeface="Calibri" pitchFamily="34" charset="-120"/>
              </a:rPr>
              <a:t>03</a:t>
            </a:r>
            <a:endParaRPr lang="en-US" sz="900" dirty="0"/>
          </a:p>
        </p:txBody>
      </p:sp>
      <p:sp>
        <p:nvSpPr>
          <p:cNvPr id="23" name="Text 21"/>
          <p:cNvSpPr/>
          <p:nvPr/>
        </p:nvSpPr>
        <p:spPr>
          <a:xfrm>
            <a:off x="5742432" y="2432304"/>
            <a:ext cx="2002536"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Library + bridges</a:t>
            </a:r>
            <a:endParaRPr lang="en-US" sz="1050" dirty="0"/>
          </a:p>
        </p:txBody>
      </p:sp>
      <p:sp>
        <p:nvSpPr>
          <p:cNvPr id="24" name="Text 22"/>
          <p:cNvSpPr/>
          <p:nvPr/>
        </p:nvSpPr>
        <p:spPr>
          <a:xfrm>
            <a:off x="5742432" y="2697480"/>
            <a:ext cx="2002536" cy="365760"/>
          </a:xfrm>
          <a:prstGeom prst="rect">
            <a:avLst/>
          </a:prstGeom>
          <a:noFill/>
          <a:ln/>
        </p:spPr>
        <p:txBody>
          <a:bodyPr wrap="square" rtlCol="0" anchor="ctr"/>
          <a:lstStyle/>
          <a:p>
            <a:pPr indent="0" marL="0">
              <a:lnSpc>
                <a:spcPts val="1050"/>
              </a:lnSpc>
              <a:buNone/>
            </a:pPr>
            <a:r>
              <a:rPr lang="en-US" sz="850" dirty="0">
                <a:solidFill>
                  <a:srgbClr val="C9D2F0"/>
                </a:solidFill>
                <a:latin typeface="Calibri" pitchFamily="34" charset="0"/>
                <a:ea typeface="Calibri" pitchFamily="34" charset="-122"/>
                <a:cs typeface="Calibri" pitchFamily="34" charset="-120"/>
              </a:rPr>
              <a:t>Lookups, 21 builders, 16 categories, two bridge files</a:t>
            </a:r>
            <a:endParaRPr lang="en-US" sz="850" dirty="0"/>
          </a:p>
        </p:txBody>
      </p:sp>
      <p:sp>
        <p:nvSpPr>
          <p:cNvPr id="25" name="Text 23"/>
          <p:cNvSpPr/>
          <p:nvPr/>
        </p:nvSpPr>
        <p:spPr>
          <a:xfrm>
            <a:off x="8028432" y="2523744"/>
            <a:ext cx="274320" cy="219456"/>
          </a:xfrm>
          <a:prstGeom prst="rect">
            <a:avLst/>
          </a:prstGeom>
          <a:noFill/>
          <a:ln/>
        </p:spPr>
        <p:txBody>
          <a:bodyPr wrap="square" rtlCol="0" anchor="ctr"/>
          <a:lstStyle/>
          <a:p>
            <a:pPr algn="ctr" indent="0" marL="0">
              <a:buNone/>
            </a:pPr>
            <a:r>
              <a:rPr lang="en-US" sz="1100" b="1" dirty="0">
                <a:solidFill>
                  <a:srgbClr val="1861F5"/>
                </a:solidFill>
                <a:latin typeface="Calibri" pitchFamily="34" charset="0"/>
                <a:ea typeface="Calibri" pitchFamily="34" charset="-122"/>
                <a:cs typeface="Calibri" pitchFamily="34" charset="-120"/>
              </a:rPr>
              <a:t>▶</a:t>
            </a:r>
            <a:endParaRPr lang="en-US" sz="1100" dirty="0"/>
          </a:p>
        </p:txBody>
      </p:sp>
      <p:sp>
        <p:nvSpPr>
          <p:cNvPr id="26" name="Text 24"/>
          <p:cNvSpPr/>
          <p:nvPr/>
        </p:nvSpPr>
        <p:spPr>
          <a:xfrm>
            <a:off x="8366760" y="1920240"/>
            <a:ext cx="2011680" cy="201168"/>
          </a:xfrm>
          <a:prstGeom prst="rect">
            <a:avLst/>
          </a:prstGeom>
          <a:noFill/>
          <a:ln/>
        </p:spPr>
        <p:txBody>
          <a:bodyPr wrap="square" rtlCol="0" anchor="ctr"/>
          <a:lstStyle/>
          <a:p>
            <a:pPr indent="0" marL="0">
              <a:buNone/>
            </a:pPr>
            <a:r>
              <a:rPr lang="en-US" sz="850" b="1" spc="100" kern="0" dirty="0">
                <a:solidFill>
                  <a:srgbClr val="F96806"/>
                </a:solidFill>
                <a:latin typeface="Calibri" pitchFamily="34" charset="0"/>
                <a:ea typeface="Calibri" pitchFamily="34" charset="-122"/>
                <a:cs typeface="Calibri" pitchFamily="34" charset="-120"/>
              </a:rPr>
              <a:t>CDP SOURCE</a:t>
            </a:r>
            <a:endParaRPr lang="en-US" sz="850" dirty="0"/>
          </a:p>
        </p:txBody>
      </p:sp>
      <p:sp>
        <p:nvSpPr>
          <p:cNvPr id="27" name="Shape 25"/>
          <p:cNvSpPr/>
          <p:nvPr/>
        </p:nvSpPr>
        <p:spPr>
          <a:xfrm>
            <a:off x="8366760" y="2148840"/>
            <a:ext cx="3355848" cy="969264"/>
          </a:xfrm>
          <a:prstGeom prst="roundRect">
            <a:avLst>
              <a:gd name="adj" fmla="val 5660"/>
            </a:avLst>
          </a:prstGeom>
          <a:solidFill>
            <a:srgbClr val="1861F5"/>
          </a:solidFill>
          <a:ln/>
        </p:spPr>
      </p:sp>
      <p:sp>
        <p:nvSpPr>
          <p:cNvPr id="28" name="Text 26"/>
          <p:cNvSpPr/>
          <p:nvPr/>
        </p:nvSpPr>
        <p:spPr>
          <a:xfrm>
            <a:off x="8485632" y="2240280"/>
            <a:ext cx="548640" cy="201168"/>
          </a:xfrm>
          <a:prstGeom prst="rect">
            <a:avLst/>
          </a:prstGeom>
          <a:noFill/>
          <a:ln/>
        </p:spPr>
        <p:txBody>
          <a:bodyPr wrap="square" rtlCol="0" anchor="ctr"/>
          <a:lstStyle/>
          <a:p>
            <a:pPr indent="0" marL="0">
              <a:buNone/>
            </a:pPr>
            <a:r>
              <a:rPr lang="en-US" sz="900" b="1" dirty="0">
                <a:solidFill>
                  <a:srgbClr val="F96806"/>
                </a:solidFill>
                <a:latin typeface="Calibri" pitchFamily="34" charset="0"/>
                <a:ea typeface="Calibri" pitchFamily="34" charset="-122"/>
                <a:cs typeface="Calibri" pitchFamily="34" charset="-120"/>
              </a:rPr>
              <a:t>04</a:t>
            </a:r>
            <a:endParaRPr lang="en-US" sz="900" dirty="0"/>
          </a:p>
        </p:txBody>
      </p:sp>
      <p:sp>
        <p:nvSpPr>
          <p:cNvPr id="29" name="Text 27"/>
          <p:cNvSpPr/>
          <p:nvPr/>
        </p:nvSpPr>
        <p:spPr>
          <a:xfrm>
            <a:off x="8485632" y="2432304"/>
            <a:ext cx="3118104"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Analytic + core schemas</a:t>
            </a:r>
            <a:endParaRPr lang="en-US" sz="1050" dirty="0"/>
          </a:p>
        </p:txBody>
      </p:sp>
      <p:sp>
        <p:nvSpPr>
          <p:cNvPr id="30" name="Text 28"/>
          <p:cNvSpPr/>
          <p:nvPr/>
        </p:nvSpPr>
        <p:spPr>
          <a:xfrm>
            <a:off x="8485632" y="2697480"/>
            <a:ext cx="3118104" cy="365760"/>
          </a:xfrm>
          <a:prstGeom prst="rect">
            <a:avLst/>
          </a:prstGeom>
          <a:noFill/>
          <a:ln/>
        </p:spPr>
        <p:txBody>
          <a:bodyPr wrap="square" rtlCol="0" anchor="ctr"/>
          <a:lstStyle/>
          <a:p>
            <a:pPr indent="0" marL="0">
              <a:lnSpc>
                <a:spcPts val="1050"/>
              </a:lnSpc>
              <a:buNone/>
            </a:pPr>
            <a:r>
              <a:rPr lang="en-US" sz="850" dirty="0">
                <a:solidFill>
                  <a:srgbClr val="C9D2F0"/>
                </a:solidFill>
                <a:latin typeface="Calibri" pitchFamily="34" charset="0"/>
                <a:ea typeface="Calibri" pitchFamily="34" charset="-122"/>
                <a:cs typeface="Calibri" pitchFamily="34" charset="-120"/>
              </a:rPr>
              <a:t>Order, subscription, marketing-activity, product and promotion objects over ODBC</a:t>
            </a:r>
            <a:endParaRPr lang="en-US" sz="850" dirty="0"/>
          </a:p>
        </p:txBody>
      </p:sp>
      <p:sp>
        <p:nvSpPr>
          <p:cNvPr id="31" name="Shape 29"/>
          <p:cNvSpPr/>
          <p:nvPr/>
        </p:nvSpPr>
        <p:spPr>
          <a:xfrm>
            <a:off x="374904" y="3291840"/>
            <a:ext cx="11448288" cy="45720"/>
          </a:xfrm>
          <a:prstGeom prst="rect">
            <a:avLst/>
          </a:prstGeom>
          <a:solidFill>
            <a:srgbClr val="D6DEF5"/>
          </a:solidFill>
          <a:ln/>
        </p:spPr>
      </p:sp>
      <p:sp>
        <p:nvSpPr>
          <p:cNvPr id="32" name="Text 30"/>
          <p:cNvSpPr/>
          <p:nvPr/>
        </p:nvSpPr>
        <p:spPr>
          <a:xfrm>
            <a:off x="374904" y="3383280"/>
            <a:ext cx="6400800" cy="201168"/>
          </a:xfrm>
          <a:prstGeom prst="rect">
            <a:avLst/>
          </a:prstGeom>
          <a:noFill/>
          <a:ln/>
        </p:spPr>
        <p:txBody>
          <a:bodyPr wrap="square" rtlCol="0" anchor="ctr"/>
          <a:lstStyle/>
          <a:p>
            <a:pPr indent="0" marL="0">
              <a:buNone/>
            </a:pPr>
            <a:r>
              <a:rPr lang="en-US" sz="850" b="1" spc="100" kern="0" dirty="0">
                <a:solidFill>
                  <a:srgbClr val="64748B"/>
                </a:solidFill>
                <a:latin typeface="Calibri" pitchFamily="34" charset="0"/>
                <a:ea typeface="Calibri" pitchFamily="34" charset="-122"/>
                <a:cs typeface="Calibri" pitchFamily="34" charset="-120"/>
              </a:rPr>
              <a:t>PER-VARIABLE LOOP  ·  ~2,400 queries per full run</a:t>
            </a:r>
            <a:endParaRPr lang="en-US" sz="850" dirty="0"/>
          </a:p>
        </p:txBody>
      </p:sp>
      <p:sp>
        <p:nvSpPr>
          <p:cNvPr id="33" name="Shape 31"/>
          <p:cNvSpPr/>
          <p:nvPr/>
        </p:nvSpPr>
        <p:spPr>
          <a:xfrm>
            <a:off x="374904" y="3584448"/>
            <a:ext cx="2697480" cy="45720"/>
          </a:xfrm>
          <a:prstGeom prst="rect">
            <a:avLst/>
          </a:prstGeom>
          <a:solidFill>
            <a:srgbClr val="1861F5"/>
          </a:solidFill>
          <a:ln/>
        </p:spPr>
      </p:sp>
      <p:sp>
        <p:nvSpPr>
          <p:cNvPr id="34" name="Shape 32"/>
          <p:cNvSpPr/>
          <p:nvPr/>
        </p:nvSpPr>
        <p:spPr>
          <a:xfrm>
            <a:off x="374904" y="3630168"/>
            <a:ext cx="2697480" cy="841248"/>
          </a:xfrm>
          <a:prstGeom prst="rect">
            <a:avLst/>
          </a:prstGeom>
          <a:solidFill>
            <a:srgbClr val="FFFFFF"/>
          </a:solidFill>
          <a:ln/>
        </p:spPr>
      </p:sp>
      <p:sp>
        <p:nvSpPr>
          <p:cNvPr id="35" name="Text 33"/>
          <p:cNvSpPr/>
          <p:nvPr/>
        </p:nvSpPr>
        <p:spPr>
          <a:xfrm>
            <a:off x="512064" y="3712464"/>
            <a:ext cx="2423160" cy="237744"/>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Build query</a:t>
            </a:r>
            <a:endParaRPr lang="en-US" sz="1050" dirty="0"/>
          </a:p>
        </p:txBody>
      </p:sp>
      <p:sp>
        <p:nvSpPr>
          <p:cNvPr id="36" name="Text 34"/>
          <p:cNvSpPr/>
          <p:nvPr/>
        </p:nvSpPr>
        <p:spPr>
          <a:xfrm>
            <a:off x="512064" y="3950208"/>
            <a:ext cx="2423160" cy="475488"/>
          </a:xfrm>
          <a:prstGeom prst="rect">
            <a:avLst/>
          </a:prstGeom>
          <a:noFill/>
          <a:ln/>
        </p:spPr>
        <p:txBody>
          <a:bodyPr wrap="square" rtlCol="0" anchor="ctr"/>
          <a:lstStyle/>
          <a:p>
            <a:pPr indent="0" marL="0">
              <a:lnSpc>
                <a:spcPts val="1150"/>
              </a:lnSpc>
              <a:buNone/>
            </a:pPr>
            <a:r>
              <a:rPr lang="en-US" sz="900" dirty="0">
                <a:solidFill>
                  <a:srgbClr val="5B6577"/>
                </a:solidFill>
                <a:latin typeface="Calibri" pitchFamily="34" charset="0"/>
                <a:ea typeface="Calibri" pitchFamily="34" charset="-122"/>
                <a:cs typeface="Calibri" pitchFamily="34" charset="-120"/>
              </a:rPr>
              <a:t>Filters, date window and code lists assembled into SQL</a:t>
            </a:r>
            <a:endParaRPr lang="en-US" sz="900" dirty="0"/>
          </a:p>
        </p:txBody>
      </p:sp>
      <p:sp>
        <p:nvSpPr>
          <p:cNvPr id="37" name="Text 35"/>
          <p:cNvSpPr/>
          <p:nvPr/>
        </p:nvSpPr>
        <p:spPr>
          <a:xfrm>
            <a:off x="3099816" y="3931920"/>
            <a:ext cx="274320" cy="219456"/>
          </a:xfrm>
          <a:prstGeom prst="rect">
            <a:avLst/>
          </a:prstGeom>
          <a:noFill/>
          <a:ln/>
        </p:spPr>
        <p:txBody>
          <a:bodyPr wrap="square" rtlCol="0" anchor="ctr"/>
          <a:lstStyle/>
          <a:p>
            <a:pPr algn="ctr" indent="0" marL="0">
              <a:buNone/>
            </a:pPr>
            <a:r>
              <a:rPr lang="en-US" sz="1100" b="1" dirty="0">
                <a:solidFill>
                  <a:srgbClr val="1861F5"/>
                </a:solidFill>
                <a:latin typeface="Calibri" pitchFamily="34" charset="0"/>
                <a:ea typeface="Calibri" pitchFamily="34" charset="-122"/>
                <a:cs typeface="Calibri" pitchFamily="34" charset="-120"/>
              </a:rPr>
              <a:t>▶</a:t>
            </a:r>
            <a:endParaRPr lang="en-US" sz="1100" dirty="0"/>
          </a:p>
        </p:txBody>
      </p:sp>
      <p:sp>
        <p:nvSpPr>
          <p:cNvPr id="38" name="Shape 36"/>
          <p:cNvSpPr/>
          <p:nvPr/>
        </p:nvSpPr>
        <p:spPr>
          <a:xfrm>
            <a:off x="3319272" y="3584448"/>
            <a:ext cx="2697480" cy="45720"/>
          </a:xfrm>
          <a:prstGeom prst="rect">
            <a:avLst/>
          </a:prstGeom>
          <a:solidFill>
            <a:srgbClr val="1861F5"/>
          </a:solidFill>
          <a:ln/>
        </p:spPr>
      </p:sp>
      <p:sp>
        <p:nvSpPr>
          <p:cNvPr id="39" name="Shape 37"/>
          <p:cNvSpPr/>
          <p:nvPr/>
        </p:nvSpPr>
        <p:spPr>
          <a:xfrm>
            <a:off x="3319272" y="3630168"/>
            <a:ext cx="2697480" cy="841248"/>
          </a:xfrm>
          <a:prstGeom prst="rect">
            <a:avLst/>
          </a:prstGeom>
          <a:solidFill>
            <a:srgbClr val="FFFFFF"/>
          </a:solidFill>
          <a:ln/>
        </p:spPr>
      </p:sp>
      <p:sp>
        <p:nvSpPr>
          <p:cNvPr id="40" name="Text 38"/>
          <p:cNvSpPr/>
          <p:nvPr/>
        </p:nvSpPr>
        <p:spPr>
          <a:xfrm>
            <a:off x="3456432" y="3712464"/>
            <a:ext cx="2423160" cy="237744"/>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Execute on CDP</a:t>
            </a:r>
            <a:endParaRPr lang="en-US" sz="1050" dirty="0"/>
          </a:p>
        </p:txBody>
      </p:sp>
      <p:sp>
        <p:nvSpPr>
          <p:cNvPr id="41" name="Text 39"/>
          <p:cNvSpPr/>
          <p:nvPr/>
        </p:nvSpPr>
        <p:spPr>
          <a:xfrm>
            <a:off x="3456432" y="3950208"/>
            <a:ext cx="2423160" cy="475488"/>
          </a:xfrm>
          <a:prstGeom prst="rect">
            <a:avLst/>
          </a:prstGeom>
          <a:noFill/>
          <a:ln/>
        </p:spPr>
        <p:txBody>
          <a:bodyPr wrap="square" rtlCol="0" anchor="ctr"/>
          <a:lstStyle/>
          <a:p>
            <a:pPr indent="0" marL="0">
              <a:lnSpc>
                <a:spcPts val="1150"/>
              </a:lnSpc>
              <a:buNone/>
            </a:pPr>
            <a:r>
              <a:rPr lang="en-US" sz="900" dirty="0">
                <a:solidFill>
                  <a:srgbClr val="5B6577"/>
                </a:solidFill>
                <a:latin typeface="Calibri" pitchFamily="34" charset="0"/>
                <a:ea typeface="Calibri" pitchFamily="34" charset="-122"/>
                <a:cs typeface="Calibri" pitchFamily="34" charset="-120"/>
              </a:rPr>
              <a:t>One ODBC round-trip; timing logged</a:t>
            </a:r>
            <a:endParaRPr lang="en-US" sz="900" dirty="0"/>
          </a:p>
        </p:txBody>
      </p:sp>
      <p:sp>
        <p:nvSpPr>
          <p:cNvPr id="42" name="Text 40"/>
          <p:cNvSpPr/>
          <p:nvPr/>
        </p:nvSpPr>
        <p:spPr>
          <a:xfrm>
            <a:off x="6044184" y="3931920"/>
            <a:ext cx="274320" cy="219456"/>
          </a:xfrm>
          <a:prstGeom prst="rect">
            <a:avLst/>
          </a:prstGeom>
          <a:noFill/>
          <a:ln/>
        </p:spPr>
        <p:txBody>
          <a:bodyPr wrap="square" rtlCol="0" anchor="ctr"/>
          <a:lstStyle/>
          <a:p>
            <a:pPr algn="ctr" indent="0" marL="0">
              <a:buNone/>
            </a:pPr>
            <a:r>
              <a:rPr lang="en-US" sz="1100" b="1" dirty="0">
                <a:solidFill>
                  <a:srgbClr val="1861F5"/>
                </a:solidFill>
                <a:latin typeface="Calibri" pitchFamily="34" charset="0"/>
                <a:ea typeface="Calibri" pitchFamily="34" charset="-122"/>
                <a:cs typeface="Calibri" pitchFamily="34" charset="-120"/>
              </a:rPr>
              <a:t>▶</a:t>
            </a:r>
            <a:endParaRPr lang="en-US" sz="1100" dirty="0"/>
          </a:p>
        </p:txBody>
      </p:sp>
      <p:sp>
        <p:nvSpPr>
          <p:cNvPr id="43" name="Shape 41"/>
          <p:cNvSpPr/>
          <p:nvPr/>
        </p:nvSpPr>
        <p:spPr>
          <a:xfrm>
            <a:off x="6263640" y="3584448"/>
            <a:ext cx="2697480" cy="45720"/>
          </a:xfrm>
          <a:prstGeom prst="rect">
            <a:avLst/>
          </a:prstGeom>
          <a:solidFill>
            <a:srgbClr val="1861F5"/>
          </a:solidFill>
          <a:ln/>
        </p:spPr>
      </p:sp>
      <p:sp>
        <p:nvSpPr>
          <p:cNvPr id="44" name="Shape 42"/>
          <p:cNvSpPr/>
          <p:nvPr/>
        </p:nvSpPr>
        <p:spPr>
          <a:xfrm>
            <a:off x="6263640" y="3630168"/>
            <a:ext cx="2697480" cy="841248"/>
          </a:xfrm>
          <a:prstGeom prst="rect">
            <a:avLst/>
          </a:prstGeom>
          <a:solidFill>
            <a:srgbClr val="FFFFFF"/>
          </a:solidFill>
          <a:ln/>
        </p:spPr>
      </p:sp>
      <p:sp>
        <p:nvSpPr>
          <p:cNvPr id="45" name="Text 43"/>
          <p:cNvSpPr/>
          <p:nvPr/>
        </p:nvSpPr>
        <p:spPr>
          <a:xfrm>
            <a:off x="6400800" y="3712464"/>
            <a:ext cx="2423160" cy="237744"/>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Stage result</a:t>
            </a:r>
            <a:endParaRPr lang="en-US" sz="1050" dirty="0"/>
          </a:p>
        </p:txBody>
      </p:sp>
      <p:sp>
        <p:nvSpPr>
          <p:cNvPr id="46" name="Text 44"/>
          <p:cNvSpPr/>
          <p:nvPr/>
        </p:nvSpPr>
        <p:spPr>
          <a:xfrm>
            <a:off x="6400800" y="3950208"/>
            <a:ext cx="2423160" cy="475488"/>
          </a:xfrm>
          <a:prstGeom prst="rect">
            <a:avLst/>
          </a:prstGeom>
          <a:noFill/>
          <a:ln/>
        </p:spPr>
        <p:txBody>
          <a:bodyPr wrap="square" rtlCol="0" anchor="ctr"/>
          <a:lstStyle/>
          <a:p>
            <a:pPr indent="0" marL="0">
              <a:lnSpc>
                <a:spcPts val="1150"/>
              </a:lnSpc>
              <a:buNone/>
            </a:pPr>
            <a:r>
              <a:rPr lang="en-US" sz="900" dirty="0">
                <a:solidFill>
                  <a:srgbClr val="5B6577"/>
                </a:solidFill>
                <a:latin typeface="Calibri" pitchFamily="34" charset="0"/>
                <a:ea typeface="Calibri" pitchFamily="34" charset="-122"/>
                <a:cs typeface="Calibri" pitchFamily="34" charset="-120"/>
              </a:rPr>
              <a:t>Temp table per variable, keyed on customer</a:t>
            </a:r>
            <a:endParaRPr lang="en-US" sz="900" dirty="0"/>
          </a:p>
        </p:txBody>
      </p:sp>
      <p:sp>
        <p:nvSpPr>
          <p:cNvPr id="47" name="Text 45"/>
          <p:cNvSpPr/>
          <p:nvPr/>
        </p:nvSpPr>
        <p:spPr>
          <a:xfrm>
            <a:off x="8988552" y="3931920"/>
            <a:ext cx="274320" cy="219456"/>
          </a:xfrm>
          <a:prstGeom prst="rect">
            <a:avLst/>
          </a:prstGeom>
          <a:noFill/>
          <a:ln/>
        </p:spPr>
        <p:txBody>
          <a:bodyPr wrap="square" rtlCol="0" anchor="ctr"/>
          <a:lstStyle/>
          <a:p>
            <a:pPr algn="ctr" indent="0" marL="0">
              <a:buNone/>
            </a:pPr>
            <a:r>
              <a:rPr lang="en-US" sz="1100" b="1" dirty="0">
                <a:solidFill>
                  <a:srgbClr val="1861F5"/>
                </a:solidFill>
                <a:latin typeface="Calibri" pitchFamily="34" charset="0"/>
                <a:ea typeface="Calibri" pitchFamily="34" charset="-122"/>
                <a:cs typeface="Calibri" pitchFamily="34" charset="-120"/>
              </a:rPr>
              <a:t>▶</a:t>
            </a:r>
            <a:endParaRPr lang="en-US" sz="1100" dirty="0"/>
          </a:p>
        </p:txBody>
      </p:sp>
      <p:sp>
        <p:nvSpPr>
          <p:cNvPr id="48" name="Shape 46"/>
          <p:cNvSpPr/>
          <p:nvPr/>
        </p:nvSpPr>
        <p:spPr>
          <a:xfrm>
            <a:off x="9208008" y="3584448"/>
            <a:ext cx="2697480" cy="45720"/>
          </a:xfrm>
          <a:prstGeom prst="rect">
            <a:avLst/>
          </a:prstGeom>
          <a:solidFill>
            <a:srgbClr val="1861F5"/>
          </a:solidFill>
          <a:ln/>
        </p:spPr>
      </p:sp>
      <p:sp>
        <p:nvSpPr>
          <p:cNvPr id="49" name="Shape 47"/>
          <p:cNvSpPr/>
          <p:nvPr/>
        </p:nvSpPr>
        <p:spPr>
          <a:xfrm>
            <a:off x="9208008" y="3630168"/>
            <a:ext cx="2697480" cy="841248"/>
          </a:xfrm>
          <a:prstGeom prst="rect">
            <a:avLst/>
          </a:prstGeom>
          <a:solidFill>
            <a:srgbClr val="FFFFFF"/>
          </a:solidFill>
          <a:ln/>
        </p:spPr>
      </p:sp>
      <p:sp>
        <p:nvSpPr>
          <p:cNvPr id="50" name="Text 48"/>
          <p:cNvSpPr/>
          <p:nvPr/>
        </p:nvSpPr>
        <p:spPr>
          <a:xfrm>
            <a:off x="9345168" y="3712464"/>
            <a:ext cx="2423160" cy="237744"/>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Merge to output</a:t>
            </a:r>
            <a:endParaRPr lang="en-US" sz="1050" dirty="0"/>
          </a:p>
        </p:txBody>
      </p:sp>
      <p:sp>
        <p:nvSpPr>
          <p:cNvPr id="51" name="Text 49"/>
          <p:cNvSpPr/>
          <p:nvPr/>
        </p:nvSpPr>
        <p:spPr>
          <a:xfrm>
            <a:off x="9345168" y="3950208"/>
            <a:ext cx="2423160" cy="475488"/>
          </a:xfrm>
          <a:prstGeom prst="rect">
            <a:avLst/>
          </a:prstGeom>
          <a:noFill/>
          <a:ln/>
        </p:spPr>
        <p:txBody>
          <a:bodyPr wrap="square" rtlCol="0" anchor="ctr"/>
          <a:lstStyle/>
          <a:p>
            <a:pPr indent="0" marL="0">
              <a:lnSpc>
                <a:spcPts val="1150"/>
              </a:lnSpc>
              <a:buNone/>
            </a:pPr>
            <a:r>
              <a:rPr lang="en-US" sz="900" dirty="0">
                <a:solidFill>
                  <a:srgbClr val="5B6577"/>
                </a:solidFill>
                <a:latin typeface="Calibri" pitchFamily="34" charset="0"/>
                <a:ea typeface="Calibri" pitchFamily="34" charset="-122"/>
                <a:cs typeface="Calibri" pitchFamily="34" charset="-120"/>
              </a:rPr>
              <a:t>Left-joined onto the wide table by customer ID</a:t>
            </a:r>
            <a:endParaRPr lang="en-US" sz="900" dirty="0"/>
          </a:p>
        </p:txBody>
      </p:sp>
      <p:sp>
        <p:nvSpPr>
          <p:cNvPr id="52" name="Shape 50"/>
          <p:cNvSpPr/>
          <p:nvPr/>
        </p:nvSpPr>
        <p:spPr>
          <a:xfrm>
            <a:off x="374904" y="4626864"/>
            <a:ext cx="5532120" cy="530352"/>
          </a:xfrm>
          <a:prstGeom prst="rect">
            <a:avLst/>
          </a:prstGeom>
          <a:solidFill>
            <a:srgbClr val="1A288E"/>
          </a:solidFill>
          <a:ln/>
        </p:spPr>
      </p:sp>
      <p:sp>
        <p:nvSpPr>
          <p:cNvPr id="53" name="Text 51"/>
          <p:cNvSpPr/>
          <p:nvPr/>
        </p:nvSpPr>
        <p:spPr>
          <a:xfrm>
            <a:off x="512064" y="4745736"/>
            <a:ext cx="530352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OUTPUT   One row per customer  ·  475 feature columns</a:t>
            </a:r>
            <a:endParaRPr lang="en-US" sz="1050" dirty="0"/>
          </a:p>
        </p:txBody>
      </p:sp>
      <p:sp>
        <p:nvSpPr>
          <p:cNvPr id="54" name="Shape 52"/>
          <p:cNvSpPr/>
          <p:nvPr/>
        </p:nvSpPr>
        <p:spPr>
          <a:xfrm>
            <a:off x="6053328" y="4626864"/>
            <a:ext cx="5532120" cy="530352"/>
          </a:xfrm>
          <a:prstGeom prst="rect">
            <a:avLst/>
          </a:prstGeom>
          <a:solidFill>
            <a:srgbClr val="F2F5FC"/>
          </a:solidFill>
          <a:ln/>
        </p:spPr>
      </p:sp>
      <p:sp>
        <p:nvSpPr>
          <p:cNvPr id="55" name="Text 53"/>
          <p:cNvSpPr/>
          <p:nvPr/>
        </p:nvSpPr>
        <p:spPr>
          <a:xfrm>
            <a:off x="6190488" y="4745736"/>
            <a:ext cx="5303520" cy="29260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THEN   Drop helper columns  ·  QC census  ·  legacy comparison</a:t>
            </a:r>
            <a:endParaRPr lang="en-US" sz="1050" dirty="0"/>
          </a:p>
        </p:txBody>
      </p:sp>
      <p:sp>
        <p:nvSpPr>
          <p:cNvPr id="56" name="Shape 54"/>
          <p:cNvSpPr/>
          <p:nvPr/>
        </p:nvSpPr>
        <p:spPr>
          <a:xfrm>
            <a:off x="237744" y="5422392"/>
            <a:ext cx="11713464" cy="758952"/>
          </a:xfrm>
          <a:prstGeom prst="rect">
            <a:avLst/>
          </a:prstGeom>
          <a:solidFill>
            <a:srgbClr val="1A288E"/>
          </a:solidFill>
          <a:ln/>
        </p:spPr>
      </p:sp>
      <p:sp>
        <p:nvSpPr>
          <p:cNvPr id="57" name="Text 55"/>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DESIGN CONSEQUENCE THAT MATTERED MOST</a:t>
            </a:r>
            <a:endParaRPr lang="en-US" sz="900" dirty="0"/>
          </a:p>
        </p:txBody>
      </p:sp>
      <p:sp>
        <p:nvSpPr>
          <p:cNvPr id="58" name="Text 56"/>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Because SQL is generated at run time, one defective pattern in a shared builder multiplies across every variable it serves — and one fix there repairs them all at once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ENABLEMENT · WHERE AI FIT</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Where AI Fit in the Migration</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Not as a code generator. AI was applied where the bottleneck actually was — reading an undocumented codebase faster than a person could, and turning 60MB+ logs into evidence a human could act on</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65960"/>
            <a:ext cx="2807208" cy="54864"/>
          </a:xfrm>
          <a:prstGeom prst="rect">
            <a:avLst/>
          </a:prstGeom>
          <a:solidFill>
            <a:srgbClr val="1861F5"/>
          </a:solidFill>
          <a:ln/>
        </p:spPr>
      </p:sp>
      <p:sp>
        <p:nvSpPr>
          <p:cNvPr id="8" name="Shape 6"/>
          <p:cNvSpPr/>
          <p:nvPr/>
        </p:nvSpPr>
        <p:spPr>
          <a:xfrm>
            <a:off x="237744" y="2020824"/>
            <a:ext cx="2807208" cy="1700784"/>
          </a:xfrm>
          <a:prstGeom prst="rect">
            <a:avLst/>
          </a:prstGeom>
          <a:solidFill>
            <a:srgbClr val="F2F5FC"/>
          </a:solidFill>
          <a:ln/>
        </p:spPr>
      </p:sp>
      <p:sp>
        <p:nvSpPr>
          <p:cNvPr id="9" name="Text 7"/>
          <p:cNvSpPr/>
          <p:nvPr/>
        </p:nvSpPr>
        <p:spPr>
          <a:xfrm>
            <a:off x="402336" y="2121408"/>
            <a:ext cx="2478024"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Comprehension at speed</a:t>
            </a:r>
            <a:endParaRPr lang="en-US" sz="1200" dirty="0"/>
          </a:p>
        </p:txBody>
      </p:sp>
      <p:sp>
        <p:nvSpPr>
          <p:cNvPr id="10" name="Text 8"/>
          <p:cNvSpPr/>
          <p:nvPr/>
        </p:nvSpPr>
        <p:spPr>
          <a:xfrm>
            <a:off x="402336" y="2377440"/>
            <a:ext cx="2478024" cy="1225296"/>
          </a:xfrm>
          <a:prstGeom prst="rect">
            <a:avLst/>
          </a:prstGeom>
          <a:noFill/>
          <a:ln/>
        </p:spPr>
        <p:txBody>
          <a:bodyPr wrap="square" rtlCol="0" anchor="t"/>
          <a:lstStyle/>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Interdependent files, 500+ macro calls. The include chain and call graph were traced in hours rather than the weeks a manual read would take.</a:t>
            </a:r>
            <a:endParaRPr lang="en-US" sz="1000" dirty="0"/>
          </a:p>
        </p:txBody>
      </p:sp>
      <p:sp>
        <p:nvSpPr>
          <p:cNvPr id="11" name="Text 9"/>
          <p:cNvSpPr/>
          <p:nvPr/>
        </p:nvSpPr>
        <p:spPr>
          <a:xfrm>
            <a:off x="2569464" y="2093976"/>
            <a:ext cx="365760" cy="201168"/>
          </a:xfrm>
          <a:prstGeom prst="rect">
            <a:avLst/>
          </a:prstGeom>
          <a:noFill/>
          <a:ln/>
        </p:spPr>
        <p:txBody>
          <a:bodyPr wrap="square" rtlCol="0" anchor="ctr"/>
          <a:lstStyle/>
          <a:p>
            <a:pPr indent="0" marL="0">
              <a:buNone/>
            </a:pPr>
            <a:r>
              <a:rPr lang="en-US" sz="1000" b="1" dirty="0">
                <a:solidFill>
                  <a:srgbClr val="F96806"/>
                </a:solidFill>
                <a:latin typeface="Calibri" pitchFamily="34" charset="0"/>
                <a:ea typeface="Calibri" pitchFamily="34" charset="-122"/>
                <a:cs typeface="Calibri" pitchFamily="34" charset="-120"/>
              </a:rPr>
              <a:t>01</a:t>
            </a:r>
            <a:endParaRPr lang="en-US" sz="1000" dirty="0"/>
          </a:p>
        </p:txBody>
      </p:sp>
      <p:sp>
        <p:nvSpPr>
          <p:cNvPr id="12" name="Shape 10"/>
          <p:cNvSpPr/>
          <p:nvPr/>
        </p:nvSpPr>
        <p:spPr>
          <a:xfrm>
            <a:off x="3209544" y="1965960"/>
            <a:ext cx="2807208" cy="54864"/>
          </a:xfrm>
          <a:prstGeom prst="rect">
            <a:avLst/>
          </a:prstGeom>
          <a:solidFill>
            <a:srgbClr val="1861F5"/>
          </a:solidFill>
          <a:ln/>
        </p:spPr>
      </p:sp>
      <p:sp>
        <p:nvSpPr>
          <p:cNvPr id="13" name="Shape 11"/>
          <p:cNvSpPr/>
          <p:nvPr/>
        </p:nvSpPr>
        <p:spPr>
          <a:xfrm>
            <a:off x="3209544" y="2020824"/>
            <a:ext cx="2807208" cy="1700784"/>
          </a:xfrm>
          <a:prstGeom prst="rect">
            <a:avLst/>
          </a:prstGeom>
          <a:solidFill>
            <a:srgbClr val="F2F5FC"/>
          </a:solidFill>
          <a:ln/>
        </p:spPr>
      </p:sp>
      <p:sp>
        <p:nvSpPr>
          <p:cNvPr id="14" name="Text 12"/>
          <p:cNvSpPr/>
          <p:nvPr/>
        </p:nvSpPr>
        <p:spPr>
          <a:xfrm>
            <a:off x="3374136" y="2121408"/>
            <a:ext cx="2478024"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Log forensics</a:t>
            </a:r>
            <a:endParaRPr lang="en-US" sz="1200" dirty="0"/>
          </a:p>
        </p:txBody>
      </p:sp>
      <p:sp>
        <p:nvSpPr>
          <p:cNvPr id="15" name="Text 13"/>
          <p:cNvSpPr/>
          <p:nvPr/>
        </p:nvSpPr>
        <p:spPr>
          <a:xfrm>
            <a:off x="3374136" y="2377440"/>
            <a:ext cx="2478024" cy="1225296"/>
          </a:xfrm>
          <a:prstGeom prst="rect">
            <a:avLst/>
          </a:prstGeom>
          <a:noFill/>
          <a:ln/>
        </p:spPr>
        <p:txBody>
          <a:bodyPr wrap="square" rtlCol="0" anchor="t"/>
          <a:lstStyle/>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Logs ran past 60MB and ~5,000 errors. Every error was classified, counted by type, and each cascade tied back to the single predicate that caused it.</a:t>
            </a:r>
            <a:endParaRPr lang="en-US" sz="1000" dirty="0"/>
          </a:p>
        </p:txBody>
      </p:sp>
      <p:sp>
        <p:nvSpPr>
          <p:cNvPr id="16" name="Text 14"/>
          <p:cNvSpPr/>
          <p:nvPr/>
        </p:nvSpPr>
        <p:spPr>
          <a:xfrm>
            <a:off x="5541264" y="2093976"/>
            <a:ext cx="365760" cy="201168"/>
          </a:xfrm>
          <a:prstGeom prst="rect">
            <a:avLst/>
          </a:prstGeom>
          <a:noFill/>
          <a:ln/>
        </p:spPr>
        <p:txBody>
          <a:bodyPr wrap="square" rtlCol="0" anchor="ctr"/>
          <a:lstStyle/>
          <a:p>
            <a:pPr indent="0" marL="0">
              <a:buNone/>
            </a:pPr>
            <a:r>
              <a:rPr lang="en-US" sz="1000" b="1" dirty="0">
                <a:solidFill>
                  <a:srgbClr val="F96806"/>
                </a:solidFill>
                <a:latin typeface="Calibri" pitchFamily="34" charset="0"/>
                <a:ea typeface="Calibri" pitchFamily="34" charset="-122"/>
                <a:cs typeface="Calibri" pitchFamily="34" charset="-120"/>
              </a:rPr>
              <a:t>02</a:t>
            </a:r>
            <a:endParaRPr lang="en-US" sz="1000" dirty="0"/>
          </a:p>
        </p:txBody>
      </p:sp>
      <p:sp>
        <p:nvSpPr>
          <p:cNvPr id="17" name="Shape 15"/>
          <p:cNvSpPr/>
          <p:nvPr/>
        </p:nvSpPr>
        <p:spPr>
          <a:xfrm>
            <a:off x="6181344" y="1965960"/>
            <a:ext cx="2807208" cy="54864"/>
          </a:xfrm>
          <a:prstGeom prst="rect">
            <a:avLst/>
          </a:prstGeom>
          <a:solidFill>
            <a:srgbClr val="1861F5"/>
          </a:solidFill>
          <a:ln/>
        </p:spPr>
      </p:sp>
      <p:sp>
        <p:nvSpPr>
          <p:cNvPr id="18" name="Shape 16"/>
          <p:cNvSpPr/>
          <p:nvPr/>
        </p:nvSpPr>
        <p:spPr>
          <a:xfrm>
            <a:off x="6181344" y="2020824"/>
            <a:ext cx="2807208" cy="1700784"/>
          </a:xfrm>
          <a:prstGeom prst="rect">
            <a:avLst/>
          </a:prstGeom>
          <a:solidFill>
            <a:srgbClr val="F2F5FC"/>
          </a:solidFill>
          <a:ln/>
        </p:spPr>
      </p:sp>
      <p:sp>
        <p:nvSpPr>
          <p:cNvPr id="19" name="Text 17"/>
          <p:cNvSpPr/>
          <p:nvPr/>
        </p:nvSpPr>
        <p:spPr>
          <a:xfrm>
            <a:off x="6345936" y="2121408"/>
            <a:ext cx="2478024"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Diagnostic scripting</a:t>
            </a:r>
            <a:endParaRPr lang="en-US" sz="1200" dirty="0"/>
          </a:p>
        </p:txBody>
      </p:sp>
      <p:sp>
        <p:nvSpPr>
          <p:cNvPr id="20" name="Text 18"/>
          <p:cNvSpPr/>
          <p:nvPr/>
        </p:nvSpPr>
        <p:spPr>
          <a:xfrm>
            <a:off x="6345936" y="2377440"/>
            <a:ext cx="2478024" cy="1225296"/>
          </a:xfrm>
          <a:prstGeom prst="rect">
            <a:avLst/>
          </a:prstGeom>
          <a:noFill/>
          <a:ln/>
        </p:spPr>
        <p:txBody>
          <a:bodyPr wrap="square" rtlCol="0" anchor="t"/>
          <a:lstStyle/>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Each hypothesis became a read-only probe — profile a column, test both predicates, compare routes — so conclusions rested on data.</a:t>
            </a:r>
            <a:endParaRPr lang="en-US" sz="1000" dirty="0"/>
          </a:p>
        </p:txBody>
      </p:sp>
      <p:sp>
        <p:nvSpPr>
          <p:cNvPr id="21" name="Text 19"/>
          <p:cNvSpPr/>
          <p:nvPr/>
        </p:nvSpPr>
        <p:spPr>
          <a:xfrm>
            <a:off x="8513064" y="2093976"/>
            <a:ext cx="365760" cy="201168"/>
          </a:xfrm>
          <a:prstGeom prst="rect">
            <a:avLst/>
          </a:prstGeom>
          <a:noFill/>
          <a:ln/>
        </p:spPr>
        <p:txBody>
          <a:bodyPr wrap="square" rtlCol="0" anchor="ctr"/>
          <a:lstStyle/>
          <a:p>
            <a:pPr indent="0" marL="0">
              <a:buNone/>
            </a:pPr>
            <a:r>
              <a:rPr lang="en-US" sz="1000" b="1" dirty="0">
                <a:solidFill>
                  <a:srgbClr val="F96806"/>
                </a:solidFill>
                <a:latin typeface="Calibri" pitchFamily="34" charset="0"/>
                <a:ea typeface="Calibri" pitchFamily="34" charset="-122"/>
                <a:cs typeface="Calibri" pitchFamily="34" charset="-120"/>
              </a:rPr>
              <a:t>03</a:t>
            </a:r>
            <a:endParaRPr lang="en-US" sz="1000" dirty="0"/>
          </a:p>
        </p:txBody>
      </p:sp>
      <p:sp>
        <p:nvSpPr>
          <p:cNvPr id="22" name="Shape 20"/>
          <p:cNvSpPr/>
          <p:nvPr/>
        </p:nvSpPr>
        <p:spPr>
          <a:xfrm>
            <a:off x="9153144" y="1965960"/>
            <a:ext cx="2807208" cy="54864"/>
          </a:xfrm>
          <a:prstGeom prst="rect">
            <a:avLst/>
          </a:prstGeom>
          <a:solidFill>
            <a:srgbClr val="1861F5"/>
          </a:solidFill>
          <a:ln/>
        </p:spPr>
      </p:sp>
      <p:sp>
        <p:nvSpPr>
          <p:cNvPr id="23" name="Shape 21"/>
          <p:cNvSpPr/>
          <p:nvPr/>
        </p:nvSpPr>
        <p:spPr>
          <a:xfrm>
            <a:off x="9153144" y="2020824"/>
            <a:ext cx="2807208" cy="1700784"/>
          </a:xfrm>
          <a:prstGeom prst="rect">
            <a:avLst/>
          </a:prstGeom>
          <a:solidFill>
            <a:srgbClr val="F2F5FC"/>
          </a:solidFill>
          <a:ln/>
        </p:spPr>
      </p:sp>
      <p:sp>
        <p:nvSpPr>
          <p:cNvPr id="24" name="Text 22"/>
          <p:cNvSpPr/>
          <p:nvPr/>
        </p:nvSpPr>
        <p:spPr>
          <a:xfrm>
            <a:off x="9317736" y="2121408"/>
            <a:ext cx="2478024"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Documentation as a by-product</a:t>
            </a:r>
            <a:endParaRPr lang="en-US" sz="1200" dirty="0"/>
          </a:p>
        </p:txBody>
      </p:sp>
      <p:sp>
        <p:nvSpPr>
          <p:cNvPr id="25" name="Text 23"/>
          <p:cNvSpPr/>
          <p:nvPr/>
        </p:nvSpPr>
        <p:spPr>
          <a:xfrm>
            <a:off x="9317736" y="2377440"/>
            <a:ext cx="2478024" cy="1225296"/>
          </a:xfrm>
          <a:prstGeom prst="rect">
            <a:avLst/>
          </a:prstGeom>
          <a:noFill/>
          <a:ln/>
        </p:spPr>
        <p:txBody>
          <a:bodyPr wrap="square" rtlCol="0" anchor="t"/>
          <a:lstStyle/>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Architecture notes, lineage maps, decision and fix registers were written as the work happened, not retro-fitted.</a:t>
            </a:r>
            <a:endParaRPr lang="en-US" sz="1000" dirty="0"/>
          </a:p>
        </p:txBody>
      </p:sp>
      <p:sp>
        <p:nvSpPr>
          <p:cNvPr id="26" name="Text 24"/>
          <p:cNvSpPr/>
          <p:nvPr/>
        </p:nvSpPr>
        <p:spPr>
          <a:xfrm>
            <a:off x="11484864" y="2093976"/>
            <a:ext cx="365760" cy="201168"/>
          </a:xfrm>
          <a:prstGeom prst="rect">
            <a:avLst/>
          </a:prstGeom>
          <a:noFill/>
          <a:ln/>
        </p:spPr>
        <p:txBody>
          <a:bodyPr wrap="square" rtlCol="0" anchor="ctr"/>
          <a:lstStyle/>
          <a:p>
            <a:pPr indent="0" marL="0">
              <a:buNone/>
            </a:pPr>
            <a:r>
              <a:rPr lang="en-US" sz="1000" b="1" dirty="0">
                <a:solidFill>
                  <a:srgbClr val="F96806"/>
                </a:solidFill>
                <a:latin typeface="Calibri" pitchFamily="34" charset="0"/>
                <a:ea typeface="Calibri" pitchFamily="34" charset="-122"/>
                <a:cs typeface="Calibri" pitchFamily="34" charset="-120"/>
              </a:rPr>
              <a:t>04</a:t>
            </a:r>
            <a:endParaRPr lang="en-US" sz="1000" dirty="0"/>
          </a:p>
        </p:txBody>
      </p:sp>
      <p:sp>
        <p:nvSpPr>
          <p:cNvPr id="27" name="Shape 25"/>
          <p:cNvSpPr/>
          <p:nvPr/>
        </p:nvSpPr>
        <p:spPr>
          <a:xfrm>
            <a:off x="237744" y="3931920"/>
            <a:ext cx="5660136" cy="1316736"/>
          </a:xfrm>
          <a:prstGeom prst="rect">
            <a:avLst/>
          </a:prstGeom>
          <a:solidFill>
            <a:srgbClr val="1A288E"/>
          </a:solidFill>
          <a:ln/>
        </p:spPr>
      </p:sp>
      <p:sp>
        <p:nvSpPr>
          <p:cNvPr id="28" name="Text 26"/>
          <p:cNvSpPr/>
          <p:nvPr/>
        </p:nvSpPr>
        <p:spPr>
          <a:xfrm>
            <a:off x="438912" y="4059936"/>
            <a:ext cx="5303520" cy="219456"/>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WHAT AI DID NOT DO</a:t>
            </a:r>
            <a:endParaRPr lang="en-US" sz="950" dirty="0"/>
          </a:p>
        </p:txBody>
      </p:sp>
      <p:sp>
        <p:nvSpPr>
          <p:cNvPr id="29" name="Text 27"/>
          <p:cNvSpPr/>
          <p:nvPr/>
        </p:nvSpPr>
        <p:spPr>
          <a:xfrm>
            <a:off x="438912" y="4315968"/>
            <a:ext cx="5303520" cy="841248"/>
          </a:xfrm>
          <a:prstGeom prst="rect">
            <a:avLst/>
          </a:prstGeom>
          <a:noFill/>
          <a:ln/>
        </p:spPr>
        <p:txBody>
          <a:bodyPr wrap="square" rtlCol="0" anchor="ctr"/>
          <a:lstStyle/>
          <a:p>
            <a:pPr indent="0" marL="0">
              <a:lnSpc>
                <a:spcPts val="1400"/>
              </a:lnSpc>
              <a:buNone/>
            </a:pPr>
            <a:r>
              <a:rPr lang="en-US" sz="1050" dirty="0">
                <a:solidFill>
                  <a:srgbClr val="CADCFC"/>
                </a:solidFill>
                <a:latin typeface="Calibri" pitchFamily="34" charset="0"/>
                <a:ea typeface="Calibri" pitchFamily="34" charset="-122"/>
                <a:cs typeface="Calibri" pitchFamily="34" charset="-120"/>
              </a:rPr>
              <a:t>It did not decide. Every mapping, fix and sign-off was a human judgement made against evidence — and twice the confident first explanation was overturned by profiling the source.</a:t>
            </a:r>
            <a:endParaRPr lang="en-US" sz="1050" dirty="0"/>
          </a:p>
        </p:txBody>
      </p:sp>
      <p:sp>
        <p:nvSpPr>
          <p:cNvPr id="30" name="Shape 28"/>
          <p:cNvSpPr/>
          <p:nvPr/>
        </p:nvSpPr>
        <p:spPr>
          <a:xfrm>
            <a:off x="6126480" y="3931920"/>
            <a:ext cx="5824728" cy="1316736"/>
          </a:xfrm>
          <a:prstGeom prst="rect">
            <a:avLst/>
          </a:prstGeom>
          <a:solidFill>
            <a:srgbClr val="F2F5FC"/>
          </a:solidFill>
          <a:ln/>
        </p:spPr>
      </p:sp>
      <p:sp>
        <p:nvSpPr>
          <p:cNvPr id="31" name="Shape 29"/>
          <p:cNvSpPr/>
          <p:nvPr/>
        </p:nvSpPr>
        <p:spPr>
          <a:xfrm>
            <a:off x="6126480" y="3931920"/>
            <a:ext cx="50292" cy="1316736"/>
          </a:xfrm>
          <a:prstGeom prst="rect">
            <a:avLst/>
          </a:prstGeom>
          <a:solidFill>
            <a:srgbClr val="F96806"/>
          </a:solidFill>
          <a:ln/>
        </p:spPr>
      </p:sp>
      <p:sp>
        <p:nvSpPr>
          <p:cNvPr id="32" name="Text 30"/>
          <p:cNvSpPr/>
          <p:nvPr/>
        </p:nvSpPr>
        <p:spPr>
          <a:xfrm>
            <a:off x="6345936" y="4059936"/>
            <a:ext cx="5486400" cy="219456"/>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WHERE THE LEVERAGE CAME FROM</a:t>
            </a:r>
            <a:endParaRPr lang="en-US" sz="950" dirty="0"/>
          </a:p>
        </p:txBody>
      </p:sp>
      <p:sp>
        <p:nvSpPr>
          <p:cNvPr id="33" name="Text 31"/>
          <p:cNvSpPr/>
          <p:nvPr/>
        </p:nvSpPr>
        <p:spPr>
          <a:xfrm>
            <a:off x="6345936" y="4315968"/>
            <a:ext cx="5486400" cy="841248"/>
          </a:xfrm>
          <a:prstGeom prst="rect">
            <a:avLst/>
          </a:prstGeom>
          <a:noFill/>
          <a:ln/>
        </p:spPr>
        <p:txBody>
          <a:bodyPr wrap="square" rtlCol="0" anchor="ctr"/>
          <a:lstStyle/>
          <a:p>
            <a:pPr indent="0" marL="0">
              <a:lnSpc>
                <a:spcPts val="1400"/>
              </a:lnSpc>
              <a:buNone/>
            </a:pPr>
            <a:r>
              <a:rPr lang="en-US" sz="1050" dirty="0">
                <a:solidFill>
                  <a:srgbClr val="5B6577"/>
                </a:solidFill>
                <a:latin typeface="Calibri" pitchFamily="34" charset="0"/>
                <a:ea typeface="Calibri" pitchFamily="34" charset="-122"/>
                <a:cs typeface="Calibri" pitchFamily="34" charset="-120"/>
              </a:rPr>
              <a:t>The constraint was never typing speed — it was understanding a system nobody had documented. AI compressed the comprehension step, which is what let a stalled migration move again.</a:t>
            </a:r>
            <a:endParaRPr lang="en-US" sz="1050" dirty="0"/>
          </a:p>
        </p:txBody>
      </p:sp>
      <p:sp>
        <p:nvSpPr>
          <p:cNvPr id="34" name="Shape 32"/>
          <p:cNvSpPr/>
          <p:nvPr/>
        </p:nvSpPr>
        <p:spPr>
          <a:xfrm>
            <a:off x="237744" y="5422392"/>
            <a:ext cx="11713464" cy="758952"/>
          </a:xfrm>
          <a:prstGeom prst="rect">
            <a:avLst/>
          </a:prstGeom>
          <a:solidFill>
            <a:srgbClr val="1A288E"/>
          </a:solidFill>
          <a:ln/>
        </p:spPr>
      </p:sp>
      <p:sp>
        <p:nvSpPr>
          <p:cNvPr id="35" name="Text 33"/>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SHAPE OF THE COLLABORATION</a:t>
            </a:r>
            <a:endParaRPr lang="en-US" sz="900" dirty="0"/>
          </a:p>
        </p:txBody>
      </p:sp>
      <p:sp>
        <p:nvSpPr>
          <p:cNvPr id="36" name="Text 34"/>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AI read, traced, counted and drafted; the team decided, verified and signed off — the division that kept speed from turning into risk</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METHOD · HOW WE GOT THERE</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Solution Derivation Path</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How a reported symptom became a shipped fix. The same path was walked for every defect — and the branch after step 4 separated a code fix from a data escalation</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38528"/>
            <a:ext cx="2807208" cy="54864"/>
          </a:xfrm>
          <a:prstGeom prst="rect">
            <a:avLst/>
          </a:prstGeom>
          <a:solidFill>
            <a:srgbClr val="1861F5"/>
          </a:solidFill>
          <a:ln/>
        </p:spPr>
      </p:sp>
      <p:sp>
        <p:nvSpPr>
          <p:cNvPr id="8" name="Shape 6"/>
          <p:cNvSpPr/>
          <p:nvPr/>
        </p:nvSpPr>
        <p:spPr>
          <a:xfrm>
            <a:off x="237744" y="1993392"/>
            <a:ext cx="2807208" cy="1572768"/>
          </a:xfrm>
          <a:prstGeom prst="rect">
            <a:avLst/>
          </a:prstGeom>
          <a:solidFill>
            <a:srgbClr val="F2F5FC"/>
          </a:solidFill>
          <a:ln/>
        </p:spPr>
      </p:sp>
      <p:sp>
        <p:nvSpPr>
          <p:cNvPr id="9" name="Text 7"/>
          <p:cNvSpPr/>
          <p:nvPr/>
        </p:nvSpPr>
        <p:spPr>
          <a:xfrm>
            <a:off x="402336" y="2084832"/>
            <a:ext cx="548640" cy="219456"/>
          </a:xfrm>
          <a:prstGeom prst="rect">
            <a:avLst/>
          </a:prstGeom>
          <a:noFill/>
          <a:ln/>
        </p:spPr>
        <p:txBody>
          <a:bodyPr wrap="square" rtlCol="0" anchor="ctr"/>
          <a:lstStyle/>
          <a:p>
            <a:pPr indent="0" marL="0">
              <a:buNone/>
            </a:pPr>
            <a:r>
              <a:rPr lang="en-US" sz="1100" b="1" dirty="0">
                <a:solidFill>
                  <a:srgbClr val="F96806"/>
                </a:solidFill>
                <a:latin typeface="Calibri" pitchFamily="34" charset="0"/>
                <a:ea typeface="Calibri" pitchFamily="34" charset="-122"/>
                <a:cs typeface="Calibri" pitchFamily="34" charset="-120"/>
              </a:rPr>
              <a:t>01</a:t>
            </a:r>
            <a:endParaRPr lang="en-US" sz="1100" dirty="0"/>
          </a:p>
        </p:txBody>
      </p:sp>
      <p:sp>
        <p:nvSpPr>
          <p:cNvPr id="10" name="Text 8"/>
          <p:cNvSpPr/>
          <p:nvPr/>
        </p:nvSpPr>
        <p:spPr>
          <a:xfrm>
            <a:off x="402336" y="2304288"/>
            <a:ext cx="2468880" cy="219456"/>
          </a:xfrm>
          <a:prstGeom prst="rect">
            <a:avLst/>
          </a:prstGeom>
          <a:noFill/>
          <a:ln/>
        </p:spPr>
        <p:txBody>
          <a:bodyPr wrap="square" rtlCol="0" anchor="ctr"/>
          <a:lstStyle/>
          <a:p>
            <a:pPr indent="0" marL="0">
              <a:buNone/>
            </a:pPr>
            <a:r>
              <a:rPr lang="en-US" sz="1050" b="1" spc="60" kern="0" dirty="0">
                <a:solidFill>
                  <a:srgbClr val="1A288E"/>
                </a:solidFill>
                <a:latin typeface="Calibri" pitchFamily="34" charset="0"/>
                <a:ea typeface="Calibri" pitchFamily="34" charset="-122"/>
                <a:cs typeface="Calibri" pitchFamily="34" charset="-120"/>
              </a:rPr>
              <a:t>SYMPTOM REPORTED</a:t>
            </a:r>
            <a:endParaRPr lang="en-US" sz="1050" dirty="0"/>
          </a:p>
        </p:txBody>
      </p:sp>
      <p:sp>
        <p:nvSpPr>
          <p:cNvPr id="11" name="Text 9"/>
          <p:cNvSpPr/>
          <p:nvPr/>
        </p:nvSpPr>
        <p:spPr>
          <a:xfrm>
            <a:off x="402336" y="2542032"/>
            <a:ext cx="2468880" cy="658368"/>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Client flags a variable below the 90% match threshold, or QC surfaces an all-zero column.</a:t>
            </a:r>
            <a:endParaRPr lang="en-US" sz="950" dirty="0"/>
          </a:p>
        </p:txBody>
      </p:sp>
      <p:sp>
        <p:nvSpPr>
          <p:cNvPr id="12" name="Shape 10"/>
          <p:cNvSpPr/>
          <p:nvPr/>
        </p:nvSpPr>
        <p:spPr>
          <a:xfrm>
            <a:off x="402336" y="3236976"/>
            <a:ext cx="2468880" cy="256032"/>
          </a:xfrm>
          <a:prstGeom prst="rect">
            <a:avLst/>
          </a:prstGeom>
          <a:solidFill>
            <a:srgbClr val="E3EAFB"/>
          </a:solidFill>
          <a:ln/>
        </p:spPr>
      </p:sp>
      <p:sp>
        <p:nvSpPr>
          <p:cNvPr id="13" name="Text 11"/>
          <p:cNvSpPr/>
          <p:nvPr/>
        </p:nvSpPr>
        <p:spPr>
          <a:xfrm>
            <a:off x="475488" y="3273552"/>
            <a:ext cx="2322576" cy="182880"/>
          </a:xfrm>
          <a:prstGeom prst="rect">
            <a:avLst/>
          </a:prstGeom>
          <a:noFill/>
          <a:ln/>
        </p:spPr>
        <p:txBody>
          <a:bodyPr wrap="square" rtlCol="0" anchor="ctr"/>
          <a:lstStyle/>
          <a:p>
            <a:pPr indent="0" marL="0">
              <a:buNone/>
            </a:pPr>
            <a:r>
              <a:rPr lang="en-US" sz="750" b="1" dirty="0">
                <a:solidFill>
                  <a:srgbClr val="113C75"/>
                </a:solidFill>
                <a:latin typeface="Calibri" pitchFamily="34" charset="0"/>
                <a:ea typeface="Calibri" pitchFamily="34" charset="-122"/>
                <a:cs typeface="Calibri" pitchFamily="34" charset="-120"/>
              </a:rPr>
              <a:t>Match-rate report · population census</a:t>
            </a:r>
            <a:endParaRPr lang="en-US" sz="750" dirty="0"/>
          </a:p>
        </p:txBody>
      </p:sp>
      <p:sp>
        <p:nvSpPr>
          <p:cNvPr id="14" name="Text 12"/>
          <p:cNvSpPr/>
          <p:nvPr/>
        </p:nvSpPr>
        <p:spPr>
          <a:xfrm>
            <a:off x="3063240" y="2651760"/>
            <a:ext cx="274320" cy="219456"/>
          </a:xfrm>
          <a:prstGeom prst="rect">
            <a:avLst/>
          </a:prstGeom>
          <a:noFill/>
          <a:ln/>
        </p:spPr>
        <p:txBody>
          <a:bodyPr wrap="square" rtlCol="0" anchor="ctr"/>
          <a:lstStyle/>
          <a:p>
            <a:pPr algn="ctr" indent="0" marL="0">
              <a:buNone/>
            </a:pPr>
            <a:r>
              <a:rPr lang="en-US" sz="1100" b="1" dirty="0">
                <a:solidFill>
                  <a:srgbClr val="1861F5"/>
                </a:solidFill>
                <a:latin typeface="Calibri" pitchFamily="34" charset="0"/>
                <a:ea typeface="Calibri" pitchFamily="34" charset="-122"/>
                <a:cs typeface="Calibri" pitchFamily="34" charset="-120"/>
              </a:rPr>
              <a:t>▶</a:t>
            </a:r>
            <a:endParaRPr lang="en-US" sz="1100" dirty="0"/>
          </a:p>
        </p:txBody>
      </p:sp>
      <p:sp>
        <p:nvSpPr>
          <p:cNvPr id="15" name="Shape 13"/>
          <p:cNvSpPr/>
          <p:nvPr/>
        </p:nvSpPr>
        <p:spPr>
          <a:xfrm>
            <a:off x="3209544" y="1938528"/>
            <a:ext cx="2807208" cy="54864"/>
          </a:xfrm>
          <a:prstGeom prst="rect">
            <a:avLst/>
          </a:prstGeom>
          <a:solidFill>
            <a:srgbClr val="1861F5"/>
          </a:solidFill>
          <a:ln/>
        </p:spPr>
      </p:sp>
      <p:sp>
        <p:nvSpPr>
          <p:cNvPr id="16" name="Shape 14"/>
          <p:cNvSpPr/>
          <p:nvPr/>
        </p:nvSpPr>
        <p:spPr>
          <a:xfrm>
            <a:off x="3209544" y="1993392"/>
            <a:ext cx="2807208" cy="1572768"/>
          </a:xfrm>
          <a:prstGeom prst="rect">
            <a:avLst/>
          </a:prstGeom>
          <a:solidFill>
            <a:srgbClr val="F2F5FC"/>
          </a:solidFill>
          <a:ln/>
        </p:spPr>
      </p:sp>
      <p:sp>
        <p:nvSpPr>
          <p:cNvPr id="17" name="Text 15"/>
          <p:cNvSpPr/>
          <p:nvPr/>
        </p:nvSpPr>
        <p:spPr>
          <a:xfrm>
            <a:off x="3374136" y="2084832"/>
            <a:ext cx="548640" cy="219456"/>
          </a:xfrm>
          <a:prstGeom prst="rect">
            <a:avLst/>
          </a:prstGeom>
          <a:noFill/>
          <a:ln/>
        </p:spPr>
        <p:txBody>
          <a:bodyPr wrap="square" rtlCol="0" anchor="ctr"/>
          <a:lstStyle/>
          <a:p>
            <a:pPr indent="0" marL="0">
              <a:buNone/>
            </a:pPr>
            <a:r>
              <a:rPr lang="en-US" sz="1100" b="1" dirty="0">
                <a:solidFill>
                  <a:srgbClr val="F96806"/>
                </a:solidFill>
                <a:latin typeface="Calibri" pitchFamily="34" charset="0"/>
                <a:ea typeface="Calibri" pitchFamily="34" charset="-122"/>
                <a:cs typeface="Calibri" pitchFamily="34" charset="-120"/>
              </a:rPr>
              <a:t>02</a:t>
            </a:r>
            <a:endParaRPr lang="en-US" sz="1100" dirty="0"/>
          </a:p>
        </p:txBody>
      </p:sp>
      <p:sp>
        <p:nvSpPr>
          <p:cNvPr id="18" name="Text 16"/>
          <p:cNvSpPr/>
          <p:nvPr/>
        </p:nvSpPr>
        <p:spPr>
          <a:xfrm>
            <a:off x="3374136" y="2304288"/>
            <a:ext cx="2468880" cy="219456"/>
          </a:xfrm>
          <a:prstGeom prst="rect">
            <a:avLst/>
          </a:prstGeom>
          <a:noFill/>
          <a:ln/>
        </p:spPr>
        <p:txBody>
          <a:bodyPr wrap="square" rtlCol="0" anchor="ctr"/>
          <a:lstStyle/>
          <a:p>
            <a:pPr indent="0" marL="0">
              <a:buNone/>
            </a:pPr>
            <a:r>
              <a:rPr lang="en-US" sz="1050" b="1" spc="60" kern="0" dirty="0">
                <a:solidFill>
                  <a:srgbClr val="1A288E"/>
                </a:solidFill>
                <a:latin typeface="Calibri" pitchFamily="34" charset="0"/>
                <a:ea typeface="Calibri" pitchFamily="34" charset="-122"/>
                <a:cs typeface="Calibri" pitchFamily="34" charset="-120"/>
              </a:rPr>
              <a:t>CLASSIFY THE FAULT</a:t>
            </a:r>
            <a:endParaRPr lang="en-US" sz="1050" dirty="0"/>
          </a:p>
        </p:txBody>
      </p:sp>
      <p:sp>
        <p:nvSpPr>
          <p:cNvPr id="19" name="Text 17"/>
          <p:cNvSpPr/>
          <p:nvPr/>
        </p:nvSpPr>
        <p:spPr>
          <a:xfrm>
            <a:off x="3374136" y="2542032"/>
            <a:ext cx="2468880" cy="658368"/>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Absent, zero-filled or understated? Each implies a different test; choosing wrongly wastes the next two steps.</a:t>
            </a:r>
            <a:endParaRPr lang="en-US" sz="950" dirty="0"/>
          </a:p>
        </p:txBody>
      </p:sp>
      <p:sp>
        <p:nvSpPr>
          <p:cNvPr id="20" name="Shape 18"/>
          <p:cNvSpPr/>
          <p:nvPr/>
        </p:nvSpPr>
        <p:spPr>
          <a:xfrm>
            <a:off x="3374136" y="3236976"/>
            <a:ext cx="2468880" cy="256032"/>
          </a:xfrm>
          <a:prstGeom prst="rect">
            <a:avLst/>
          </a:prstGeom>
          <a:solidFill>
            <a:srgbClr val="E3EAFB"/>
          </a:solidFill>
          <a:ln/>
        </p:spPr>
      </p:sp>
      <p:sp>
        <p:nvSpPr>
          <p:cNvPr id="21" name="Text 19"/>
          <p:cNvSpPr/>
          <p:nvPr/>
        </p:nvSpPr>
        <p:spPr>
          <a:xfrm>
            <a:off x="3447288" y="3273552"/>
            <a:ext cx="2322576" cy="182880"/>
          </a:xfrm>
          <a:prstGeom prst="rect">
            <a:avLst/>
          </a:prstGeom>
          <a:noFill/>
          <a:ln/>
        </p:spPr>
        <p:txBody>
          <a:bodyPr wrap="square" rtlCol="0" anchor="ctr"/>
          <a:lstStyle/>
          <a:p>
            <a:pPr indent="0" marL="0">
              <a:buNone/>
            </a:pPr>
            <a:r>
              <a:rPr lang="en-US" sz="750" b="1" dirty="0">
                <a:solidFill>
                  <a:srgbClr val="113C75"/>
                </a:solidFill>
                <a:latin typeface="Calibri" pitchFamily="34" charset="0"/>
                <a:ea typeface="Calibri" pitchFamily="34" charset="-122"/>
                <a:cs typeface="Calibri" pitchFamily="34" charset="-120"/>
              </a:rPr>
              <a:t>Log scan · value distribution</a:t>
            </a:r>
            <a:endParaRPr lang="en-US" sz="750" dirty="0"/>
          </a:p>
        </p:txBody>
      </p:sp>
      <p:sp>
        <p:nvSpPr>
          <p:cNvPr id="22" name="Text 20"/>
          <p:cNvSpPr/>
          <p:nvPr/>
        </p:nvSpPr>
        <p:spPr>
          <a:xfrm>
            <a:off x="6035040" y="2651760"/>
            <a:ext cx="274320" cy="219456"/>
          </a:xfrm>
          <a:prstGeom prst="rect">
            <a:avLst/>
          </a:prstGeom>
          <a:noFill/>
          <a:ln/>
        </p:spPr>
        <p:txBody>
          <a:bodyPr wrap="square" rtlCol="0" anchor="ctr"/>
          <a:lstStyle/>
          <a:p>
            <a:pPr algn="ctr" indent="0" marL="0">
              <a:buNone/>
            </a:pPr>
            <a:r>
              <a:rPr lang="en-US" sz="1100" b="1" dirty="0">
                <a:solidFill>
                  <a:srgbClr val="1861F5"/>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6181344" y="1938528"/>
            <a:ext cx="2807208" cy="54864"/>
          </a:xfrm>
          <a:prstGeom prst="rect">
            <a:avLst/>
          </a:prstGeom>
          <a:solidFill>
            <a:srgbClr val="1861F5"/>
          </a:solidFill>
          <a:ln/>
        </p:spPr>
      </p:sp>
      <p:sp>
        <p:nvSpPr>
          <p:cNvPr id="24" name="Shape 22"/>
          <p:cNvSpPr/>
          <p:nvPr/>
        </p:nvSpPr>
        <p:spPr>
          <a:xfrm>
            <a:off x="6181344" y="1993392"/>
            <a:ext cx="2807208" cy="1572768"/>
          </a:xfrm>
          <a:prstGeom prst="rect">
            <a:avLst/>
          </a:prstGeom>
          <a:solidFill>
            <a:srgbClr val="F2F5FC"/>
          </a:solidFill>
          <a:ln/>
        </p:spPr>
      </p:sp>
      <p:sp>
        <p:nvSpPr>
          <p:cNvPr id="25" name="Text 23"/>
          <p:cNvSpPr/>
          <p:nvPr/>
        </p:nvSpPr>
        <p:spPr>
          <a:xfrm>
            <a:off x="6345936" y="2084832"/>
            <a:ext cx="548640" cy="219456"/>
          </a:xfrm>
          <a:prstGeom prst="rect">
            <a:avLst/>
          </a:prstGeom>
          <a:noFill/>
          <a:ln/>
        </p:spPr>
        <p:txBody>
          <a:bodyPr wrap="square" rtlCol="0" anchor="ctr"/>
          <a:lstStyle/>
          <a:p>
            <a:pPr indent="0" marL="0">
              <a:buNone/>
            </a:pPr>
            <a:r>
              <a:rPr lang="en-US" sz="1100" b="1" dirty="0">
                <a:solidFill>
                  <a:srgbClr val="F96806"/>
                </a:solidFill>
                <a:latin typeface="Calibri" pitchFamily="34" charset="0"/>
                <a:ea typeface="Calibri" pitchFamily="34" charset="-122"/>
                <a:cs typeface="Calibri" pitchFamily="34" charset="-120"/>
              </a:rPr>
              <a:t>03</a:t>
            </a:r>
            <a:endParaRPr lang="en-US" sz="1100" dirty="0"/>
          </a:p>
        </p:txBody>
      </p:sp>
      <p:sp>
        <p:nvSpPr>
          <p:cNvPr id="26" name="Text 24"/>
          <p:cNvSpPr/>
          <p:nvPr/>
        </p:nvSpPr>
        <p:spPr>
          <a:xfrm>
            <a:off x="6345936" y="2304288"/>
            <a:ext cx="2468880" cy="219456"/>
          </a:xfrm>
          <a:prstGeom prst="rect">
            <a:avLst/>
          </a:prstGeom>
          <a:noFill/>
          <a:ln/>
        </p:spPr>
        <p:txBody>
          <a:bodyPr wrap="square" rtlCol="0" anchor="ctr"/>
          <a:lstStyle/>
          <a:p>
            <a:pPr indent="0" marL="0">
              <a:buNone/>
            </a:pPr>
            <a:r>
              <a:rPr lang="en-US" sz="1050" b="1" spc="60" kern="0" dirty="0">
                <a:solidFill>
                  <a:srgbClr val="1A288E"/>
                </a:solidFill>
                <a:latin typeface="Calibri" pitchFamily="34" charset="0"/>
                <a:ea typeface="Calibri" pitchFamily="34" charset="-122"/>
                <a:cs typeface="Calibri" pitchFamily="34" charset="-120"/>
              </a:rPr>
              <a:t>READ THE EMITTED SQL</a:t>
            </a:r>
            <a:endParaRPr lang="en-US" sz="1050" dirty="0"/>
          </a:p>
        </p:txBody>
      </p:sp>
      <p:sp>
        <p:nvSpPr>
          <p:cNvPr id="27" name="Text 25"/>
          <p:cNvSpPr/>
          <p:nvPr/>
        </p:nvSpPr>
        <p:spPr>
          <a:xfrm>
            <a:off x="6345936" y="2542032"/>
            <a:ext cx="2468880" cy="658368"/>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Pull the generated predicate from the run log. What the engine sent is rarely what the source appears to say.</a:t>
            </a:r>
            <a:endParaRPr lang="en-US" sz="950" dirty="0"/>
          </a:p>
        </p:txBody>
      </p:sp>
      <p:sp>
        <p:nvSpPr>
          <p:cNvPr id="28" name="Shape 26"/>
          <p:cNvSpPr/>
          <p:nvPr/>
        </p:nvSpPr>
        <p:spPr>
          <a:xfrm>
            <a:off x="6345936" y="3236976"/>
            <a:ext cx="2468880" cy="256032"/>
          </a:xfrm>
          <a:prstGeom prst="rect">
            <a:avLst/>
          </a:prstGeom>
          <a:solidFill>
            <a:srgbClr val="E3EAFB"/>
          </a:solidFill>
          <a:ln/>
        </p:spPr>
      </p:sp>
      <p:sp>
        <p:nvSpPr>
          <p:cNvPr id="29" name="Text 27"/>
          <p:cNvSpPr/>
          <p:nvPr/>
        </p:nvSpPr>
        <p:spPr>
          <a:xfrm>
            <a:off x="6419088" y="3273552"/>
            <a:ext cx="2322576" cy="182880"/>
          </a:xfrm>
          <a:prstGeom prst="rect">
            <a:avLst/>
          </a:prstGeom>
          <a:noFill/>
          <a:ln/>
        </p:spPr>
        <p:txBody>
          <a:bodyPr wrap="square" rtlCol="0" anchor="ctr"/>
          <a:lstStyle/>
          <a:p>
            <a:pPr indent="0" marL="0">
              <a:buNone/>
            </a:pPr>
            <a:r>
              <a:rPr lang="en-US" sz="750" b="1" dirty="0">
                <a:solidFill>
                  <a:srgbClr val="113C75"/>
                </a:solidFill>
                <a:latin typeface="Calibri" pitchFamily="34" charset="0"/>
                <a:ea typeface="Calibri" pitchFamily="34" charset="-122"/>
                <a:cs typeface="Calibri" pitchFamily="34" charset="-120"/>
              </a:rPr>
              <a:t>Run log · macro trace</a:t>
            </a:r>
            <a:endParaRPr lang="en-US" sz="750" dirty="0"/>
          </a:p>
        </p:txBody>
      </p:sp>
      <p:sp>
        <p:nvSpPr>
          <p:cNvPr id="30" name="Text 28"/>
          <p:cNvSpPr/>
          <p:nvPr/>
        </p:nvSpPr>
        <p:spPr>
          <a:xfrm>
            <a:off x="9006840" y="2651760"/>
            <a:ext cx="274320" cy="219456"/>
          </a:xfrm>
          <a:prstGeom prst="rect">
            <a:avLst/>
          </a:prstGeom>
          <a:noFill/>
          <a:ln/>
        </p:spPr>
        <p:txBody>
          <a:bodyPr wrap="square" rtlCol="0" anchor="ctr"/>
          <a:lstStyle/>
          <a:p>
            <a:pPr algn="ctr" indent="0" marL="0">
              <a:buNone/>
            </a:pPr>
            <a:r>
              <a:rPr lang="en-US" sz="1100" b="1" dirty="0">
                <a:solidFill>
                  <a:srgbClr val="1861F5"/>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9153144" y="1938528"/>
            <a:ext cx="2807208" cy="54864"/>
          </a:xfrm>
          <a:prstGeom prst="rect">
            <a:avLst/>
          </a:prstGeom>
          <a:solidFill>
            <a:srgbClr val="1861F5"/>
          </a:solidFill>
          <a:ln/>
        </p:spPr>
      </p:sp>
      <p:sp>
        <p:nvSpPr>
          <p:cNvPr id="32" name="Shape 30"/>
          <p:cNvSpPr/>
          <p:nvPr/>
        </p:nvSpPr>
        <p:spPr>
          <a:xfrm>
            <a:off x="9153144" y="1993392"/>
            <a:ext cx="2807208" cy="1572768"/>
          </a:xfrm>
          <a:prstGeom prst="rect">
            <a:avLst/>
          </a:prstGeom>
          <a:solidFill>
            <a:srgbClr val="F2F5FC"/>
          </a:solidFill>
          <a:ln/>
        </p:spPr>
      </p:sp>
      <p:sp>
        <p:nvSpPr>
          <p:cNvPr id="33" name="Text 31"/>
          <p:cNvSpPr/>
          <p:nvPr/>
        </p:nvSpPr>
        <p:spPr>
          <a:xfrm>
            <a:off x="9317736" y="2084832"/>
            <a:ext cx="548640" cy="219456"/>
          </a:xfrm>
          <a:prstGeom prst="rect">
            <a:avLst/>
          </a:prstGeom>
          <a:noFill/>
          <a:ln/>
        </p:spPr>
        <p:txBody>
          <a:bodyPr wrap="square" rtlCol="0" anchor="ctr"/>
          <a:lstStyle/>
          <a:p>
            <a:pPr indent="0" marL="0">
              <a:buNone/>
            </a:pPr>
            <a:r>
              <a:rPr lang="en-US" sz="1100" b="1" dirty="0">
                <a:solidFill>
                  <a:srgbClr val="F96806"/>
                </a:solidFill>
                <a:latin typeface="Calibri" pitchFamily="34" charset="0"/>
                <a:ea typeface="Calibri" pitchFamily="34" charset="-122"/>
                <a:cs typeface="Calibri" pitchFamily="34" charset="-120"/>
              </a:rPr>
              <a:t>04</a:t>
            </a:r>
            <a:endParaRPr lang="en-US" sz="1100" dirty="0"/>
          </a:p>
        </p:txBody>
      </p:sp>
      <p:sp>
        <p:nvSpPr>
          <p:cNvPr id="34" name="Text 32"/>
          <p:cNvSpPr/>
          <p:nvPr/>
        </p:nvSpPr>
        <p:spPr>
          <a:xfrm>
            <a:off x="9317736" y="2304288"/>
            <a:ext cx="2468880" cy="219456"/>
          </a:xfrm>
          <a:prstGeom prst="rect">
            <a:avLst/>
          </a:prstGeom>
          <a:noFill/>
          <a:ln/>
        </p:spPr>
        <p:txBody>
          <a:bodyPr wrap="square" rtlCol="0" anchor="ctr"/>
          <a:lstStyle/>
          <a:p>
            <a:pPr indent="0" marL="0">
              <a:buNone/>
            </a:pPr>
            <a:r>
              <a:rPr lang="en-US" sz="1050" b="1" spc="60" kern="0" dirty="0">
                <a:solidFill>
                  <a:srgbClr val="1A288E"/>
                </a:solidFill>
                <a:latin typeface="Calibri" pitchFamily="34" charset="0"/>
                <a:ea typeface="Calibri" pitchFamily="34" charset="-122"/>
                <a:cs typeface="Calibri" pitchFamily="34" charset="-120"/>
              </a:rPr>
              <a:t>PROFILE THE SOURCE</a:t>
            </a:r>
            <a:endParaRPr lang="en-US" sz="1050" dirty="0"/>
          </a:p>
        </p:txBody>
      </p:sp>
      <p:sp>
        <p:nvSpPr>
          <p:cNvPr id="35" name="Text 33"/>
          <p:cNvSpPr/>
          <p:nvPr/>
        </p:nvSpPr>
        <p:spPr>
          <a:xfrm>
            <a:off x="9317736" y="2542032"/>
            <a:ext cx="2468880" cy="658368"/>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Query the CDP directly — is the column populated, do the keys share a domain, do the filter values exist?</a:t>
            </a:r>
            <a:endParaRPr lang="en-US" sz="950" dirty="0"/>
          </a:p>
        </p:txBody>
      </p:sp>
      <p:sp>
        <p:nvSpPr>
          <p:cNvPr id="36" name="Shape 34"/>
          <p:cNvSpPr/>
          <p:nvPr/>
        </p:nvSpPr>
        <p:spPr>
          <a:xfrm>
            <a:off x="9317736" y="3236976"/>
            <a:ext cx="2468880" cy="256032"/>
          </a:xfrm>
          <a:prstGeom prst="rect">
            <a:avLst/>
          </a:prstGeom>
          <a:solidFill>
            <a:srgbClr val="E3EAFB"/>
          </a:solidFill>
          <a:ln/>
        </p:spPr>
      </p:sp>
      <p:sp>
        <p:nvSpPr>
          <p:cNvPr id="37" name="Text 35"/>
          <p:cNvSpPr/>
          <p:nvPr/>
        </p:nvSpPr>
        <p:spPr>
          <a:xfrm>
            <a:off x="9390888" y="3273552"/>
            <a:ext cx="2322576" cy="182880"/>
          </a:xfrm>
          <a:prstGeom prst="rect">
            <a:avLst/>
          </a:prstGeom>
          <a:noFill/>
          <a:ln/>
        </p:spPr>
        <p:txBody>
          <a:bodyPr wrap="square" rtlCol="0" anchor="ctr"/>
          <a:lstStyle/>
          <a:p>
            <a:pPr indent="0" marL="0">
              <a:buNone/>
            </a:pPr>
            <a:r>
              <a:rPr lang="en-US" sz="750" b="1" dirty="0">
                <a:solidFill>
                  <a:srgbClr val="113C75"/>
                </a:solidFill>
                <a:latin typeface="Calibri" pitchFamily="34" charset="0"/>
                <a:ea typeface="Calibri" pitchFamily="34" charset="-122"/>
                <a:cs typeface="Calibri" pitchFamily="34" charset="-120"/>
              </a:rPr>
              <a:t>Read-only probe</a:t>
            </a:r>
            <a:endParaRPr lang="en-US" sz="750" dirty="0"/>
          </a:p>
        </p:txBody>
      </p:sp>
      <p:sp>
        <p:nvSpPr>
          <p:cNvPr id="38" name="Text 36"/>
          <p:cNvSpPr/>
          <p:nvPr/>
        </p:nvSpPr>
        <p:spPr>
          <a:xfrm>
            <a:off x="237744" y="3712464"/>
            <a:ext cx="11713464" cy="219456"/>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STEP 05  ·  THE BRANCH THAT DECIDES EVERYTHING AFTER IT</a:t>
            </a:r>
            <a:endParaRPr lang="en-US" sz="950" dirty="0"/>
          </a:p>
        </p:txBody>
      </p:sp>
      <p:sp>
        <p:nvSpPr>
          <p:cNvPr id="39" name="Shape 37"/>
          <p:cNvSpPr/>
          <p:nvPr/>
        </p:nvSpPr>
        <p:spPr>
          <a:xfrm>
            <a:off x="237744" y="3986784"/>
            <a:ext cx="50292" cy="1261872"/>
          </a:xfrm>
          <a:prstGeom prst="rect">
            <a:avLst/>
          </a:prstGeom>
          <a:solidFill>
            <a:srgbClr val="2C8A4B"/>
          </a:solidFill>
          <a:ln/>
        </p:spPr>
      </p:sp>
      <p:sp>
        <p:nvSpPr>
          <p:cNvPr id="40" name="Shape 38"/>
          <p:cNvSpPr/>
          <p:nvPr/>
        </p:nvSpPr>
        <p:spPr>
          <a:xfrm>
            <a:off x="288036" y="3986784"/>
            <a:ext cx="5609844" cy="1261872"/>
          </a:xfrm>
          <a:prstGeom prst="rect">
            <a:avLst/>
          </a:prstGeom>
          <a:solidFill>
            <a:srgbClr val="F2F5FC"/>
          </a:solidFill>
          <a:ln/>
        </p:spPr>
      </p:sp>
      <p:sp>
        <p:nvSpPr>
          <p:cNvPr id="41" name="Text 39"/>
          <p:cNvSpPr/>
          <p:nvPr/>
        </p:nvSpPr>
        <p:spPr>
          <a:xfrm>
            <a:off x="438912" y="4041648"/>
            <a:ext cx="5294376"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SOURCE HAS THE DATA  →  CODE FIX</a:t>
            </a:r>
            <a:endParaRPr lang="en-US" sz="1100" dirty="0"/>
          </a:p>
        </p:txBody>
      </p:sp>
      <p:sp>
        <p:nvSpPr>
          <p:cNvPr id="42" name="Text 40"/>
          <p:cNvSpPr/>
          <p:nvPr/>
        </p:nvSpPr>
        <p:spPr>
          <a:xfrm>
            <a:off x="438912" y="4270248"/>
            <a:ext cx="5294376" cy="932688"/>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Correct the shared generator, never the individual variable. Re-run on the small test audience, confirm by value — not by absence of errors — and only then promote to the full population.</a:t>
            </a:r>
            <a:endParaRPr lang="en-US" sz="950" dirty="0"/>
          </a:p>
        </p:txBody>
      </p:sp>
      <p:sp>
        <p:nvSpPr>
          <p:cNvPr id="43" name="Shape 41"/>
          <p:cNvSpPr/>
          <p:nvPr/>
        </p:nvSpPr>
        <p:spPr>
          <a:xfrm>
            <a:off x="6126480" y="3986784"/>
            <a:ext cx="50292" cy="1261872"/>
          </a:xfrm>
          <a:prstGeom prst="rect">
            <a:avLst/>
          </a:prstGeom>
          <a:solidFill>
            <a:srgbClr val="B3261E"/>
          </a:solidFill>
          <a:ln/>
        </p:spPr>
      </p:sp>
      <p:sp>
        <p:nvSpPr>
          <p:cNvPr id="44" name="Shape 42"/>
          <p:cNvSpPr/>
          <p:nvPr/>
        </p:nvSpPr>
        <p:spPr>
          <a:xfrm>
            <a:off x="6176772" y="3986784"/>
            <a:ext cx="5774436" cy="1261872"/>
          </a:xfrm>
          <a:prstGeom prst="rect">
            <a:avLst/>
          </a:prstGeom>
          <a:solidFill>
            <a:srgbClr val="F2F5FC"/>
          </a:solidFill>
          <a:ln/>
        </p:spPr>
      </p:sp>
      <p:sp>
        <p:nvSpPr>
          <p:cNvPr id="45" name="Text 43"/>
          <p:cNvSpPr/>
          <p:nvPr/>
        </p:nvSpPr>
        <p:spPr>
          <a:xfrm>
            <a:off x="6327648" y="4041648"/>
            <a:ext cx="5458968"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SOURCE IS EMPTY  →  DATA ESCALATION</a:t>
            </a:r>
            <a:endParaRPr lang="en-US" sz="1100" dirty="0"/>
          </a:p>
        </p:txBody>
      </p:sp>
      <p:sp>
        <p:nvSpPr>
          <p:cNvPr id="46" name="Text 44"/>
          <p:cNvSpPr/>
          <p:nvPr/>
        </p:nvSpPr>
        <p:spPr>
          <a:xfrm>
            <a:off x="6327648" y="4270248"/>
            <a:ext cx="5458968" cy="932688"/>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Evidence the gap at source, confirm the variable populates in legacy, and hand it to the platform team as a data-availability item with a proposed resolution and an owner.</a:t>
            </a:r>
            <a:endParaRPr lang="en-US" sz="950" dirty="0"/>
          </a:p>
        </p:txBody>
      </p:sp>
      <p:sp>
        <p:nvSpPr>
          <p:cNvPr id="47" name="Shape 45"/>
          <p:cNvSpPr/>
          <p:nvPr/>
        </p:nvSpPr>
        <p:spPr>
          <a:xfrm>
            <a:off x="237744" y="5422392"/>
            <a:ext cx="11713464" cy="758952"/>
          </a:xfrm>
          <a:prstGeom prst="rect">
            <a:avLst/>
          </a:prstGeom>
          <a:solidFill>
            <a:srgbClr val="1A288E"/>
          </a:solidFill>
          <a:ln/>
        </p:spPr>
      </p:sp>
      <p:sp>
        <p:nvSpPr>
          <p:cNvPr id="48" name="Text 46"/>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WHY THE PATH MATTERED MORE THAN ANY SINGLE FIX</a:t>
            </a:r>
            <a:endParaRPr lang="en-US" sz="900" dirty="0"/>
          </a:p>
        </p:txBody>
      </p:sp>
      <p:sp>
        <p:nvSpPr>
          <p:cNvPr id="49" name="Text 47"/>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Walked end-to-end, it turned three proposed rebuilds into one-line corrections and routed true data gaps to the team that could close them — the route that ended at 475 of 475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METHOD · DIAGNOSE BEFORE YOU FIX</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From Symptom to Root Cause to Fix</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Variables failing silently cannot be fixed by reading code. Every defect went through the same four steps — and step three repeatedly overturned the obvious explanation</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2011680"/>
            <a:ext cx="50292" cy="749808"/>
          </a:xfrm>
          <a:prstGeom prst="rect">
            <a:avLst/>
          </a:prstGeom>
          <a:solidFill>
            <a:srgbClr val="1A288E"/>
          </a:solidFill>
          <a:ln/>
        </p:spPr>
      </p:sp>
      <p:sp>
        <p:nvSpPr>
          <p:cNvPr id="8" name="Shape 6"/>
          <p:cNvSpPr/>
          <p:nvPr/>
        </p:nvSpPr>
        <p:spPr>
          <a:xfrm>
            <a:off x="288036" y="2011680"/>
            <a:ext cx="5760720" cy="749808"/>
          </a:xfrm>
          <a:prstGeom prst="rect">
            <a:avLst/>
          </a:prstGeom>
          <a:solidFill>
            <a:srgbClr val="F2F5FC"/>
          </a:solidFill>
          <a:ln/>
        </p:spPr>
      </p:sp>
      <p:sp>
        <p:nvSpPr>
          <p:cNvPr id="9" name="Text 7"/>
          <p:cNvSpPr/>
          <p:nvPr/>
        </p:nvSpPr>
        <p:spPr>
          <a:xfrm>
            <a:off x="438912" y="2130552"/>
            <a:ext cx="457200" cy="219456"/>
          </a:xfrm>
          <a:prstGeom prst="rect">
            <a:avLst/>
          </a:prstGeom>
          <a:noFill/>
          <a:ln/>
        </p:spPr>
        <p:txBody>
          <a:bodyPr wrap="square" rtlCol="0" anchor="ctr"/>
          <a:lstStyle/>
          <a:p>
            <a:pPr indent="0" marL="0">
              <a:buNone/>
            </a:pPr>
            <a:r>
              <a:rPr lang="en-US" sz="1000" b="1" dirty="0">
                <a:solidFill>
                  <a:srgbClr val="1A288E"/>
                </a:solidFill>
                <a:latin typeface="Calibri" pitchFamily="34" charset="0"/>
                <a:ea typeface="Calibri" pitchFamily="34" charset="-122"/>
                <a:cs typeface="Calibri" pitchFamily="34" charset="-120"/>
              </a:rPr>
              <a:t>01</a:t>
            </a:r>
            <a:endParaRPr lang="en-US" sz="1000" dirty="0"/>
          </a:p>
        </p:txBody>
      </p:sp>
      <p:sp>
        <p:nvSpPr>
          <p:cNvPr id="10" name="Text 8"/>
          <p:cNvSpPr/>
          <p:nvPr/>
        </p:nvSpPr>
        <p:spPr>
          <a:xfrm>
            <a:off x="923544" y="2084832"/>
            <a:ext cx="5029200" cy="228600"/>
          </a:xfrm>
          <a:prstGeom prst="rect">
            <a:avLst/>
          </a:prstGeom>
          <a:noFill/>
          <a:ln/>
        </p:spPr>
        <p:txBody>
          <a:bodyPr wrap="square" rtlCol="0" anchor="ctr"/>
          <a:lstStyle/>
          <a:p>
            <a:pPr indent="0" marL="0">
              <a:buNone/>
            </a:pPr>
            <a:r>
              <a:rPr lang="en-US" sz="1150" b="1" dirty="0">
                <a:solidFill>
                  <a:srgbClr val="1A288E"/>
                </a:solidFill>
                <a:latin typeface="Calibri" pitchFamily="34" charset="0"/>
                <a:ea typeface="Calibri" pitchFamily="34" charset="-122"/>
                <a:cs typeface="Calibri" pitchFamily="34" charset="-120"/>
              </a:rPr>
              <a:t>Classify the symptom</a:t>
            </a:r>
            <a:endParaRPr lang="en-US" sz="1150" dirty="0"/>
          </a:p>
        </p:txBody>
      </p:sp>
      <p:sp>
        <p:nvSpPr>
          <p:cNvPr id="11" name="Text 9"/>
          <p:cNvSpPr/>
          <p:nvPr/>
        </p:nvSpPr>
        <p:spPr>
          <a:xfrm>
            <a:off x="923544" y="2322576"/>
            <a:ext cx="5029200" cy="402336"/>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Absent, all-zero or populated-but-wrong are three different faults, each needing a different test.</a:t>
            </a:r>
            <a:endParaRPr lang="en-US" sz="950" dirty="0"/>
          </a:p>
        </p:txBody>
      </p:sp>
      <p:sp>
        <p:nvSpPr>
          <p:cNvPr id="12" name="Shape 10"/>
          <p:cNvSpPr/>
          <p:nvPr/>
        </p:nvSpPr>
        <p:spPr>
          <a:xfrm>
            <a:off x="237744" y="2834640"/>
            <a:ext cx="50292" cy="749808"/>
          </a:xfrm>
          <a:prstGeom prst="rect">
            <a:avLst/>
          </a:prstGeom>
          <a:solidFill>
            <a:srgbClr val="1A288E"/>
          </a:solidFill>
          <a:ln/>
        </p:spPr>
      </p:sp>
      <p:sp>
        <p:nvSpPr>
          <p:cNvPr id="13" name="Shape 11"/>
          <p:cNvSpPr/>
          <p:nvPr/>
        </p:nvSpPr>
        <p:spPr>
          <a:xfrm>
            <a:off x="288036" y="2834640"/>
            <a:ext cx="5760720" cy="749808"/>
          </a:xfrm>
          <a:prstGeom prst="rect">
            <a:avLst/>
          </a:prstGeom>
          <a:solidFill>
            <a:srgbClr val="F2F5FC"/>
          </a:solidFill>
          <a:ln/>
        </p:spPr>
      </p:sp>
      <p:sp>
        <p:nvSpPr>
          <p:cNvPr id="14" name="Text 12"/>
          <p:cNvSpPr/>
          <p:nvPr/>
        </p:nvSpPr>
        <p:spPr>
          <a:xfrm>
            <a:off x="438912" y="2953512"/>
            <a:ext cx="457200" cy="219456"/>
          </a:xfrm>
          <a:prstGeom prst="rect">
            <a:avLst/>
          </a:prstGeom>
          <a:noFill/>
          <a:ln/>
        </p:spPr>
        <p:txBody>
          <a:bodyPr wrap="square" rtlCol="0" anchor="ctr"/>
          <a:lstStyle/>
          <a:p>
            <a:pPr indent="0" marL="0">
              <a:buNone/>
            </a:pPr>
            <a:r>
              <a:rPr lang="en-US" sz="1000" b="1" dirty="0">
                <a:solidFill>
                  <a:srgbClr val="1A288E"/>
                </a:solidFill>
                <a:latin typeface="Calibri" pitchFamily="34" charset="0"/>
                <a:ea typeface="Calibri" pitchFamily="34" charset="-122"/>
                <a:cs typeface="Calibri" pitchFamily="34" charset="-120"/>
              </a:rPr>
              <a:t>02</a:t>
            </a:r>
            <a:endParaRPr lang="en-US" sz="1000" dirty="0"/>
          </a:p>
        </p:txBody>
      </p:sp>
      <p:sp>
        <p:nvSpPr>
          <p:cNvPr id="15" name="Text 13"/>
          <p:cNvSpPr/>
          <p:nvPr/>
        </p:nvSpPr>
        <p:spPr>
          <a:xfrm>
            <a:off x="923544" y="2907792"/>
            <a:ext cx="5029200" cy="228600"/>
          </a:xfrm>
          <a:prstGeom prst="rect">
            <a:avLst/>
          </a:prstGeom>
          <a:noFill/>
          <a:ln/>
        </p:spPr>
        <p:txBody>
          <a:bodyPr wrap="square" rtlCol="0" anchor="ctr"/>
          <a:lstStyle/>
          <a:p>
            <a:pPr indent="0" marL="0">
              <a:buNone/>
            </a:pPr>
            <a:r>
              <a:rPr lang="en-US" sz="1150" b="1" dirty="0">
                <a:solidFill>
                  <a:srgbClr val="1A288E"/>
                </a:solidFill>
                <a:latin typeface="Calibri" pitchFamily="34" charset="0"/>
                <a:ea typeface="Calibri" pitchFamily="34" charset="-122"/>
                <a:cs typeface="Calibri" pitchFamily="34" charset="-120"/>
              </a:rPr>
              <a:t>Isolate the emitted SQL</a:t>
            </a:r>
            <a:endParaRPr lang="en-US" sz="1150" dirty="0"/>
          </a:p>
        </p:txBody>
      </p:sp>
      <p:sp>
        <p:nvSpPr>
          <p:cNvPr id="16" name="Text 14"/>
          <p:cNvSpPr/>
          <p:nvPr/>
        </p:nvSpPr>
        <p:spPr>
          <a:xfrm>
            <a:off x="923544" y="3145536"/>
            <a:ext cx="5029200" cy="402336"/>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Read what the engine actually sent, not what the source appears to say. The emitted predicate is the evidence.</a:t>
            </a:r>
            <a:endParaRPr lang="en-US" sz="950" dirty="0"/>
          </a:p>
        </p:txBody>
      </p:sp>
      <p:sp>
        <p:nvSpPr>
          <p:cNvPr id="17" name="Shape 15"/>
          <p:cNvSpPr/>
          <p:nvPr/>
        </p:nvSpPr>
        <p:spPr>
          <a:xfrm>
            <a:off x="237744" y="3657600"/>
            <a:ext cx="50292" cy="749808"/>
          </a:xfrm>
          <a:prstGeom prst="rect">
            <a:avLst/>
          </a:prstGeom>
          <a:solidFill>
            <a:srgbClr val="F96806"/>
          </a:solidFill>
          <a:ln/>
        </p:spPr>
      </p:sp>
      <p:sp>
        <p:nvSpPr>
          <p:cNvPr id="18" name="Shape 16"/>
          <p:cNvSpPr/>
          <p:nvPr/>
        </p:nvSpPr>
        <p:spPr>
          <a:xfrm>
            <a:off x="288036" y="3657600"/>
            <a:ext cx="5760720" cy="749808"/>
          </a:xfrm>
          <a:prstGeom prst="rect">
            <a:avLst/>
          </a:prstGeom>
          <a:solidFill>
            <a:srgbClr val="F2F5FC"/>
          </a:solidFill>
          <a:ln/>
        </p:spPr>
      </p:sp>
      <p:sp>
        <p:nvSpPr>
          <p:cNvPr id="19" name="Text 17"/>
          <p:cNvSpPr/>
          <p:nvPr/>
        </p:nvSpPr>
        <p:spPr>
          <a:xfrm>
            <a:off x="438912" y="3776472"/>
            <a:ext cx="457200" cy="219456"/>
          </a:xfrm>
          <a:prstGeom prst="rect">
            <a:avLst/>
          </a:prstGeom>
          <a:noFill/>
          <a:ln/>
        </p:spPr>
        <p:txBody>
          <a:bodyPr wrap="square" rtlCol="0" anchor="ctr"/>
          <a:lstStyle/>
          <a:p>
            <a:pPr indent="0" marL="0">
              <a:buNone/>
            </a:pPr>
            <a:r>
              <a:rPr lang="en-US" sz="1000" b="1" dirty="0">
                <a:solidFill>
                  <a:srgbClr val="F96806"/>
                </a:solidFill>
                <a:latin typeface="Calibri" pitchFamily="34" charset="0"/>
                <a:ea typeface="Calibri" pitchFamily="34" charset="-122"/>
                <a:cs typeface="Calibri" pitchFamily="34" charset="-120"/>
              </a:rPr>
              <a:t>03</a:t>
            </a:r>
            <a:endParaRPr lang="en-US" sz="1000" dirty="0"/>
          </a:p>
        </p:txBody>
      </p:sp>
      <p:sp>
        <p:nvSpPr>
          <p:cNvPr id="20" name="Text 18"/>
          <p:cNvSpPr/>
          <p:nvPr/>
        </p:nvSpPr>
        <p:spPr>
          <a:xfrm>
            <a:off x="923544" y="3730752"/>
            <a:ext cx="5029200" cy="228600"/>
          </a:xfrm>
          <a:prstGeom prst="rect">
            <a:avLst/>
          </a:prstGeom>
          <a:noFill/>
          <a:ln/>
        </p:spPr>
        <p:txBody>
          <a:bodyPr wrap="square" rtlCol="0" anchor="ctr"/>
          <a:lstStyle/>
          <a:p>
            <a:pPr indent="0" marL="0">
              <a:buNone/>
            </a:pPr>
            <a:r>
              <a:rPr lang="en-US" sz="1150" b="1" dirty="0">
                <a:solidFill>
                  <a:srgbClr val="1A288E"/>
                </a:solidFill>
                <a:latin typeface="Calibri" pitchFamily="34" charset="0"/>
                <a:ea typeface="Calibri" pitchFamily="34" charset="-122"/>
                <a:cs typeface="Calibri" pitchFamily="34" charset="-120"/>
              </a:rPr>
              <a:t>Profile the source column</a:t>
            </a:r>
            <a:endParaRPr lang="en-US" sz="1150" dirty="0"/>
          </a:p>
        </p:txBody>
      </p:sp>
      <p:sp>
        <p:nvSpPr>
          <p:cNvPr id="21" name="Text 19"/>
          <p:cNvSpPr/>
          <p:nvPr/>
        </p:nvSpPr>
        <p:spPr>
          <a:xfrm>
            <a:off x="923544" y="3968496"/>
            <a:ext cx="5029200" cy="402336"/>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Is it populated, is the join key shared, do the values exist? This step overturned two confident diagnoses.</a:t>
            </a:r>
            <a:endParaRPr lang="en-US" sz="950" dirty="0"/>
          </a:p>
        </p:txBody>
      </p:sp>
      <p:sp>
        <p:nvSpPr>
          <p:cNvPr id="22" name="Shape 20"/>
          <p:cNvSpPr/>
          <p:nvPr/>
        </p:nvSpPr>
        <p:spPr>
          <a:xfrm>
            <a:off x="237744" y="4480560"/>
            <a:ext cx="50292" cy="749808"/>
          </a:xfrm>
          <a:prstGeom prst="rect">
            <a:avLst/>
          </a:prstGeom>
          <a:solidFill>
            <a:srgbClr val="1A288E"/>
          </a:solidFill>
          <a:ln/>
        </p:spPr>
      </p:sp>
      <p:sp>
        <p:nvSpPr>
          <p:cNvPr id="23" name="Shape 21"/>
          <p:cNvSpPr/>
          <p:nvPr/>
        </p:nvSpPr>
        <p:spPr>
          <a:xfrm>
            <a:off x="288036" y="4480560"/>
            <a:ext cx="5760720" cy="749808"/>
          </a:xfrm>
          <a:prstGeom prst="rect">
            <a:avLst/>
          </a:prstGeom>
          <a:solidFill>
            <a:srgbClr val="F2F5FC"/>
          </a:solidFill>
          <a:ln/>
        </p:spPr>
      </p:sp>
      <p:sp>
        <p:nvSpPr>
          <p:cNvPr id="24" name="Text 22"/>
          <p:cNvSpPr/>
          <p:nvPr/>
        </p:nvSpPr>
        <p:spPr>
          <a:xfrm>
            <a:off x="438912" y="4599432"/>
            <a:ext cx="457200" cy="219456"/>
          </a:xfrm>
          <a:prstGeom prst="rect">
            <a:avLst/>
          </a:prstGeom>
          <a:noFill/>
          <a:ln/>
        </p:spPr>
        <p:txBody>
          <a:bodyPr wrap="square" rtlCol="0" anchor="ctr"/>
          <a:lstStyle/>
          <a:p>
            <a:pPr indent="0" marL="0">
              <a:buNone/>
            </a:pPr>
            <a:r>
              <a:rPr lang="en-US" sz="1000" b="1" dirty="0">
                <a:solidFill>
                  <a:srgbClr val="1A288E"/>
                </a:solidFill>
                <a:latin typeface="Calibri" pitchFamily="34" charset="0"/>
                <a:ea typeface="Calibri" pitchFamily="34" charset="-122"/>
                <a:cs typeface="Calibri" pitchFamily="34" charset="-120"/>
              </a:rPr>
              <a:t>04</a:t>
            </a:r>
            <a:endParaRPr lang="en-US" sz="1000" dirty="0"/>
          </a:p>
        </p:txBody>
      </p:sp>
      <p:sp>
        <p:nvSpPr>
          <p:cNvPr id="25" name="Text 23"/>
          <p:cNvSpPr/>
          <p:nvPr/>
        </p:nvSpPr>
        <p:spPr>
          <a:xfrm>
            <a:off x="923544" y="4553712"/>
            <a:ext cx="5029200" cy="228600"/>
          </a:xfrm>
          <a:prstGeom prst="rect">
            <a:avLst/>
          </a:prstGeom>
          <a:noFill/>
          <a:ln/>
        </p:spPr>
        <p:txBody>
          <a:bodyPr wrap="square" rtlCol="0" anchor="ctr"/>
          <a:lstStyle/>
          <a:p>
            <a:pPr indent="0" marL="0">
              <a:buNone/>
            </a:pPr>
            <a:r>
              <a:rPr lang="en-US" sz="1150" b="1" dirty="0">
                <a:solidFill>
                  <a:srgbClr val="1A288E"/>
                </a:solidFill>
                <a:latin typeface="Calibri" pitchFamily="34" charset="0"/>
                <a:ea typeface="Calibri" pitchFamily="34" charset="-122"/>
                <a:cs typeface="Calibri" pitchFamily="34" charset="-120"/>
              </a:rPr>
              <a:t>Fix the generator</a:t>
            </a:r>
            <a:endParaRPr lang="en-US" sz="1150" dirty="0"/>
          </a:p>
        </p:txBody>
      </p:sp>
      <p:sp>
        <p:nvSpPr>
          <p:cNvPr id="26" name="Text 24"/>
          <p:cNvSpPr/>
          <p:nvPr/>
        </p:nvSpPr>
        <p:spPr>
          <a:xfrm>
            <a:off x="923544" y="4791456"/>
            <a:ext cx="5029200" cy="402336"/>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Correct the shared macro, not the variable — then confirm by value, not by absence of errors.</a:t>
            </a:r>
            <a:endParaRPr lang="en-US" sz="950" dirty="0"/>
          </a:p>
        </p:txBody>
      </p:sp>
      <p:sp>
        <p:nvSpPr>
          <p:cNvPr id="27" name="Shape 25"/>
          <p:cNvSpPr/>
          <p:nvPr/>
        </p:nvSpPr>
        <p:spPr>
          <a:xfrm>
            <a:off x="6355080" y="2011680"/>
            <a:ext cx="5358384" cy="3145536"/>
          </a:xfrm>
          <a:prstGeom prst="rect">
            <a:avLst/>
          </a:prstGeom>
          <a:solidFill>
            <a:srgbClr val="1A288E"/>
          </a:solidFill>
          <a:ln/>
        </p:spPr>
      </p:sp>
      <p:sp>
        <p:nvSpPr>
          <p:cNvPr id="28" name="Text 26"/>
          <p:cNvSpPr/>
          <p:nvPr/>
        </p:nvSpPr>
        <p:spPr>
          <a:xfrm>
            <a:off x="6537960" y="2157984"/>
            <a:ext cx="5029200" cy="219456"/>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WORKED EXAMPLE · 27 AFFINITY VARIABLES AT ZERO</a:t>
            </a:r>
            <a:endParaRPr lang="en-US" sz="950" dirty="0"/>
          </a:p>
        </p:txBody>
      </p:sp>
      <p:sp>
        <p:nvSpPr>
          <p:cNvPr id="29" name="Text 27"/>
          <p:cNvSpPr/>
          <p:nvPr/>
        </p:nvSpPr>
        <p:spPr>
          <a:xfrm>
            <a:off x="6537960" y="2468880"/>
            <a:ext cx="5029200" cy="201168"/>
          </a:xfrm>
          <a:prstGeom prst="rect">
            <a:avLst/>
          </a:prstGeom>
          <a:noFill/>
          <a:ln/>
        </p:spPr>
        <p:txBody>
          <a:bodyPr wrap="square" rtlCol="0" anchor="ctr"/>
          <a:lstStyle/>
          <a:p>
            <a:pPr indent="0" marL="0">
              <a:buNone/>
            </a:pPr>
            <a:r>
              <a:rPr lang="en-US" sz="850" b="1" spc="100" kern="0" dirty="0">
                <a:solidFill>
                  <a:srgbClr val="F96806"/>
                </a:solidFill>
                <a:latin typeface="Calibri" pitchFamily="34" charset="0"/>
                <a:ea typeface="Calibri" pitchFamily="34" charset="-122"/>
                <a:cs typeface="Calibri" pitchFamily="34" charset="-120"/>
              </a:rPr>
              <a:t>THE ASSUMPTION</a:t>
            </a:r>
            <a:endParaRPr lang="en-US" sz="850" dirty="0"/>
          </a:p>
        </p:txBody>
      </p:sp>
      <p:sp>
        <p:nvSpPr>
          <p:cNvPr id="30" name="Text 28"/>
          <p:cNvSpPr/>
          <p:nvPr/>
        </p:nvSpPr>
        <p:spPr>
          <a:xfrm>
            <a:off x="6537960" y="2670048"/>
            <a:ext cx="5029200" cy="475488"/>
          </a:xfrm>
          <a:prstGeom prst="rect">
            <a:avLst/>
          </a:prstGeom>
          <a:noFill/>
          <a:ln/>
        </p:spPr>
        <p:txBody>
          <a:bodyPr wrap="square" rtlCol="0" anchor="ctr"/>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One product code spans titles with different content classes, so the join resolves ambiguously.</a:t>
            </a:r>
            <a:endParaRPr lang="en-US" sz="1000" dirty="0"/>
          </a:p>
        </p:txBody>
      </p:sp>
      <p:sp>
        <p:nvSpPr>
          <p:cNvPr id="31" name="Text 29"/>
          <p:cNvSpPr/>
          <p:nvPr/>
        </p:nvSpPr>
        <p:spPr>
          <a:xfrm>
            <a:off x="6537960" y="3154680"/>
            <a:ext cx="5029200" cy="201168"/>
          </a:xfrm>
          <a:prstGeom prst="rect">
            <a:avLst/>
          </a:prstGeom>
          <a:noFill/>
          <a:ln/>
        </p:spPr>
        <p:txBody>
          <a:bodyPr wrap="square" rtlCol="0" anchor="ctr"/>
          <a:lstStyle/>
          <a:p>
            <a:pPr indent="0" marL="0">
              <a:buNone/>
            </a:pPr>
            <a:r>
              <a:rPr lang="en-US" sz="850" b="1" spc="100" kern="0" dirty="0">
                <a:solidFill>
                  <a:srgbClr val="F96806"/>
                </a:solidFill>
                <a:latin typeface="Calibri" pitchFamily="34" charset="0"/>
                <a:ea typeface="Calibri" pitchFamily="34" charset="-122"/>
                <a:cs typeface="Calibri" pitchFamily="34" charset="-120"/>
              </a:rPr>
              <a:t>THE PROFILE</a:t>
            </a:r>
            <a:endParaRPr lang="en-US" sz="850" dirty="0"/>
          </a:p>
        </p:txBody>
      </p:sp>
      <p:sp>
        <p:nvSpPr>
          <p:cNvPr id="32" name="Text 30"/>
          <p:cNvSpPr/>
          <p:nvPr/>
        </p:nvSpPr>
        <p:spPr>
          <a:xfrm>
            <a:off x="6537960" y="3355848"/>
            <a:ext cx="5029200" cy="475488"/>
          </a:xfrm>
          <a:prstGeom prst="rect">
            <a:avLst/>
          </a:prstGeom>
          <a:noFill/>
          <a:ln/>
        </p:spPr>
        <p:txBody>
          <a:bodyPr wrap="square" rtlCol="0" anchor="ctr"/>
          <a:lstStyle/>
          <a:p>
            <a:pPr indent="0" marL="0">
              <a:lnSpc>
                <a:spcPts val="1300"/>
              </a:lnSpc>
              <a:buNone/>
            </a:pPr>
            <a:r>
              <a:rPr lang="en-US" sz="1000" dirty="0">
                <a:solidFill>
                  <a:srgbClr val="FFFFFF"/>
                </a:solidFill>
                <a:latin typeface="Calibri" pitchFamily="34" charset="0"/>
                <a:ea typeface="Calibri" pitchFamily="34" charset="-122"/>
                <a:cs typeface="Calibri" pitchFamily="34" charset="-120"/>
              </a:rPr>
              <a:t>The mapped product-code column held a NULL on every single row — zero distinct values.</a:t>
            </a:r>
            <a:endParaRPr lang="en-US" sz="1000" dirty="0"/>
          </a:p>
        </p:txBody>
      </p:sp>
      <p:sp>
        <p:nvSpPr>
          <p:cNvPr id="33" name="Text 31"/>
          <p:cNvSpPr/>
          <p:nvPr/>
        </p:nvSpPr>
        <p:spPr>
          <a:xfrm>
            <a:off x="6537960" y="3840480"/>
            <a:ext cx="5029200" cy="201168"/>
          </a:xfrm>
          <a:prstGeom prst="rect">
            <a:avLst/>
          </a:prstGeom>
          <a:noFill/>
          <a:ln/>
        </p:spPr>
        <p:txBody>
          <a:bodyPr wrap="square" rtlCol="0" anchor="ctr"/>
          <a:lstStyle/>
          <a:p>
            <a:pPr indent="0" marL="0">
              <a:buNone/>
            </a:pPr>
            <a:r>
              <a:rPr lang="en-US" sz="850" b="1" spc="100" kern="0" dirty="0">
                <a:solidFill>
                  <a:srgbClr val="F96806"/>
                </a:solidFill>
                <a:latin typeface="Calibri" pitchFamily="34" charset="0"/>
                <a:ea typeface="Calibri" pitchFamily="34" charset="-122"/>
                <a:cs typeface="Calibri" pitchFamily="34" charset="-120"/>
              </a:rPr>
              <a:t>THE ACTUAL CAUSE</a:t>
            </a:r>
            <a:endParaRPr lang="en-US" sz="850" dirty="0"/>
          </a:p>
        </p:txBody>
      </p:sp>
      <p:sp>
        <p:nvSpPr>
          <p:cNvPr id="34" name="Text 32"/>
          <p:cNvSpPr/>
          <p:nvPr/>
        </p:nvSpPr>
        <p:spPr>
          <a:xfrm>
            <a:off x="6537960" y="4041648"/>
            <a:ext cx="5029200" cy="475488"/>
          </a:xfrm>
          <a:prstGeom prst="rect">
            <a:avLst/>
          </a:prstGeom>
          <a:noFill/>
          <a:ln/>
        </p:spPr>
        <p:txBody>
          <a:bodyPr wrap="square" rtlCol="0" anchor="ctr"/>
          <a:lstStyle/>
          <a:p>
            <a:pPr indent="0" marL="0">
              <a:lnSpc>
                <a:spcPts val="1300"/>
              </a:lnSpc>
              <a:buNone/>
            </a:pPr>
            <a:r>
              <a:rPr lang="en-US" sz="1000" dirty="0">
                <a:solidFill>
                  <a:srgbClr val="FFFFFF"/>
                </a:solidFill>
                <a:latin typeface="Calibri" pitchFamily="34" charset="0"/>
                <a:ea typeface="Calibri" pitchFamily="34" charset="-122"/>
                <a:cs typeface="Calibri" pitchFamily="34" charset="-120"/>
              </a:rPr>
              <a:t>The join could not match anything. A differently named product-code column was fully populated and matched billions of rows.</a:t>
            </a:r>
            <a:endParaRPr lang="en-US" sz="1000" dirty="0"/>
          </a:p>
        </p:txBody>
      </p:sp>
      <p:sp>
        <p:nvSpPr>
          <p:cNvPr id="35" name="Text 33"/>
          <p:cNvSpPr/>
          <p:nvPr/>
        </p:nvSpPr>
        <p:spPr>
          <a:xfrm>
            <a:off x="6537960" y="4526280"/>
            <a:ext cx="5029200" cy="201168"/>
          </a:xfrm>
          <a:prstGeom prst="rect">
            <a:avLst/>
          </a:prstGeom>
          <a:noFill/>
          <a:ln/>
        </p:spPr>
        <p:txBody>
          <a:bodyPr wrap="square" rtlCol="0" anchor="ctr"/>
          <a:lstStyle/>
          <a:p>
            <a:pPr indent="0" marL="0">
              <a:buNone/>
            </a:pPr>
            <a:r>
              <a:rPr lang="en-US" sz="850" b="1" spc="100" kern="0" dirty="0">
                <a:solidFill>
                  <a:srgbClr val="F96806"/>
                </a:solidFill>
                <a:latin typeface="Calibri" pitchFamily="34" charset="0"/>
                <a:ea typeface="Calibri" pitchFamily="34" charset="-122"/>
                <a:cs typeface="Calibri" pitchFamily="34" charset="-120"/>
              </a:rPr>
              <a:t>THE FIX</a:t>
            </a:r>
            <a:endParaRPr lang="en-US" sz="850" dirty="0"/>
          </a:p>
        </p:txBody>
      </p:sp>
      <p:sp>
        <p:nvSpPr>
          <p:cNvPr id="36" name="Text 34"/>
          <p:cNvSpPr/>
          <p:nvPr/>
        </p:nvSpPr>
        <p:spPr>
          <a:xfrm>
            <a:off x="6537960" y="4727448"/>
            <a:ext cx="5029200" cy="475488"/>
          </a:xfrm>
          <a:prstGeom prst="rect">
            <a:avLst/>
          </a:prstGeom>
          <a:noFill/>
          <a:ln/>
        </p:spPr>
        <p:txBody>
          <a:bodyPr wrap="square" rtlCol="0" anchor="ctr"/>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One line in the column mapper. All 27 variables recovered — no lookup table, parse rule or key change needed.</a:t>
            </a:r>
            <a:endParaRPr lang="en-US" sz="1000" dirty="0"/>
          </a:p>
        </p:txBody>
      </p:sp>
      <p:sp>
        <p:nvSpPr>
          <p:cNvPr id="37" name="Shape 35"/>
          <p:cNvSpPr/>
          <p:nvPr/>
        </p:nvSpPr>
        <p:spPr>
          <a:xfrm>
            <a:off x="237744" y="5422392"/>
            <a:ext cx="11713464" cy="758952"/>
          </a:xfrm>
          <a:prstGeom prst="rect">
            <a:avLst/>
          </a:prstGeom>
          <a:solidFill>
            <a:srgbClr val="1A288E"/>
          </a:solidFill>
          <a:ln/>
        </p:spPr>
      </p:sp>
      <p:sp>
        <p:nvSpPr>
          <p:cNvPr id="38" name="Text 36"/>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PRINCIPLE</a:t>
            </a:r>
            <a:endParaRPr lang="en-US" sz="900" dirty="0"/>
          </a:p>
        </p:txBody>
      </p:sp>
      <p:sp>
        <p:nvSpPr>
          <p:cNvPr id="39" name="Text 37"/>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Profile the source before changing the code. Every proposed remedy for this defect was a rebuild; the real fault was a mapping pointed at a column containing no data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CASE STUDIES · ROOT CAUSES</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Three Defects, Three Different Failure Modes</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Each arrived as "the variable isn't right". Diagnosis showed three unrelated causes — and none of them announced itself clearly</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65960"/>
            <a:ext cx="3749040" cy="54864"/>
          </a:xfrm>
          <a:prstGeom prst="rect">
            <a:avLst/>
          </a:prstGeom>
          <a:solidFill>
            <a:srgbClr val="F96806"/>
          </a:solidFill>
          <a:ln/>
        </p:spPr>
      </p:sp>
      <p:sp>
        <p:nvSpPr>
          <p:cNvPr id="8" name="Shape 6"/>
          <p:cNvSpPr/>
          <p:nvPr/>
        </p:nvSpPr>
        <p:spPr>
          <a:xfrm>
            <a:off x="237744" y="2020824"/>
            <a:ext cx="3749040" cy="3136392"/>
          </a:xfrm>
          <a:prstGeom prst="rect">
            <a:avLst/>
          </a:prstGeom>
          <a:solidFill>
            <a:srgbClr val="F2F5FC"/>
          </a:solidFill>
          <a:ln/>
        </p:spPr>
      </p:sp>
      <p:sp>
        <p:nvSpPr>
          <p:cNvPr id="9" name="Text 7"/>
          <p:cNvSpPr/>
          <p:nvPr/>
        </p:nvSpPr>
        <p:spPr>
          <a:xfrm>
            <a:off x="420624" y="2139696"/>
            <a:ext cx="3383280" cy="256032"/>
          </a:xfrm>
          <a:prstGeom prst="rect">
            <a:avLst/>
          </a:prstGeom>
          <a:noFill/>
          <a:ln/>
        </p:spPr>
        <p:txBody>
          <a:bodyPr wrap="square" rtlCol="0" anchor="ctr"/>
          <a:lstStyle/>
          <a:p>
            <a:pPr indent="0" marL="0">
              <a:buNone/>
            </a:pPr>
            <a:r>
              <a:rPr lang="en-US" sz="1300" b="1" dirty="0">
                <a:solidFill>
                  <a:srgbClr val="1A288E"/>
                </a:solidFill>
                <a:latin typeface="Calibri" pitchFamily="34" charset="0"/>
                <a:ea typeface="Calibri" pitchFamily="34" charset="-122"/>
                <a:cs typeface="Calibri" pitchFamily="34" charset="-120"/>
              </a:rPr>
              <a:t>Silent NULL exclusion</a:t>
            </a:r>
            <a:endParaRPr lang="en-US" sz="1300" dirty="0"/>
          </a:p>
        </p:txBody>
      </p:sp>
      <p:sp>
        <p:nvSpPr>
          <p:cNvPr id="10" name="Text 8"/>
          <p:cNvSpPr/>
          <p:nvPr/>
        </p:nvSpPr>
        <p:spPr>
          <a:xfrm>
            <a:off x="420624" y="2432304"/>
            <a:ext cx="3383280" cy="182880"/>
          </a:xfrm>
          <a:prstGeom prst="rect">
            <a:avLst/>
          </a:prstGeom>
          <a:noFill/>
          <a:ln/>
        </p:spPr>
        <p:txBody>
          <a:bodyPr wrap="square" rtlCol="0" anchor="ctr"/>
          <a:lstStyle/>
          <a:p>
            <a:pPr indent="0" marL="0">
              <a:buNone/>
            </a:pPr>
            <a:r>
              <a:rPr lang="en-US" sz="850" b="1" spc="100" kern="0" dirty="0">
                <a:solidFill>
                  <a:srgbClr val="64748B"/>
                </a:solidFill>
                <a:latin typeface="Calibri" pitchFamily="34" charset="0"/>
                <a:ea typeface="Calibri" pitchFamily="34" charset="-122"/>
                <a:cs typeface="Calibri" pitchFamily="34" charset="-120"/>
              </a:rPr>
              <a:t>SYMPTOM</a:t>
            </a:r>
            <a:endParaRPr lang="en-US" sz="850" dirty="0"/>
          </a:p>
        </p:txBody>
      </p:sp>
      <p:sp>
        <p:nvSpPr>
          <p:cNvPr id="11" name="Text 9"/>
          <p:cNvSpPr/>
          <p:nvPr/>
        </p:nvSpPr>
        <p:spPr>
          <a:xfrm>
            <a:off x="420624" y="2615184"/>
            <a:ext cx="3383280" cy="365760"/>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Revenue variables populated, but understated. No error, no warning.</a:t>
            </a:r>
            <a:endParaRPr lang="en-US" sz="950" dirty="0"/>
          </a:p>
        </p:txBody>
      </p:sp>
      <p:sp>
        <p:nvSpPr>
          <p:cNvPr id="12" name="Text 10"/>
          <p:cNvSpPr/>
          <p:nvPr/>
        </p:nvSpPr>
        <p:spPr>
          <a:xfrm>
            <a:off x="420624" y="2999232"/>
            <a:ext cx="3383280" cy="182880"/>
          </a:xfrm>
          <a:prstGeom prst="rect">
            <a:avLst/>
          </a:prstGeom>
          <a:noFill/>
          <a:ln/>
        </p:spPr>
        <p:txBody>
          <a:bodyPr wrap="square" rtlCol="0" anchor="ctr"/>
          <a:lstStyle/>
          <a:p>
            <a:pPr indent="0" marL="0">
              <a:buNone/>
            </a:pPr>
            <a:r>
              <a:rPr lang="en-US" sz="850" b="1" spc="100" kern="0" dirty="0">
                <a:solidFill>
                  <a:srgbClr val="64748B"/>
                </a:solidFill>
                <a:latin typeface="Calibri" pitchFamily="34" charset="0"/>
                <a:ea typeface="Calibri" pitchFamily="34" charset="-122"/>
                <a:cs typeface="Calibri" pitchFamily="34" charset="-120"/>
              </a:rPr>
              <a:t>ROOT CAUSE</a:t>
            </a:r>
            <a:endParaRPr lang="en-US" sz="850" dirty="0"/>
          </a:p>
        </p:txBody>
      </p:sp>
      <p:sp>
        <p:nvSpPr>
          <p:cNvPr id="13" name="Text 11"/>
          <p:cNvSpPr/>
          <p:nvPr/>
        </p:nvSpPr>
        <p:spPr>
          <a:xfrm>
            <a:off x="420624" y="3182112"/>
            <a:ext cx="3383280" cy="786384"/>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Under ANSI SQL a NULL compared with ≠ evaluates to UNKNOWN, so those rows vanished. Oracle never exposed this — the columns were always populated there.</a:t>
            </a:r>
            <a:endParaRPr lang="en-US" sz="950" dirty="0"/>
          </a:p>
        </p:txBody>
      </p:sp>
      <p:sp>
        <p:nvSpPr>
          <p:cNvPr id="14" name="Shape 12"/>
          <p:cNvSpPr/>
          <p:nvPr/>
        </p:nvSpPr>
        <p:spPr>
          <a:xfrm>
            <a:off x="420624" y="4005072"/>
            <a:ext cx="3383280" cy="365760"/>
          </a:xfrm>
          <a:prstGeom prst="rect">
            <a:avLst/>
          </a:prstGeom>
          <a:solidFill>
            <a:srgbClr val="E3EAFB"/>
          </a:solidFill>
          <a:ln/>
        </p:spPr>
      </p:sp>
      <p:sp>
        <p:nvSpPr>
          <p:cNvPr id="15" name="Text 13"/>
          <p:cNvSpPr/>
          <p:nvPr/>
        </p:nvSpPr>
        <p:spPr>
          <a:xfrm>
            <a:off x="512064" y="4059936"/>
            <a:ext cx="3200400" cy="256032"/>
          </a:xfrm>
          <a:prstGeom prst="rect">
            <a:avLst/>
          </a:prstGeom>
          <a:noFill/>
          <a:ln/>
        </p:spPr>
        <p:txBody>
          <a:bodyPr wrap="square" rtlCol="0" anchor="ctr"/>
          <a:lstStyle/>
          <a:p>
            <a:pPr indent="0" marL="0">
              <a:buNone/>
            </a:pPr>
            <a:r>
              <a:rPr lang="en-US" sz="950" b="1" dirty="0">
                <a:solidFill>
                  <a:srgbClr val="113C75"/>
                </a:solidFill>
                <a:latin typeface="Calibri" pitchFamily="34" charset="0"/>
                <a:ea typeface="Calibri" pitchFamily="34" charset="-122"/>
                <a:cs typeface="Calibri" pitchFamily="34" charset="-120"/>
              </a:rPr>
              <a:t>(col is null or col ≠ val)</a:t>
            </a:r>
            <a:endParaRPr lang="en-US" sz="950" dirty="0"/>
          </a:p>
        </p:txBody>
      </p:sp>
      <p:sp>
        <p:nvSpPr>
          <p:cNvPr id="16" name="Text 14"/>
          <p:cNvSpPr/>
          <p:nvPr/>
        </p:nvSpPr>
        <p:spPr>
          <a:xfrm>
            <a:off x="420624" y="4462272"/>
            <a:ext cx="3383280" cy="548640"/>
          </a:xfrm>
          <a:prstGeom prst="rect">
            <a:avLst/>
          </a:prstGeom>
          <a:noFill/>
          <a:ln/>
        </p:spPr>
        <p:txBody>
          <a:bodyPr wrap="square" rtlCol="0" anchor="ctr"/>
          <a:lstStyle/>
          <a:p>
            <a:pPr indent="0" marL="0">
              <a:lnSpc>
                <a:spcPts val="1300"/>
              </a:lnSpc>
              <a:buNone/>
            </a:pPr>
            <a:r>
              <a:rPr lang="en-US" sz="1000" b="1" dirty="0">
                <a:solidFill>
                  <a:srgbClr val="2C8A4B"/>
                </a:solidFill>
                <a:latin typeface="Calibri" pitchFamily="34" charset="0"/>
                <a:ea typeface="Calibri" pitchFamily="34" charset="-122"/>
                <a:cs typeface="Calibri" pitchFamily="34" charset="-120"/>
              </a:rPr>
              <a:t>✓  ~35% of sampled magazine revenue restored</a:t>
            </a:r>
            <a:endParaRPr lang="en-US" sz="1000" dirty="0"/>
          </a:p>
        </p:txBody>
      </p:sp>
      <p:sp>
        <p:nvSpPr>
          <p:cNvPr id="17" name="Shape 15"/>
          <p:cNvSpPr/>
          <p:nvPr/>
        </p:nvSpPr>
        <p:spPr>
          <a:xfrm>
            <a:off x="4224528" y="1965960"/>
            <a:ext cx="3749040" cy="54864"/>
          </a:xfrm>
          <a:prstGeom prst="rect">
            <a:avLst/>
          </a:prstGeom>
          <a:solidFill>
            <a:srgbClr val="F96806"/>
          </a:solidFill>
          <a:ln/>
        </p:spPr>
      </p:sp>
      <p:sp>
        <p:nvSpPr>
          <p:cNvPr id="18" name="Shape 16"/>
          <p:cNvSpPr/>
          <p:nvPr/>
        </p:nvSpPr>
        <p:spPr>
          <a:xfrm>
            <a:off x="4224528" y="2020824"/>
            <a:ext cx="3749040" cy="3136392"/>
          </a:xfrm>
          <a:prstGeom prst="rect">
            <a:avLst/>
          </a:prstGeom>
          <a:solidFill>
            <a:srgbClr val="F2F5FC"/>
          </a:solidFill>
          <a:ln/>
        </p:spPr>
      </p:sp>
      <p:sp>
        <p:nvSpPr>
          <p:cNvPr id="19" name="Text 17"/>
          <p:cNvSpPr/>
          <p:nvPr/>
        </p:nvSpPr>
        <p:spPr>
          <a:xfrm>
            <a:off x="4407408" y="2139696"/>
            <a:ext cx="3383280" cy="256032"/>
          </a:xfrm>
          <a:prstGeom prst="rect">
            <a:avLst/>
          </a:prstGeom>
          <a:noFill/>
          <a:ln/>
        </p:spPr>
        <p:txBody>
          <a:bodyPr wrap="square" rtlCol="0" anchor="ctr"/>
          <a:lstStyle/>
          <a:p>
            <a:pPr indent="0" marL="0">
              <a:buNone/>
            </a:pPr>
            <a:r>
              <a:rPr lang="en-US" sz="1300" b="1" dirty="0">
                <a:solidFill>
                  <a:srgbClr val="1A288E"/>
                </a:solidFill>
                <a:latin typeface="Calibri" pitchFamily="34" charset="0"/>
                <a:ea typeface="Calibri" pitchFamily="34" charset="-122"/>
                <a:cs typeface="Calibri" pitchFamily="34" charset="-120"/>
              </a:rPr>
              <a:t>Empty column mapping</a:t>
            </a:r>
            <a:endParaRPr lang="en-US" sz="1300" dirty="0"/>
          </a:p>
        </p:txBody>
      </p:sp>
      <p:sp>
        <p:nvSpPr>
          <p:cNvPr id="20" name="Text 18"/>
          <p:cNvSpPr/>
          <p:nvPr/>
        </p:nvSpPr>
        <p:spPr>
          <a:xfrm>
            <a:off x="4407408" y="2432304"/>
            <a:ext cx="3383280" cy="182880"/>
          </a:xfrm>
          <a:prstGeom prst="rect">
            <a:avLst/>
          </a:prstGeom>
          <a:noFill/>
          <a:ln/>
        </p:spPr>
        <p:txBody>
          <a:bodyPr wrap="square" rtlCol="0" anchor="ctr"/>
          <a:lstStyle/>
          <a:p>
            <a:pPr indent="0" marL="0">
              <a:buNone/>
            </a:pPr>
            <a:r>
              <a:rPr lang="en-US" sz="850" b="1" spc="100" kern="0" dirty="0">
                <a:solidFill>
                  <a:srgbClr val="64748B"/>
                </a:solidFill>
                <a:latin typeface="Calibri" pitchFamily="34" charset="0"/>
                <a:ea typeface="Calibri" pitchFamily="34" charset="-122"/>
                <a:cs typeface="Calibri" pitchFamily="34" charset="-120"/>
              </a:rPr>
              <a:t>SYMPTOM</a:t>
            </a:r>
            <a:endParaRPr lang="en-US" sz="850" dirty="0"/>
          </a:p>
        </p:txBody>
      </p:sp>
      <p:sp>
        <p:nvSpPr>
          <p:cNvPr id="21" name="Text 19"/>
          <p:cNvSpPr/>
          <p:nvPr/>
        </p:nvSpPr>
        <p:spPr>
          <a:xfrm>
            <a:off x="4407408" y="2615184"/>
            <a:ext cx="3383280" cy="365760"/>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27 affinity variables at zero for every customer.</a:t>
            </a:r>
            <a:endParaRPr lang="en-US" sz="950" dirty="0"/>
          </a:p>
        </p:txBody>
      </p:sp>
      <p:sp>
        <p:nvSpPr>
          <p:cNvPr id="22" name="Text 20"/>
          <p:cNvSpPr/>
          <p:nvPr/>
        </p:nvSpPr>
        <p:spPr>
          <a:xfrm>
            <a:off x="4407408" y="2999232"/>
            <a:ext cx="3383280" cy="182880"/>
          </a:xfrm>
          <a:prstGeom prst="rect">
            <a:avLst/>
          </a:prstGeom>
          <a:noFill/>
          <a:ln/>
        </p:spPr>
        <p:txBody>
          <a:bodyPr wrap="square" rtlCol="0" anchor="ctr"/>
          <a:lstStyle/>
          <a:p>
            <a:pPr indent="0" marL="0">
              <a:buNone/>
            </a:pPr>
            <a:r>
              <a:rPr lang="en-US" sz="850" b="1" spc="100" kern="0" dirty="0">
                <a:solidFill>
                  <a:srgbClr val="64748B"/>
                </a:solidFill>
                <a:latin typeface="Calibri" pitchFamily="34" charset="0"/>
                <a:ea typeface="Calibri" pitchFamily="34" charset="-122"/>
                <a:cs typeface="Calibri" pitchFamily="34" charset="-120"/>
              </a:rPr>
              <a:t>ROOT CAUSE</a:t>
            </a:r>
            <a:endParaRPr lang="en-US" sz="850" dirty="0"/>
          </a:p>
        </p:txBody>
      </p:sp>
      <p:sp>
        <p:nvSpPr>
          <p:cNvPr id="23" name="Text 21"/>
          <p:cNvSpPr/>
          <p:nvPr/>
        </p:nvSpPr>
        <p:spPr>
          <a:xfrm>
            <a:off x="4407408" y="3182112"/>
            <a:ext cx="3383280" cy="786384"/>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The bridge mapped a legacy product code to a CDP column that migrated 100% NULL, so the join matched nothing at all.</a:t>
            </a:r>
            <a:endParaRPr lang="en-US" sz="950" dirty="0"/>
          </a:p>
        </p:txBody>
      </p:sp>
      <p:sp>
        <p:nvSpPr>
          <p:cNvPr id="24" name="Shape 22"/>
          <p:cNvSpPr/>
          <p:nvPr/>
        </p:nvSpPr>
        <p:spPr>
          <a:xfrm>
            <a:off x="4407408" y="4005072"/>
            <a:ext cx="3383280" cy="365760"/>
          </a:xfrm>
          <a:prstGeom prst="rect">
            <a:avLst/>
          </a:prstGeom>
          <a:solidFill>
            <a:srgbClr val="E3EAFB"/>
          </a:solidFill>
          <a:ln/>
        </p:spPr>
      </p:sp>
      <p:sp>
        <p:nvSpPr>
          <p:cNvPr id="25" name="Text 23"/>
          <p:cNvSpPr/>
          <p:nvPr/>
        </p:nvSpPr>
        <p:spPr>
          <a:xfrm>
            <a:off x="4498848" y="4059936"/>
            <a:ext cx="3200400" cy="256032"/>
          </a:xfrm>
          <a:prstGeom prst="rect">
            <a:avLst/>
          </a:prstGeom>
          <a:noFill/>
          <a:ln/>
        </p:spPr>
        <p:txBody>
          <a:bodyPr wrap="square" rtlCol="0" anchor="ctr"/>
          <a:lstStyle/>
          <a:p>
            <a:pPr indent="0" marL="0">
              <a:buNone/>
            </a:pPr>
            <a:r>
              <a:rPr lang="en-US" sz="950" b="1" dirty="0">
                <a:solidFill>
                  <a:srgbClr val="113C75"/>
                </a:solidFill>
                <a:latin typeface="Calibri" pitchFamily="34" charset="0"/>
                <a:ea typeface="Calibri" pitchFamily="34" charset="-122"/>
                <a:cs typeface="Calibri" pitchFamily="34" charset="-120"/>
              </a:rPr>
              <a:t>legacy code → populated CDP column</a:t>
            </a:r>
            <a:endParaRPr lang="en-US" sz="950" dirty="0"/>
          </a:p>
        </p:txBody>
      </p:sp>
      <p:sp>
        <p:nvSpPr>
          <p:cNvPr id="26" name="Text 24"/>
          <p:cNvSpPr/>
          <p:nvPr/>
        </p:nvSpPr>
        <p:spPr>
          <a:xfrm>
            <a:off x="4407408" y="4462272"/>
            <a:ext cx="3383280" cy="548640"/>
          </a:xfrm>
          <a:prstGeom prst="rect">
            <a:avLst/>
          </a:prstGeom>
          <a:noFill/>
          <a:ln/>
        </p:spPr>
        <p:txBody>
          <a:bodyPr wrap="square" rtlCol="0" anchor="ctr"/>
          <a:lstStyle/>
          <a:p>
            <a:pPr indent="0" marL="0">
              <a:lnSpc>
                <a:spcPts val="1300"/>
              </a:lnSpc>
              <a:buNone/>
            </a:pPr>
            <a:r>
              <a:rPr lang="en-US" sz="1000" b="1" dirty="0">
                <a:solidFill>
                  <a:srgbClr val="2C8A4B"/>
                </a:solidFill>
                <a:latin typeface="Calibri" pitchFamily="34" charset="0"/>
                <a:ea typeface="Calibri" pitchFamily="34" charset="-122"/>
                <a:cs typeface="Calibri" pitchFamily="34" charset="-120"/>
              </a:rPr>
              <a:t>✓  27 variables recovered by a single line</a:t>
            </a:r>
            <a:endParaRPr lang="en-US" sz="1000" dirty="0"/>
          </a:p>
        </p:txBody>
      </p:sp>
      <p:sp>
        <p:nvSpPr>
          <p:cNvPr id="27" name="Shape 25"/>
          <p:cNvSpPr/>
          <p:nvPr/>
        </p:nvSpPr>
        <p:spPr>
          <a:xfrm>
            <a:off x="8211312" y="1965960"/>
            <a:ext cx="3749040" cy="54864"/>
          </a:xfrm>
          <a:prstGeom prst="rect">
            <a:avLst/>
          </a:prstGeom>
          <a:solidFill>
            <a:srgbClr val="F96806"/>
          </a:solidFill>
          <a:ln/>
        </p:spPr>
      </p:sp>
      <p:sp>
        <p:nvSpPr>
          <p:cNvPr id="28" name="Shape 26"/>
          <p:cNvSpPr/>
          <p:nvPr/>
        </p:nvSpPr>
        <p:spPr>
          <a:xfrm>
            <a:off x="8211312" y="2020824"/>
            <a:ext cx="3749040" cy="3136392"/>
          </a:xfrm>
          <a:prstGeom prst="rect">
            <a:avLst/>
          </a:prstGeom>
          <a:solidFill>
            <a:srgbClr val="F2F5FC"/>
          </a:solidFill>
          <a:ln/>
        </p:spPr>
      </p:sp>
      <p:sp>
        <p:nvSpPr>
          <p:cNvPr id="29" name="Text 27"/>
          <p:cNvSpPr/>
          <p:nvPr/>
        </p:nvSpPr>
        <p:spPr>
          <a:xfrm>
            <a:off x="8394192" y="2139696"/>
            <a:ext cx="3383280" cy="256032"/>
          </a:xfrm>
          <a:prstGeom prst="rect">
            <a:avLst/>
          </a:prstGeom>
          <a:noFill/>
          <a:ln/>
        </p:spPr>
        <p:txBody>
          <a:bodyPr wrap="square" rtlCol="0" anchor="ctr"/>
          <a:lstStyle/>
          <a:p>
            <a:pPr indent="0" marL="0">
              <a:buNone/>
            </a:pPr>
            <a:r>
              <a:rPr lang="en-US" sz="1300" b="1" dirty="0">
                <a:solidFill>
                  <a:srgbClr val="1A288E"/>
                </a:solidFill>
                <a:latin typeface="Calibri" pitchFamily="34" charset="0"/>
                <a:ea typeface="Calibri" pitchFamily="34" charset="-122"/>
                <a:cs typeface="Calibri" pitchFamily="34" charset="-120"/>
              </a:rPr>
              <a:t>Wrong source field</a:t>
            </a:r>
            <a:endParaRPr lang="en-US" sz="1300" dirty="0"/>
          </a:p>
        </p:txBody>
      </p:sp>
      <p:sp>
        <p:nvSpPr>
          <p:cNvPr id="30" name="Text 28"/>
          <p:cNvSpPr/>
          <p:nvPr/>
        </p:nvSpPr>
        <p:spPr>
          <a:xfrm>
            <a:off x="8394192" y="2432304"/>
            <a:ext cx="3383280" cy="182880"/>
          </a:xfrm>
          <a:prstGeom prst="rect">
            <a:avLst/>
          </a:prstGeom>
          <a:noFill/>
          <a:ln/>
        </p:spPr>
        <p:txBody>
          <a:bodyPr wrap="square" rtlCol="0" anchor="ctr"/>
          <a:lstStyle/>
          <a:p>
            <a:pPr indent="0" marL="0">
              <a:buNone/>
            </a:pPr>
            <a:r>
              <a:rPr lang="en-US" sz="850" b="1" spc="100" kern="0" dirty="0">
                <a:solidFill>
                  <a:srgbClr val="64748B"/>
                </a:solidFill>
                <a:latin typeface="Calibri" pitchFamily="34" charset="0"/>
                <a:ea typeface="Calibri" pitchFamily="34" charset="-122"/>
                <a:cs typeface="Calibri" pitchFamily="34" charset="-120"/>
              </a:rPr>
              <a:t>SYMPTOM</a:t>
            </a:r>
            <a:endParaRPr lang="en-US" sz="850" dirty="0"/>
          </a:p>
        </p:txBody>
      </p:sp>
      <p:sp>
        <p:nvSpPr>
          <p:cNvPr id="31" name="Text 29"/>
          <p:cNvSpPr/>
          <p:nvPr/>
        </p:nvSpPr>
        <p:spPr>
          <a:xfrm>
            <a:off x="8394192" y="2615184"/>
            <a:ext cx="3383280" cy="365760"/>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Email-tenure date present, but every value recent.</a:t>
            </a:r>
            <a:endParaRPr lang="en-US" sz="950" dirty="0"/>
          </a:p>
        </p:txBody>
      </p:sp>
      <p:sp>
        <p:nvSpPr>
          <p:cNvPr id="32" name="Text 30"/>
          <p:cNvSpPr/>
          <p:nvPr/>
        </p:nvSpPr>
        <p:spPr>
          <a:xfrm>
            <a:off x="8394192" y="2999232"/>
            <a:ext cx="3383280" cy="182880"/>
          </a:xfrm>
          <a:prstGeom prst="rect">
            <a:avLst/>
          </a:prstGeom>
          <a:noFill/>
          <a:ln/>
        </p:spPr>
        <p:txBody>
          <a:bodyPr wrap="square" rtlCol="0" anchor="ctr"/>
          <a:lstStyle/>
          <a:p>
            <a:pPr indent="0" marL="0">
              <a:buNone/>
            </a:pPr>
            <a:r>
              <a:rPr lang="en-US" sz="850" b="1" spc="100" kern="0" dirty="0">
                <a:solidFill>
                  <a:srgbClr val="64748B"/>
                </a:solidFill>
                <a:latin typeface="Calibri" pitchFamily="34" charset="0"/>
                <a:ea typeface="Calibri" pitchFamily="34" charset="-122"/>
                <a:cs typeface="Calibri" pitchFamily="34" charset="-120"/>
              </a:rPr>
              <a:t>ROOT CAUSE</a:t>
            </a:r>
            <a:endParaRPr lang="en-US" sz="850" dirty="0"/>
          </a:p>
        </p:txBody>
      </p:sp>
      <p:sp>
        <p:nvSpPr>
          <p:cNvPr id="33" name="Text 31"/>
          <p:cNvSpPr/>
          <p:nvPr/>
        </p:nvSpPr>
        <p:spPr>
          <a:xfrm>
            <a:off x="8394192" y="3182112"/>
            <a:ext cx="3383280" cy="786384"/>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The advised CDP field records when the record was loaded, not when the address was captured — so migrated records all carried the migration date.</a:t>
            </a:r>
            <a:endParaRPr lang="en-US" sz="950" dirty="0"/>
          </a:p>
        </p:txBody>
      </p:sp>
      <p:sp>
        <p:nvSpPr>
          <p:cNvPr id="34" name="Shape 32"/>
          <p:cNvSpPr/>
          <p:nvPr/>
        </p:nvSpPr>
        <p:spPr>
          <a:xfrm>
            <a:off x="8394192" y="4005072"/>
            <a:ext cx="3383280" cy="365760"/>
          </a:xfrm>
          <a:prstGeom prst="rect">
            <a:avLst/>
          </a:prstGeom>
          <a:solidFill>
            <a:srgbClr val="E3EAFB"/>
          </a:solidFill>
          <a:ln/>
        </p:spPr>
      </p:sp>
      <p:sp>
        <p:nvSpPr>
          <p:cNvPr id="35" name="Text 33"/>
          <p:cNvSpPr/>
          <p:nvPr/>
        </p:nvSpPr>
        <p:spPr>
          <a:xfrm>
            <a:off x="8485632" y="4059936"/>
            <a:ext cx="3200400" cy="256032"/>
          </a:xfrm>
          <a:prstGeom prst="rect">
            <a:avLst/>
          </a:prstGeom>
          <a:noFill/>
          <a:ln/>
        </p:spPr>
        <p:txBody>
          <a:bodyPr wrap="square" rtlCol="0" anchor="ctr"/>
          <a:lstStyle/>
          <a:p>
            <a:pPr indent="0" marL="0">
              <a:buNone/>
            </a:pPr>
            <a:r>
              <a:rPr lang="en-US" sz="950" b="1" dirty="0">
                <a:solidFill>
                  <a:srgbClr val="113C75"/>
                </a:solidFill>
                <a:latin typeface="Calibri" pitchFamily="34" charset="0"/>
                <a:ea typeface="Calibri" pitchFamily="34" charset="-122"/>
                <a:cs typeface="Calibri" pitchFamily="34" charset="-120"/>
              </a:rPr>
              <a:t>coalesce(created date, load timestamp)</a:t>
            </a:r>
            <a:endParaRPr lang="en-US" sz="950" dirty="0"/>
          </a:p>
        </p:txBody>
      </p:sp>
      <p:sp>
        <p:nvSpPr>
          <p:cNvPr id="36" name="Text 34"/>
          <p:cNvSpPr/>
          <p:nvPr/>
        </p:nvSpPr>
        <p:spPr>
          <a:xfrm>
            <a:off x="8394192" y="4462272"/>
            <a:ext cx="3383280" cy="548640"/>
          </a:xfrm>
          <a:prstGeom prst="rect">
            <a:avLst/>
          </a:prstGeom>
          <a:noFill/>
          <a:ln/>
        </p:spPr>
        <p:txBody>
          <a:bodyPr wrap="square" rtlCol="0" anchor="ctr"/>
          <a:lstStyle/>
          <a:p>
            <a:pPr indent="0" marL="0">
              <a:lnSpc>
                <a:spcPts val="1300"/>
              </a:lnSpc>
              <a:buNone/>
            </a:pPr>
            <a:r>
              <a:rPr lang="en-US" sz="1000" b="1" dirty="0">
                <a:solidFill>
                  <a:srgbClr val="2C8A4B"/>
                </a:solidFill>
                <a:latin typeface="Calibri" pitchFamily="34" charset="0"/>
                <a:ea typeface="Calibri" pitchFamily="34" charset="-122"/>
                <a:cs typeface="Calibri" pitchFamily="34" charset="-120"/>
              </a:rPr>
              <a:t>✓  Original capture dates back a decade restored</a:t>
            </a:r>
            <a:endParaRPr lang="en-US" sz="1000" dirty="0"/>
          </a:p>
        </p:txBody>
      </p:sp>
      <p:sp>
        <p:nvSpPr>
          <p:cNvPr id="37" name="Shape 35"/>
          <p:cNvSpPr/>
          <p:nvPr/>
        </p:nvSpPr>
        <p:spPr>
          <a:xfrm>
            <a:off x="237744" y="5422392"/>
            <a:ext cx="11713464" cy="758952"/>
          </a:xfrm>
          <a:prstGeom prst="rect">
            <a:avLst/>
          </a:prstGeom>
          <a:solidFill>
            <a:srgbClr val="1A288E"/>
          </a:solidFill>
          <a:ln/>
        </p:spPr>
      </p:sp>
      <p:sp>
        <p:nvSpPr>
          <p:cNvPr id="38" name="Text 36"/>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COMMON THREAD</a:t>
            </a:r>
            <a:endParaRPr lang="en-US" sz="900" dirty="0"/>
          </a:p>
        </p:txBody>
      </p:sp>
      <p:sp>
        <p:nvSpPr>
          <p:cNvPr id="39" name="Text 37"/>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Every one traced to a legacy assumption that no longer held — a column always populated, a name carrying its data forward, a field meaning what it used to mean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ASSURANCE · QC WORKFLOW</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Self-Audit First, Then Validate Against Legacy</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A clean log proves the code ran, not that the output is right. Every run passes an internal audit before any comparison with the legacy platform is attempted</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Text 5"/>
          <p:cNvSpPr/>
          <p:nvPr/>
        </p:nvSpPr>
        <p:spPr>
          <a:xfrm>
            <a:off x="237744" y="1938528"/>
            <a:ext cx="5669280" cy="219456"/>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STAGE 1 · SELF-AUDIT  (inside the CDP)</a:t>
            </a:r>
            <a:endParaRPr lang="en-US" sz="950" dirty="0"/>
          </a:p>
        </p:txBody>
      </p:sp>
      <p:sp>
        <p:nvSpPr>
          <p:cNvPr id="8" name="Text 6"/>
          <p:cNvSpPr/>
          <p:nvPr/>
        </p:nvSpPr>
        <p:spPr>
          <a:xfrm>
            <a:off x="6126480" y="1938528"/>
            <a:ext cx="5669280" cy="219456"/>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STAGE 2 · LEGACY VALIDATION</a:t>
            </a:r>
            <a:endParaRPr lang="en-US" sz="950" dirty="0"/>
          </a:p>
        </p:txBody>
      </p:sp>
      <p:sp>
        <p:nvSpPr>
          <p:cNvPr id="9" name="Shape 7"/>
          <p:cNvSpPr/>
          <p:nvPr/>
        </p:nvSpPr>
        <p:spPr>
          <a:xfrm>
            <a:off x="237744" y="2231136"/>
            <a:ext cx="50292" cy="694944"/>
          </a:xfrm>
          <a:prstGeom prst="rect">
            <a:avLst/>
          </a:prstGeom>
          <a:solidFill>
            <a:srgbClr val="1861F5"/>
          </a:solidFill>
          <a:ln/>
        </p:spPr>
      </p:sp>
      <p:sp>
        <p:nvSpPr>
          <p:cNvPr id="10" name="Shape 8"/>
          <p:cNvSpPr/>
          <p:nvPr/>
        </p:nvSpPr>
        <p:spPr>
          <a:xfrm>
            <a:off x="288036" y="2231136"/>
            <a:ext cx="5609844" cy="694944"/>
          </a:xfrm>
          <a:prstGeom prst="rect">
            <a:avLst/>
          </a:prstGeom>
          <a:solidFill>
            <a:srgbClr val="F2F5FC"/>
          </a:solidFill>
          <a:ln/>
        </p:spPr>
      </p:sp>
      <p:sp>
        <p:nvSpPr>
          <p:cNvPr id="11" name="Text 9"/>
          <p:cNvSpPr/>
          <p:nvPr/>
        </p:nvSpPr>
        <p:spPr>
          <a:xfrm>
            <a:off x="438912" y="2286000"/>
            <a:ext cx="5294376"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Row-count integrity</a:t>
            </a:r>
            <a:endParaRPr lang="en-US" sz="1100" dirty="0"/>
          </a:p>
        </p:txBody>
      </p:sp>
      <p:sp>
        <p:nvSpPr>
          <p:cNvPr id="12" name="Text 10"/>
          <p:cNvSpPr/>
          <p:nvPr/>
        </p:nvSpPr>
        <p:spPr>
          <a:xfrm>
            <a:off x="438912" y="2514600"/>
            <a:ext cx="5294376" cy="365760"/>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Output must equal the requested audience exactly. A higher count means a merge appended rows instead of joining.</a:t>
            </a:r>
            <a:endParaRPr lang="en-US" sz="950" dirty="0"/>
          </a:p>
        </p:txBody>
      </p:sp>
      <p:sp>
        <p:nvSpPr>
          <p:cNvPr id="13" name="Shape 11"/>
          <p:cNvSpPr/>
          <p:nvPr/>
        </p:nvSpPr>
        <p:spPr>
          <a:xfrm>
            <a:off x="237744" y="2999232"/>
            <a:ext cx="50292" cy="694944"/>
          </a:xfrm>
          <a:prstGeom prst="rect">
            <a:avLst/>
          </a:prstGeom>
          <a:solidFill>
            <a:srgbClr val="1861F5"/>
          </a:solidFill>
          <a:ln/>
        </p:spPr>
      </p:sp>
      <p:sp>
        <p:nvSpPr>
          <p:cNvPr id="14" name="Shape 12"/>
          <p:cNvSpPr/>
          <p:nvPr/>
        </p:nvSpPr>
        <p:spPr>
          <a:xfrm>
            <a:off x="288036" y="2999232"/>
            <a:ext cx="5609844" cy="694944"/>
          </a:xfrm>
          <a:prstGeom prst="rect">
            <a:avLst/>
          </a:prstGeom>
          <a:solidFill>
            <a:srgbClr val="F2F5FC"/>
          </a:solidFill>
          <a:ln/>
        </p:spPr>
      </p:sp>
      <p:sp>
        <p:nvSpPr>
          <p:cNvPr id="15" name="Text 13"/>
          <p:cNvSpPr/>
          <p:nvPr/>
        </p:nvSpPr>
        <p:spPr>
          <a:xfrm>
            <a:off x="438912" y="3054096"/>
            <a:ext cx="5294376"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Variable population census</a:t>
            </a:r>
            <a:endParaRPr lang="en-US" sz="1100" dirty="0"/>
          </a:p>
        </p:txBody>
      </p:sp>
      <p:sp>
        <p:nvSpPr>
          <p:cNvPr id="16" name="Text 14"/>
          <p:cNvSpPr/>
          <p:nvPr/>
        </p:nvSpPr>
        <p:spPr>
          <a:xfrm>
            <a:off x="438912" y="3282696"/>
            <a:ext cx="5294376" cy="365760"/>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Every column classified populating, all-zero or all-blank. The zero list is the working defect queue.</a:t>
            </a:r>
            <a:endParaRPr lang="en-US" sz="950" dirty="0"/>
          </a:p>
        </p:txBody>
      </p:sp>
      <p:sp>
        <p:nvSpPr>
          <p:cNvPr id="17" name="Shape 15"/>
          <p:cNvSpPr/>
          <p:nvPr/>
        </p:nvSpPr>
        <p:spPr>
          <a:xfrm>
            <a:off x="237744" y="3767328"/>
            <a:ext cx="50292" cy="694944"/>
          </a:xfrm>
          <a:prstGeom prst="rect">
            <a:avLst/>
          </a:prstGeom>
          <a:solidFill>
            <a:srgbClr val="1861F5"/>
          </a:solidFill>
          <a:ln/>
        </p:spPr>
      </p:sp>
      <p:sp>
        <p:nvSpPr>
          <p:cNvPr id="18" name="Shape 16"/>
          <p:cNvSpPr/>
          <p:nvPr/>
        </p:nvSpPr>
        <p:spPr>
          <a:xfrm>
            <a:off x="288036" y="3767328"/>
            <a:ext cx="5609844" cy="694944"/>
          </a:xfrm>
          <a:prstGeom prst="rect">
            <a:avLst/>
          </a:prstGeom>
          <a:solidFill>
            <a:srgbClr val="F2F5FC"/>
          </a:solidFill>
          <a:ln/>
        </p:spPr>
      </p:sp>
      <p:sp>
        <p:nvSpPr>
          <p:cNvPr id="19" name="Text 17"/>
          <p:cNvSpPr/>
          <p:nvPr/>
        </p:nvSpPr>
        <p:spPr>
          <a:xfrm>
            <a:off x="438912" y="3822192"/>
            <a:ext cx="5294376"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Attribute comparison</a:t>
            </a:r>
            <a:endParaRPr lang="en-US" sz="1100" dirty="0"/>
          </a:p>
        </p:txBody>
      </p:sp>
      <p:sp>
        <p:nvSpPr>
          <p:cNvPr id="20" name="Text 18"/>
          <p:cNvSpPr/>
          <p:nvPr/>
        </p:nvSpPr>
        <p:spPr>
          <a:xfrm>
            <a:off x="438912" y="4050792"/>
            <a:ext cx="5294376" cy="365760"/>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Type, length and format checked against the legacy structure so differences surface as cosmetic or real.</a:t>
            </a:r>
            <a:endParaRPr lang="en-US" sz="950" dirty="0"/>
          </a:p>
        </p:txBody>
      </p:sp>
      <p:sp>
        <p:nvSpPr>
          <p:cNvPr id="21" name="Shape 19"/>
          <p:cNvSpPr/>
          <p:nvPr/>
        </p:nvSpPr>
        <p:spPr>
          <a:xfrm>
            <a:off x="237744" y="4535424"/>
            <a:ext cx="50292" cy="694944"/>
          </a:xfrm>
          <a:prstGeom prst="rect">
            <a:avLst/>
          </a:prstGeom>
          <a:solidFill>
            <a:srgbClr val="1861F5"/>
          </a:solidFill>
          <a:ln/>
        </p:spPr>
      </p:sp>
      <p:sp>
        <p:nvSpPr>
          <p:cNvPr id="22" name="Shape 20"/>
          <p:cNvSpPr/>
          <p:nvPr/>
        </p:nvSpPr>
        <p:spPr>
          <a:xfrm>
            <a:off x="288036" y="4535424"/>
            <a:ext cx="5609844" cy="694944"/>
          </a:xfrm>
          <a:prstGeom prst="rect">
            <a:avLst/>
          </a:prstGeom>
          <a:solidFill>
            <a:srgbClr val="F2F5FC"/>
          </a:solidFill>
          <a:ln/>
        </p:spPr>
      </p:sp>
      <p:sp>
        <p:nvSpPr>
          <p:cNvPr id="23" name="Text 21"/>
          <p:cNvSpPr/>
          <p:nvPr/>
        </p:nvSpPr>
        <p:spPr>
          <a:xfrm>
            <a:off x="438912" y="4590288"/>
            <a:ext cx="5294376"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Source reconciliation</a:t>
            </a:r>
            <a:endParaRPr lang="en-US" sz="1100" dirty="0"/>
          </a:p>
        </p:txBody>
      </p:sp>
      <p:sp>
        <p:nvSpPr>
          <p:cNvPr id="24" name="Text 22"/>
          <p:cNvSpPr/>
          <p:nvPr/>
        </p:nvSpPr>
        <p:spPr>
          <a:xfrm>
            <a:off x="438912" y="4818888"/>
            <a:ext cx="5294376" cy="365760"/>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Suspect variables re-derived directly against the CDP to confirm what the engine should have returned.</a:t>
            </a:r>
            <a:endParaRPr lang="en-US" sz="950" dirty="0"/>
          </a:p>
        </p:txBody>
      </p:sp>
      <p:sp>
        <p:nvSpPr>
          <p:cNvPr id="25" name="Shape 23"/>
          <p:cNvSpPr/>
          <p:nvPr/>
        </p:nvSpPr>
        <p:spPr>
          <a:xfrm>
            <a:off x="6126480" y="2231136"/>
            <a:ext cx="50292" cy="694944"/>
          </a:xfrm>
          <a:prstGeom prst="rect">
            <a:avLst/>
          </a:prstGeom>
          <a:solidFill>
            <a:srgbClr val="F96806"/>
          </a:solidFill>
          <a:ln/>
        </p:spPr>
      </p:sp>
      <p:sp>
        <p:nvSpPr>
          <p:cNvPr id="26" name="Shape 24"/>
          <p:cNvSpPr/>
          <p:nvPr/>
        </p:nvSpPr>
        <p:spPr>
          <a:xfrm>
            <a:off x="6176772" y="2231136"/>
            <a:ext cx="5774436" cy="694944"/>
          </a:xfrm>
          <a:prstGeom prst="rect">
            <a:avLst/>
          </a:prstGeom>
          <a:solidFill>
            <a:srgbClr val="F2F5FC"/>
          </a:solidFill>
          <a:ln/>
        </p:spPr>
      </p:sp>
      <p:sp>
        <p:nvSpPr>
          <p:cNvPr id="27" name="Text 25"/>
          <p:cNvSpPr/>
          <p:nvPr/>
        </p:nvSpPr>
        <p:spPr>
          <a:xfrm>
            <a:off x="6327648" y="2286000"/>
            <a:ext cx="5458968"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Normalise before comparing</a:t>
            </a:r>
            <a:endParaRPr lang="en-US" sz="1100" dirty="0"/>
          </a:p>
        </p:txBody>
      </p:sp>
      <p:sp>
        <p:nvSpPr>
          <p:cNvPr id="28" name="Text 26"/>
          <p:cNvSpPr/>
          <p:nvPr/>
        </p:nvSpPr>
        <p:spPr>
          <a:xfrm>
            <a:off x="6327648" y="2514600"/>
            <a:ext cx="5458968" cy="365760"/>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Build dates differ and dates are stored as offsets — both sides converted to calendar dates first.</a:t>
            </a:r>
            <a:endParaRPr lang="en-US" sz="950" dirty="0"/>
          </a:p>
        </p:txBody>
      </p:sp>
      <p:sp>
        <p:nvSpPr>
          <p:cNvPr id="29" name="Shape 27"/>
          <p:cNvSpPr/>
          <p:nvPr/>
        </p:nvSpPr>
        <p:spPr>
          <a:xfrm>
            <a:off x="6126480" y="2999232"/>
            <a:ext cx="50292" cy="694944"/>
          </a:xfrm>
          <a:prstGeom prst="rect">
            <a:avLst/>
          </a:prstGeom>
          <a:solidFill>
            <a:srgbClr val="F96806"/>
          </a:solidFill>
          <a:ln/>
        </p:spPr>
      </p:sp>
      <p:sp>
        <p:nvSpPr>
          <p:cNvPr id="30" name="Shape 28"/>
          <p:cNvSpPr/>
          <p:nvPr/>
        </p:nvSpPr>
        <p:spPr>
          <a:xfrm>
            <a:off x="6176772" y="2999232"/>
            <a:ext cx="5774436" cy="694944"/>
          </a:xfrm>
          <a:prstGeom prst="rect">
            <a:avLst/>
          </a:prstGeom>
          <a:solidFill>
            <a:srgbClr val="F2F5FC"/>
          </a:solidFill>
          <a:ln/>
        </p:spPr>
      </p:sp>
      <p:sp>
        <p:nvSpPr>
          <p:cNvPr id="31" name="Text 29"/>
          <p:cNvSpPr/>
          <p:nvPr/>
        </p:nvSpPr>
        <p:spPr>
          <a:xfrm>
            <a:off x="6327648" y="3054096"/>
            <a:ext cx="5458968"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Match on shared customers only</a:t>
            </a:r>
            <a:endParaRPr lang="en-US" sz="1100" dirty="0"/>
          </a:p>
        </p:txBody>
      </p:sp>
      <p:sp>
        <p:nvSpPr>
          <p:cNvPr id="32" name="Text 30"/>
          <p:cNvSpPr/>
          <p:nvPr/>
        </p:nvSpPr>
        <p:spPr>
          <a:xfrm>
            <a:off x="6327648" y="3282696"/>
            <a:ext cx="5458968" cy="365760"/>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The two universes are not identical; comparing on the overlap avoids false mismatches.</a:t>
            </a:r>
            <a:endParaRPr lang="en-US" sz="950" dirty="0"/>
          </a:p>
        </p:txBody>
      </p:sp>
      <p:sp>
        <p:nvSpPr>
          <p:cNvPr id="33" name="Shape 31"/>
          <p:cNvSpPr/>
          <p:nvPr/>
        </p:nvSpPr>
        <p:spPr>
          <a:xfrm>
            <a:off x="6126480" y="3767328"/>
            <a:ext cx="50292" cy="694944"/>
          </a:xfrm>
          <a:prstGeom prst="rect">
            <a:avLst/>
          </a:prstGeom>
          <a:solidFill>
            <a:srgbClr val="F96806"/>
          </a:solidFill>
          <a:ln/>
        </p:spPr>
      </p:sp>
      <p:sp>
        <p:nvSpPr>
          <p:cNvPr id="34" name="Shape 32"/>
          <p:cNvSpPr/>
          <p:nvPr/>
        </p:nvSpPr>
        <p:spPr>
          <a:xfrm>
            <a:off x="6176772" y="3767328"/>
            <a:ext cx="5774436" cy="694944"/>
          </a:xfrm>
          <a:prstGeom prst="rect">
            <a:avLst/>
          </a:prstGeom>
          <a:solidFill>
            <a:srgbClr val="F2F5FC"/>
          </a:solidFill>
          <a:ln/>
        </p:spPr>
      </p:sp>
      <p:sp>
        <p:nvSpPr>
          <p:cNvPr id="35" name="Text 33"/>
          <p:cNvSpPr/>
          <p:nvPr/>
        </p:nvSpPr>
        <p:spPr>
          <a:xfrm>
            <a:off x="6327648" y="3822192"/>
            <a:ext cx="5458968"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Band the results</a:t>
            </a:r>
            <a:endParaRPr lang="en-US" sz="1100" dirty="0"/>
          </a:p>
        </p:txBody>
      </p:sp>
      <p:sp>
        <p:nvSpPr>
          <p:cNvPr id="36" name="Text 34"/>
          <p:cNvSpPr/>
          <p:nvPr/>
        </p:nvSpPr>
        <p:spPr>
          <a:xfrm>
            <a:off x="6327648" y="4050792"/>
            <a:ext cx="5458968" cy="365760"/>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Variables grouped by match rate against the agreed 90% threshold so attention goes where it matters.</a:t>
            </a:r>
            <a:endParaRPr lang="en-US" sz="950" dirty="0"/>
          </a:p>
        </p:txBody>
      </p:sp>
      <p:sp>
        <p:nvSpPr>
          <p:cNvPr id="37" name="Shape 35"/>
          <p:cNvSpPr/>
          <p:nvPr/>
        </p:nvSpPr>
        <p:spPr>
          <a:xfrm>
            <a:off x="6126480" y="4535424"/>
            <a:ext cx="50292" cy="694944"/>
          </a:xfrm>
          <a:prstGeom prst="rect">
            <a:avLst/>
          </a:prstGeom>
          <a:solidFill>
            <a:srgbClr val="F96806"/>
          </a:solidFill>
          <a:ln/>
        </p:spPr>
      </p:sp>
      <p:sp>
        <p:nvSpPr>
          <p:cNvPr id="38" name="Shape 36"/>
          <p:cNvSpPr/>
          <p:nvPr/>
        </p:nvSpPr>
        <p:spPr>
          <a:xfrm>
            <a:off x="6176772" y="4535424"/>
            <a:ext cx="5774436" cy="694944"/>
          </a:xfrm>
          <a:prstGeom prst="rect">
            <a:avLst/>
          </a:prstGeom>
          <a:solidFill>
            <a:srgbClr val="F2F5FC"/>
          </a:solidFill>
          <a:ln/>
        </p:spPr>
      </p:sp>
      <p:sp>
        <p:nvSpPr>
          <p:cNvPr id="39" name="Text 37"/>
          <p:cNvSpPr/>
          <p:nvPr/>
        </p:nvSpPr>
        <p:spPr>
          <a:xfrm>
            <a:off x="6327648" y="4590288"/>
            <a:ext cx="5458968"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Separate defect from difference</a:t>
            </a:r>
            <a:endParaRPr lang="en-US" sz="1100" dirty="0"/>
          </a:p>
        </p:txBody>
      </p:sp>
      <p:sp>
        <p:nvSpPr>
          <p:cNvPr id="40" name="Text 38"/>
          <p:cNvSpPr/>
          <p:nvPr/>
        </p:nvSpPr>
        <p:spPr>
          <a:xfrm>
            <a:off x="6327648" y="4818888"/>
            <a:ext cx="5458968" cy="365760"/>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Re-classification and extra months of activity are expected variance — not every gap is a bug.</a:t>
            </a:r>
            <a:endParaRPr lang="en-US" sz="950" dirty="0"/>
          </a:p>
        </p:txBody>
      </p:sp>
      <p:sp>
        <p:nvSpPr>
          <p:cNvPr id="41" name="Shape 39"/>
          <p:cNvSpPr/>
          <p:nvPr/>
        </p:nvSpPr>
        <p:spPr>
          <a:xfrm>
            <a:off x="237744" y="5422392"/>
            <a:ext cx="11713464" cy="758952"/>
          </a:xfrm>
          <a:prstGeom prst="rect">
            <a:avLst/>
          </a:prstGeom>
          <a:solidFill>
            <a:srgbClr val="1A288E"/>
          </a:solidFill>
          <a:ln/>
        </p:spPr>
      </p:sp>
      <p:sp>
        <p:nvSpPr>
          <p:cNvPr id="42" name="Text 40"/>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GATE</a:t>
            </a:r>
            <a:endParaRPr lang="en-US" sz="900" dirty="0"/>
          </a:p>
        </p:txBody>
      </p:sp>
      <p:sp>
        <p:nvSpPr>
          <p:cNvPr id="43" name="Text 41"/>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Nothing was signed off on a clean log. A run with zero errors still carried 31 all-zero variables — the census, not the log, is what caught them</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PRACTICE · ITERATION SPEED</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Building a Test Harness That Told the Truth</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A full run took about an hour, which made verification — not repair — the bottleneck. A deliberately built small audience reproduced the full failure profile at a fraction of the cost</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93392"/>
            <a:ext cx="2807208" cy="932688"/>
          </a:xfrm>
          <a:prstGeom prst="rect">
            <a:avLst/>
          </a:prstGeom>
          <a:solidFill>
            <a:srgbClr val="F2F5FC"/>
          </a:solidFill>
          <a:ln/>
        </p:spPr>
      </p:sp>
      <p:sp>
        <p:nvSpPr>
          <p:cNvPr id="8" name="Shape 6"/>
          <p:cNvSpPr/>
          <p:nvPr/>
        </p:nvSpPr>
        <p:spPr>
          <a:xfrm>
            <a:off x="237744" y="1993392"/>
            <a:ext cx="50292" cy="932688"/>
          </a:xfrm>
          <a:prstGeom prst="rect">
            <a:avLst/>
          </a:prstGeom>
          <a:solidFill>
            <a:srgbClr val="1A288E"/>
          </a:solidFill>
          <a:ln/>
        </p:spPr>
      </p:sp>
      <p:sp>
        <p:nvSpPr>
          <p:cNvPr id="9" name="Text 7"/>
          <p:cNvSpPr/>
          <p:nvPr/>
        </p:nvSpPr>
        <p:spPr>
          <a:xfrm>
            <a:off x="420624" y="2084832"/>
            <a:ext cx="2487168" cy="457200"/>
          </a:xfrm>
          <a:prstGeom prst="rect">
            <a:avLst/>
          </a:prstGeom>
          <a:noFill/>
          <a:ln/>
        </p:spPr>
        <p:txBody>
          <a:bodyPr wrap="square" rtlCol="0" anchor="ctr"/>
          <a:lstStyle/>
          <a:p>
            <a:pPr indent="0" marL="0">
              <a:buNone/>
            </a:pPr>
            <a:r>
              <a:rPr lang="en-US" sz="2400" b="1" dirty="0">
                <a:solidFill>
                  <a:srgbClr val="1A288E"/>
                </a:solidFill>
                <a:latin typeface="Calibri" pitchFamily="34" charset="0"/>
                <a:ea typeface="Calibri" pitchFamily="34" charset="-122"/>
                <a:cs typeface="Calibri" pitchFamily="34" charset="-120"/>
              </a:rPr>
              <a:t>~600K</a:t>
            </a:r>
            <a:endParaRPr lang="en-US" sz="2400" dirty="0"/>
          </a:p>
        </p:txBody>
      </p:sp>
      <p:sp>
        <p:nvSpPr>
          <p:cNvPr id="10" name="Text 8"/>
          <p:cNvSpPr/>
          <p:nvPr/>
        </p:nvSpPr>
        <p:spPr>
          <a:xfrm>
            <a:off x="420624" y="2542032"/>
            <a:ext cx="2487168" cy="310896"/>
          </a:xfrm>
          <a:prstGeom prst="rect">
            <a:avLst/>
          </a:prstGeom>
          <a:noFill/>
          <a:ln/>
        </p:spPr>
        <p:txBody>
          <a:bodyPr wrap="square" rtlCol="0" anchor="ctr"/>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Customers in the production audience</a:t>
            </a:r>
            <a:endParaRPr lang="en-US" sz="900" dirty="0"/>
          </a:p>
        </p:txBody>
      </p:sp>
      <p:sp>
        <p:nvSpPr>
          <p:cNvPr id="11" name="Shape 9"/>
          <p:cNvSpPr/>
          <p:nvPr/>
        </p:nvSpPr>
        <p:spPr>
          <a:xfrm>
            <a:off x="3209544" y="1993392"/>
            <a:ext cx="2807208" cy="932688"/>
          </a:xfrm>
          <a:prstGeom prst="rect">
            <a:avLst/>
          </a:prstGeom>
          <a:solidFill>
            <a:srgbClr val="F2F5FC"/>
          </a:solidFill>
          <a:ln/>
        </p:spPr>
      </p:sp>
      <p:sp>
        <p:nvSpPr>
          <p:cNvPr id="12" name="Shape 10"/>
          <p:cNvSpPr/>
          <p:nvPr/>
        </p:nvSpPr>
        <p:spPr>
          <a:xfrm>
            <a:off x="3209544" y="1993392"/>
            <a:ext cx="50292" cy="932688"/>
          </a:xfrm>
          <a:prstGeom prst="rect">
            <a:avLst/>
          </a:prstGeom>
          <a:solidFill>
            <a:srgbClr val="F96806"/>
          </a:solidFill>
          <a:ln/>
        </p:spPr>
      </p:sp>
      <p:sp>
        <p:nvSpPr>
          <p:cNvPr id="13" name="Text 11"/>
          <p:cNvSpPr/>
          <p:nvPr/>
        </p:nvSpPr>
        <p:spPr>
          <a:xfrm>
            <a:off x="3392424" y="2084832"/>
            <a:ext cx="2487168" cy="457200"/>
          </a:xfrm>
          <a:prstGeom prst="rect">
            <a:avLst/>
          </a:prstGeom>
          <a:noFill/>
          <a:ln/>
        </p:spPr>
        <p:txBody>
          <a:bodyPr wrap="square" rtlCol="0" anchor="ctr"/>
          <a:lstStyle/>
          <a:p>
            <a:pPr indent="0" marL="0">
              <a:buNone/>
            </a:pPr>
            <a:r>
              <a:rPr lang="en-US" sz="2400" b="1" dirty="0">
                <a:solidFill>
                  <a:srgbClr val="F96806"/>
                </a:solidFill>
                <a:latin typeface="Calibri" pitchFamily="34" charset="0"/>
                <a:ea typeface="Calibri" pitchFamily="34" charset="-122"/>
                <a:cs typeface="Calibri" pitchFamily="34" charset="-120"/>
              </a:rPr>
              <a:t>~1K</a:t>
            </a:r>
            <a:endParaRPr lang="en-US" sz="2400" dirty="0"/>
          </a:p>
        </p:txBody>
      </p:sp>
      <p:sp>
        <p:nvSpPr>
          <p:cNvPr id="14" name="Text 12"/>
          <p:cNvSpPr/>
          <p:nvPr/>
        </p:nvSpPr>
        <p:spPr>
          <a:xfrm>
            <a:off x="3392424" y="2542032"/>
            <a:ext cx="2487168" cy="310896"/>
          </a:xfrm>
          <a:prstGeom prst="rect">
            <a:avLst/>
          </a:prstGeom>
          <a:noFill/>
          <a:ln/>
        </p:spPr>
        <p:txBody>
          <a:bodyPr wrap="square" rtlCol="0" anchor="ctr"/>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Customers in the test harness</a:t>
            </a:r>
            <a:endParaRPr lang="en-US" sz="900" dirty="0"/>
          </a:p>
        </p:txBody>
      </p:sp>
      <p:sp>
        <p:nvSpPr>
          <p:cNvPr id="15" name="Shape 13"/>
          <p:cNvSpPr/>
          <p:nvPr/>
        </p:nvSpPr>
        <p:spPr>
          <a:xfrm>
            <a:off x="6181344" y="1993392"/>
            <a:ext cx="2807208" cy="932688"/>
          </a:xfrm>
          <a:prstGeom prst="rect">
            <a:avLst/>
          </a:prstGeom>
          <a:solidFill>
            <a:srgbClr val="F2F5FC"/>
          </a:solidFill>
          <a:ln/>
        </p:spPr>
      </p:sp>
      <p:sp>
        <p:nvSpPr>
          <p:cNvPr id="16" name="Shape 14"/>
          <p:cNvSpPr/>
          <p:nvPr/>
        </p:nvSpPr>
        <p:spPr>
          <a:xfrm>
            <a:off x="6181344" y="1993392"/>
            <a:ext cx="50292" cy="932688"/>
          </a:xfrm>
          <a:prstGeom prst="rect">
            <a:avLst/>
          </a:prstGeom>
          <a:solidFill>
            <a:srgbClr val="2C8A4B"/>
          </a:solidFill>
          <a:ln/>
        </p:spPr>
      </p:sp>
      <p:sp>
        <p:nvSpPr>
          <p:cNvPr id="17" name="Text 15"/>
          <p:cNvSpPr/>
          <p:nvPr/>
        </p:nvSpPr>
        <p:spPr>
          <a:xfrm>
            <a:off x="6364224" y="2084832"/>
            <a:ext cx="2487168" cy="457200"/>
          </a:xfrm>
          <a:prstGeom prst="rect">
            <a:avLst/>
          </a:prstGeom>
          <a:noFill/>
          <a:ln/>
        </p:spPr>
        <p:txBody>
          <a:bodyPr wrap="square" rtlCol="0" anchor="ctr"/>
          <a:lstStyle/>
          <a:p>
            <a:pPr indent="0" marL="0">
              <a:buNone/>
            </a:pPr>
            <a:r>
              <a:rPr lang="en-US" sz="2400" b="1" dirty="0">
                <a:solidFill>
                  <a:srgbClr val="2C8A4B"/>
                </a:solidFill>
                <a:latin typeface="Calibri" pitchFamily="34" charset="0"/>
                <a:ea typeface="Calibri" pitchFamily="34" charset="-122"/>
                <a:cs typeface="Calibri" pitchFamily="34" charset="-120"/>
              </a:rPr>
              <a:t>Identical</a:t>
            </a:r>
            <a:endParaRPr lang="en-US" sz="2400" dirty="0"/>
          </a:p>
        </p:txBody>
      </p:sp>
      <p:sp>
        <p:nvSpPr>
          <p:cNvPr id="18" name="Text 16"/>
          <p:cNvSpPr/>
          <p:nvPr/>
        </p:nvSpPr>
        <p:spPr>
          <a:xfrm>
            <a:off x="6364224" y="2542032"/>
            <a:ext cx="2487168" cy="310896"/>
          </a:xfrm>
          <a:prstGeom prst="rect">
            <a:avLst/>
          </a:prstGeom>
          <a:noFill/>
          <a:ln/>
        </p:spPr>
        <p:txBody>
          <a:bodyPr wrap="square" rtlCol="0" anchor="ctr"/>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Error profile reproduced by the harness</a:t>
            </a:r>
            <a:endParaRPr lang="en-US" sz="900" dirty="0"/>
          </a:p>
        </p:txBody>
      </p:sp>
      <p:sp>
        <p:nvSpPr>
          <p:cNvPr id="19" name="Shape 17"/>
          <p:cNvSpPr/>
          <p:nvPr/>
        </p:nvSpPr>
        <p:spPr>
          <a:xfrm>
            <a:off x="9153144" y="1993392"/>
            <a:ext cx="2560320" cy="932688"/>
          </a:xfrm>
          <a:prstGeom prst="rect">
            <a:avLst/>
          </a:prstGeom>
          <a:solidFill>
            <a:srgbClr val="F2F5FC"/>
          </a:solidFill>
          <a:ln/>
        </p:spPr>
      </p:sp>
      <p:sp>
        <p:nvSpPr>
          <p:cNvPr id="20" name="Shape 18"/>
          <p:cNvSpPr/>
          <p:nvPr/>
        </p:nvSpPr>
        <p:spPr>
          <a:xfrm>
            <a:off x="9153144" y="1993392"/>
            <a:ext cx="50292" cy="932688"/>
          </a:xfrm>
          <a:prstGeom prst="rect">
            <a:avLst/>
          </a:prstGeom>
          <a:solidFill>
            <a:srgbClr val="F96806"/>
          </a:solidFill>
          <a:ln/>
        </p:spPr>
      </p:sp>
      <p:sp>
        <p:nvSpPr>
          <p:cNvPr id="21" name="Text 19"/>
          <p:cNvSpPr/>
          <p:nvPr/>
        </p:nvSpPr>
        <p:spPr>
          <a:xfrm>
            <a:off x="9336024" y="2084832"/>
            <a:ext cx="2240280" cy="457200"/>
          </a:xfrm>
          <a:prstGeom prst="rect">
            <a:avLst/>
          </a:prstGeom>
          <a:noFill/>
          <a:ln/>
        </p:spPr>
        <p:txBody>
          <a:bodyPr wrap="square" rtlCol="0" anchor="ctr"/>
          <a:lstStyle/>
          <a:p>
            <a:pPr indent="0" marL="0">
              <a:buNone/>
            </a:pPr>
            <a:r>
              <a:rPr lang="en-US" sz="2400" b="1" dirty="0">
                <a:solidFill>
                  <a:srgbClr val="F96806"/>
                </a:solidFill>
                <a:latin typeface="Calibri" pitchFamily="34" charset="0"/>
                <a:ea typeface="Calibri" pitchFamily="34" charset="-122"/>
                <a:cs typeface="Calibri" pitchFamily="34" charset="-120"/>
              </a:rPr>
              <a:t>1 / 570</a:t>
            </a:r>
            <a:endParaRPr lang="en-US" sz="2400" dirty="0"/>
          </a:p>
        </p:txBody>
      </p:sp>
      <p:sp>
        <p:nvSpPr>
          <p:cNvPr id="22" name="Text 20"/>
          <p:cNvSpPr/>
          <p:nvPr/>
        </p:nvSpPr>
        <p:spPr>
          <a:xfrm>
            <a:off x="9336024" y="2542032"/>
            <a:ext cx="2240280" cy="310896"/>
          </a:xfrm>
          <a:prstGeom prst="rect">
            <a:avLst/>
          </a:prstGeom>
          <a:noFill/>
          <a:ln/>
        </p:spPr>
        <p:txBody>
          <a:bodyPr wrap="square" rtlCol="0" anchor="ctr"/>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Of the data volume</a:t>
            </a:r>
            <a:endParaRPr lang="en-US" sz="900" dirty="0"/>
          </a:p>
        </p:txBody>
      </p:sp>
      <p:sp>
        <p:nvSpPr>
          <p:cNvPr id="23" name="Shape 21"/>
          <p:cNvSpPr/>
          <p:nvPr/>
        </p:nvSpPr>
        <p:spPr>
          <a:xfrm>
            <a:off x="237744" y="3200400"/>
            <a:ext cx="5715000" cy="1956816"/>
          </a:xfrm>
          <a:prstGeom prst="rect">
            <a:avLst/>
          </a:prstGeom>
          <a:solidFill>
            <a:srgbClr val="F2F5FC"/>
          </a:solidFill>
          <a:ln/>
        </p:spPr>
      </p:sp>
      <p:sp>
        <p:nvSpPr>
          <p:cNvPr id="24" name="Shape 22"/>
          <p:cNvSpPr/>
          <p:nvPr/>
        </p:nvSpPr>
        <p:spPr>
          <a:xfrm>
            <a:off x="237744" y="3200400"/>
            <a:ext cx="50292" cy="1956816"/>
          </a:xfrm>
          <a:prstGeom prst="rect">
            <a:avLst/>
          </a:prstGeom>
          <a:solidFill>
            <a:srgbClr val="1861F5"/>
          </a:solidFill>
          <a:ln/>
        </p:spPr>
      </p:sp>
      <p:sp>
        <p:nvSpPr>
          <p:cNvPr id="25" name="Text 23"/>
          <p:cNvSpPr/>
          <p:nvPr/>
        </p:nvSpPr>
        <p:spPr>
          <a:xfrm>
            <a:off x="466344" y="3328416"/>
            <a:ext cx="5303520" cy="219456"/>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HOW THE AUDIENCE WAS CHOSEN</a:t>
            </a:r>
            <a:endParaRPr lang="en-US" sz="950" dirty="0"/>
          </a:p>
        </p:txBody>
      </p:sp>
      <p:sp>
        <p:nvSpPr>
          <p:cNvPr id="26" name="Text 24"/>
          <p:cNvSpPr/>
          <p:nvPr/>
        </p:nvSpPr>
        <p:spPr>
          <a:xfrm>
            <a:off x="466344" y="3584448"/>
            <a:ext cx="5303520" cy="1481328"/>
          </a:xfrm>
          <a:prstGeom prst="rect">
            <a:avLst/>
          </a:prstGeom>
          <a:noFill/>
          <a:ln/>
        </p:spPr>
        <p:txBody>
          <a:bodyPr wrap="square" rtlCol="0" anchor="ctr"/>
          <a:lstStyle/>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Customers were ranked by how many variables actually carried data — not just non-missing, because the engine zero-fills unmatched numerics.</a:t>
            </a:r>
            <a:endParaRPr lang="en-US" sz="1000" dirty="0"/>
          </a:p>
          <a:p>
            <a:pPr indent="0" marL="0">
              <a:lnSpc>
                <a:spcPts val="1350"/>
              </a:lnSpc>
              <a:buNone/>
            </a:pPr>
            <a:endParaRPr lang="en-US" sz="1000" dirty="0"/>
          </a:p>
          <a:p>
            <a:pPr indent="0" marL="0">
              <a:lnSpc>
                <a:spcPts val="1350"/>
              </a:lnSpc>
              <a:buNone/>
            </a:pPr>
            <a:r>
              <a:rPr lang="en-US" sz="1000" dirty="0">
                <a:solidFill>
                  <a:srgbClr val="5B6577"/>
                </a:solidFill>
                <a:latin typeface="Calibri" pitchFamily="34" charset="0"/>
                <a:ea typeface="Calibri" pitchFamily="34" charset="-122"/>
                <a:cs typeface="Calibri" pitchFamily="34" charset="-120"/>
              </a:rPr>
              <a:t>The richest records exercised nearly every recipe, and a score threshold rather than a fixed count kept tied customers from being dropped arbitrarily. The audience was registered under its own isolated keycode.</a:t>
            </a:r>
            <a:endParaRPr lang="en-US" sz="1000" dirty="0"/>
          </a:p>
        </p:txBody>
      </p:sp>
      <p:sp>
        <p:nvSpPr>
          <p:cNvPr id="27" name="Shape 25"/>
          <p:cNvSpPr/>
          <p:nvPr/>
        </p:nvSpPr>
        <p:spPr>
          <a:xfrm>
            <a:off x="6126480" y="3200400"/>
            <a:ext cx="5614416" cy="1956816"/>
          </a:xfrm>
          <a:prstGeom prst="rect">
            <a:avLst/>
          </a:prstGeom>
          <a:solidFill>
            <a:srgbClr val="1A288E"/>
          </a:solidFill>
          <a:ln/>
        </p:spPr>
      </p:sp>
      <p:sp>
        <p:nvSpPr>
          <p:cNvPr id="28" name="Text 26"/>
          <p:cNvSpPr/>
          <p:nvPr/>
        </p:nvSpPr>
        <p:spPr>
          <a:xfrm>
            <a:off x="6327648" y="3328416"/>
            <a:ext cx="5212080" cy="219456"/>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WHAT IT CHANGED</a:t>
            </a:r>
            <a:endParaRPr lang="en-US" sz="950" dirty="0"/>
          </a:p>
        </p:txBody>
      </p:sp>
      <p:sp>
        <p:nvSpPr>
          <p:cNvPr id="29" name="Text 27"/>
          <p:cNvSpPr/>
          <p:nvPr/>
        </p:nvSpPr>
        <p:spPr>
          <a:xfrm>
            <a:off x="6327648" y="3611880"/>
            <a:ext cx="182880" cy="201168"/>
          </a:xfrm>
          <a:prstGeom prst="rect">
            <a:avLst/>
          </a:prstGeom>
          <a:noFill/>
          <a:ln/>
        </p:spPr>
        <p:txBody>
          <a:bodyPr wrap="square" rtlCol="0" anchor="ctr"/>
          <a:lstStyle/>
          <a:p>
            <a:pPr indent="0" marL="0">
              <a:buNone/>
            </a:pPr>
            <a:r>
              <a:rPr lang="en-US" sz="1000" dirty="0">
                <a:solidFill>
                  <a:srgbClr val="F96806"/>
                </a:solidFill>
                <a:latin typeface="Calibri" pitchFamily="34" charset="0"/>
                <a:ea typeface="Calibri" pitchFamily="34" charset="-122"/>
                <a:cs typeface="Calibri" pitchFamily="34" charset="-120"/>
              </a:rPr>
              <a:t>▪</a:t>
            </a:r>
            <a:endParaRPr lang="en-US" sz="1000" dirty="0"/>
          </a:p>
        </p:txBody>
      </p:sp>
      <p:sp>
        <p:nvSpPr>
          <p:cNvPr id="30" name="Text 28"/>
          <p:cNvSpPr/>
          <p:nvPr/>
        </p:nvSpPr>
        <p:spPr>
          <a:xfrm>
            <a:off x="6528816" y="3611880"/>
            <a:ext cx="5029200" cy="457200"/>
          </a:xfrm>
          <a:prstGeom prst="rect">
            <a:avLst/>
          </a:prstGeom>
          <a:noFill/>
          <a:ln/>
        </p:spPr>
        <p:txBody>
          <a:bodyPr wrap="square"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Same ~5K errors, same type-failure cascade, same 13 missing variables as the full run — a fix proven here was proven everywhere.</a:t>
            </a:r>
            <a:endParaRPr lang="en-US" sz="1000" dirty="0"/>
          </a:p>
        </p:txBody>
      </p:sp>
      <p:sp>
        <p:nvSpPr>
          <p:cNvPr id="31" name="Text 29"/>
          <p:cNvSpPr/>
          <p:nvPr/>
        </p:nvSpPr>
        <p:spPr>
          <a:xfrm>
            <a:off x="6327648" y="4123944"/>
            <a:ext cx="182880" cy="201168"/>
          </a:xfrm>
          <a:prstGeom prst="rect">
            <a:avLst/>
          </a:prstGeom>
          <a:noFill/>
          <a:ln/>
        </p:spPr>
        <p:txBody>
          <a:bodyPr wrap="square" rtlCol="0" anchor="ctr"/>
          <a:lstStyle/>
          <a:p>
            <a:pPr indent="0" marL="0">
              <a:buNone/>
            </a:pPr>
            <a:r>
              <a:rPr lang="en-US" sz="1000" dirty="0">
                <a:solidFill>
                  <a:srgbClr val="F96806"/>
                </a:solidFill>
                <a:latin typeface="Calibri" pitchFamily="34" charset="0"/>
                <a:ea typeface="Calibri" pitchFamily="34" charset="-122"/>
                <a:cs typeface="Calibri" pitchFamily="34" charset="-120"/>
              </a:rPr>
              <a:t>▪</a:t>
            </a:r>
            <a:endParaRPr lang="en-US" sz="1000" dirty="0"/>
          </a:p>
        </p:txBody>
      </p:sp>
      <p:sp>
        <p:nvSpPr>
          <p:cNvPr id="32" name="Text 30"/>
          <p:cNvSpPr/>
          <p:nvPr/>
        </p:nvSpPr>
        <p:spPr>
          <a:xfrm>
            <a:off x="6528816" y="4123944"/>
            <a:ext cx="5029200" cy="457200"/>
          </a:xfrm>
          <a:prstGeom prst="rect">
            <a:avLst/>
          </a:prstGeom>
          <a:noFill/>
          <a:ln/>
        </p:spPr>
        <p:txBody>
          <a:bodyPr wrap="square"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Each change could be verified on its own instead of batched, so cause and effect stayed attributable.</a:t>
            </a:r>
            <a:endParaRPr lang="en-US" sz="1000" dirty="0"/>
          </a:p>
        </p:txBody>
      </p:sp>
      <p:sp>
        <p:nvSpPr>
          <p:cNvPr id="33" name="Text 31"/>
          <p:cNvSpPr/>
          <p:nvPr/>
        </p:nvSpPr>
        <p:spPr>
          <a:xfrm>
            <a:off x="6327648" y="4636008"/>
            <a:ext cx="182880" cy="201168"/>
          </a:xfrm>
          <a:prstGeom prst="rect">
            <a:avLst/>
          </a:prstGeom>
          <a:noFill/>
          <a:ln/>
        </p:spPr>
        <p:txBody>
          <a:bodyPr wrap="square" rtlCol="0" anchor="ctr"/>
          <a:lstStyle/>
          <a:p>
            <a:pPr indent="0" marL="0">
              <a:buNone/>
            </a:pPr>
            <a:r>
              <a:rPr lang="en-US" sz="1000" dirty="0">
                <a:solidFill>
                  <a:srgbClr val="F96806"/>
                </a:solidFill>
                <a:latin typeface="Calibri" pitchFamily="34" charset="0"/>
                <a:ea typeface="Calibri" pitchFamily="34" charset="-122"/>
                <a:cs typeface="Calibri" pitchFamily="34" charset="-120"/>
              </a:rPr>
              <a:t>▪</a:t>
            </a:r>
            <a:endParaRPr lang="en-US" sz="1000" dirty="0"/>
          </a:p>
        </p:txBody>
      </p:sp>
      <p:sp>
        <p:nvSpPr>
          <p:cNvPr id="34" name="Text 32"/>
          <p:cNvSpPr/>
          <p:nvPr/>
        </p:nvSpPr>
        <p:spPr>
          <a:xfrm>
            <a:off x="6528816" y="4636008"/>
            <a:ext cx="5029200" cy="457200"/>
          </a:xfrm>
          <a:prstGeom prst="rect">
            <a:avLst/>
          </a:prstGeom>
          <a:noFill/>
          <a:ln/>
        </p:spPr>
        <p:txBody>
          <a:bodyPr wrap="square"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Production audience and outputs were never touched while debugging.</a:t>
            </a:r>
            <a:endParaRPr lang="en-US" sz="1000" dirty="0"/>
          </a:p>
        </p:txBody>
      </p:sp>
      <p:sp>
        <p:nvSpPr>
          <p:cNvPr id="35" name="Shape 33"/>
          <p:cNvSpPr/>
          <p:nvPr/>
        </p:nvSpPr>
        <p:spPr>
          <a:xfrm>
            <a:off x="237744" y="5422392"/>
            <a:ext cx="11713464" cy="758952"/>
          </a:xfrm>
          <a:prstGeom prst="rect">
            <a:avLst/>
          </a:prstGeom>
          <a:solidFill>
            <a:srgbClr val="1A288E"/>
          </a:solidFill>
          <a:ln/>
        </p:spPr>
      </p:sp>
      <p:sp>
        <p:nvSpPr>
          <p:cNvPr id="36" name="Text 34"/>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CAVEAT WE KEPT IN VIEW</a:t>
            </a:r>
            <a:endParaRPr lang="en-US" sz="900" dirty="0"/>
          </a:p>
        </p:txBody>
      </p:sp>
      <p:sp>
        <p:nvSpPr>
          <p:cNvPr id="37" name="Text 35"/>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A harness of the richest records is right for proving code paths and wrong for measuring fill rates — final population was always confirmed on the full ~600K audience, never the sample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BEYOND THE LOGIC · OPERATIONAL TRAPS</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Four Failures That Had Nothing to Do With the Variables</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Not every broken run was a logic defect. These four produced empty or wrong output with little or no warning — and each would have been mis-diagnosed as a code problem without the run discipline that caught it</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65960"/>
            <a:ext cx="2807208" cy="54864"/>
          </a:xfrm>
          <a:prstGeom prst="rect">
            <a:avLst/>
          </a:prstGeom>
          <a:solidFill>
            <a:srgbClr val="B3261E"/>
          </a:solidFill>
          <a:ln/>
        </p:spPr>
      </p:sp>
      <p:sp>
        <p:nvSpPr>
          <p:cNvPr id="8" name="Shape 6"/>
          <p:cNvSpPr/>
          <p:nvPr/>
        </p:nvSpPr>
        <p:spPr>
          <a:xfrm>
            <a:off x="237744" y="2020824"/>
            <a:ext cx="2807208" cy="3136392"/>
          </a:xfrm>
          <a:prstGeom prst="rect">
            <a:avLst/>
          </a:prstGeom>
          <a:solidFill>
            <a:srgbClr val="F2F5FC"/>
          </a:solidFill>
          <a:ln/>
        </p:spPr>
      </p:sp>
      <p:sp>
        <p:nvSpPr>
          <p:cNvPr id="9" name="Text 7"/>
          <p:cNvSpPr/>
          <p:nvPr/>
        </p:nvSpPr>
        <p:spPr>
          <a:xfrm>
            <a:off x="402336" y="2112264"/>
            <a:ext cx="548640" cy="237744"/>
          </a:xfrm>
          <a:prstGeom prst="rect">
            <a:avLst/>
          </a:prstGeom>
          <a:noFill/>
          <a:ln/>
        </p:spPr>
        <p:txBody>
          <a:bodyPr wrap="square"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01</a:t>
            </a:r>
            <a:endParaRPr lang="en-US" sz="1400" dirty="0"/>
          </a:p>
        </p:txBody>
      </p:sp>
      <p:sp>
        <p:nvSpPr>
          <p:cNvPr id="10" name="Text 8"/>
          <p:cNvSpPr/>
          <p:nvPr/>
        </p:nvSpPr>
        <p:spPr>
          <a:xfrm>
            <a:off x="402336" y="2395728"/>
            <a:ext cx="2514600" cy="274320"/>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Leftover staging table</a:t>
            </a:r>
            <a:endParaRPr lang="en-US" sz="1200" dirty="0"/>
          </a:p>
        </p:txBody>
      </p:sp>
      <p:sp>
        <p:nvSpPr>
          <p:cNvPr id="11" name="Text 9"/>
          <p:cNvSpPr/>
          <p:nvPr/>
        </p:nvSpPr>
        <p:spPr>
          <a:xfrm>
            <a:off x="402336" y="2724912"/>
            <a:ext cx="2514600" cy="182880"/>
          </a:xfrm>
          <a:prstGeom prst="rect">
            <a:avLst/>
          </a:prstGeom>
          <a:noFill/>
          <a:ln/>
        </p:spPr>
        <p:txBody>
          <a:bodyPr wrap="square" rtlCol="0" anchor="ctr"/>
          <a:lstStyle/>
          <a:p>
            <a:pPr indent="0" marL="0">
              <a:buNone/>
            </a:pPr>
            <a:r>
              <a:rPr lang="en-US" sz="800" b="1" spc="100" kern="0" dirty="0">
                <a:solidFill>
                  <a:srgbClr val="64748B"/>
                </a:solidFill>
                <a:latin typeface="Calibri" pitchFamily="34" charset="0"/>
                <a:ea typeface="Calibri" pitchFamily="34" charset="-122"/>
                <a:cs typeface="Calibri" pitchFamily="34" charset="-120"/>
              </a:rPr>
              <a:t>WHAT HAPPENED</a:t>
            </a:r>
            <a:endParaRPr lang="en-US" sz="800" dirty="0"/>
          </a:p>
        </p:txBody>
      </p:sp>
      <p:sp>
        <p:nvSpPr>
          <p:cNvPr id="12" name="Text 10"/>
          <p:cNvSpPr/>
          <p:nvPr/>
        </p:nvSpPr>
        <p:spPr>
          <a:xfrm>
            <a:off x="402336" y="2907792"/>
            <a:ext cx="2514600" cy="841248"/>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An aborted run left its permanent audience table behind. The next run's CREATE failed, the audience loaded empty, and the job finished 'successfully' with zero rows.</a:t>
            </a:r>
            <a:endParaRPr lang="en-US" sz="950" dirty="0"/>
          </a:p>
        </p:txBody>
      </p:sp>
      <p:sp>
        <p:nvSpPr>
          <p:cNvPr id="13" name="Text 11"/>
          <p:cNvSpPr/>
          <p:nvPr/>
        </p:nvSpPr>
        <p:spPr>
          <a:xfrm>
            <a:off x="402336" y="3767328"/>
            <a:ext cx="2514600" cy="164592"/>
          </a:xfrm>
          <a:prstGeom prst="rect">
            <a:avLst/>
          </a:prstGeom>
          <a:noFill/>
          <a:ln/>
        </p:spPr>
        <p:txBody>
          <a:bodyPr wrap="square" rtlCol="0" anchor="ctr"/>
          <a:lstStyle/>
          <a:p>
            <a:pPr indent="0" marL="0">
              <a:buNone/>
            </a:pPr>
            <a:r>
              <a:rPr lang="en-US" sz="800" b="1" spc="100" kern="0" dirty="0">
                <a:solidFill>
                  <a:srgbClr val="64748B"/>
                </a:solidFill>
                <a:latin typeface="Calibri" pitchFamily="34" charset="0"/>
                <a:ea typeface="Calibri" pitchFamily="34" charset="-122"/>
                <a:cs typeface="Calibri" pitchFamily="34" charset="-120"/>
              </a:rPr>
              <a:t>HOW IT WAS CAUGHT</a:t>
            </a:r>
            <a:endParaRPr lang="en-US" sz="800" dirty="0"/>
          </a:p>
        </p:txBody>
      </p:sp>
      <p:sp>
        <p:nvSpPr>
          <p:cNvPr id="14" name="Text 12"/>
          <p:cNvSpPr/>
          <p:nvPr/>
        </p:nvSpPr>
        <p:spPr>
          <a:xfrm>
            <a:off x="402336" y="3931920"/>
            <a:ext cx="2514600" cy="365760"/>
          </a:xfrm>
          <a:prstGeom prst="rect">
            <a:avLst/>
          </a:prstGeom>
          <a:noFill/>
          <a:ln/>
        </p:spPr>
        <p:txBody>
          <a:bodyPr wrap="square" rtlCol="0" anchor="t"/>
          <a:lstStyle/>
          <a:p>
            <a:pPr indent="0" marL="0">
              <a:lnSpc>
                <a:spcPts val="1100"/>
              </a:lnSpc>
              <a:buNone/>
            </a:pPr>
            <a:r>
              <a:rPr lang="en-US" sz="900" i="1" dirty="0">
                <a:solidFill>
                  <a:srgbClr val="5B6577"/>
                </a:solidFill>
                <a:latin typeface="Calibri" pitchFamily="34" charset="0"/>
                <a:ea typeface="Calibri" pitchFamily="34" charset="-122"/>
                <a:cs typeface="Calibri" pitchFamily="34" charset="-120"/>
              </a:rPr>
              <a:t>Output created with 0 rows; the CREATE error sat in the redirected log</a:t>
            </a:r>
            <a:endParaRPr lang="en-US" sz="900" dirty="0"/>
          </a:p>
        </p:txBody>
      </p:sp>
      <p:sp>
        <p:nvSpPr>
          <p:cNvPr id="15" name="Shape 13"/>
          <p:cNvSpPr/>
          <p:nvPr/>
        </p:nvSpPr>
        <p:spPr>
          <a:xfrm>
            <a:off x="402336" y="4389120"/>
            <a:ext cx="2487168" cy="676656"/>
          </a:xfrm>
          <a:prstGeom prst="rect">
            <a:avLst/>
          </a:prstGeom>
          <a:solidFill>
            <a:srgbClr val="E1F0E6"/>
          </a:solidFill>
          <a:ln/>
        </p:spPr>
      </p:sp>
      <p:sp>
        <p:nvSpPr>
          <p:cNvPr id="16" name="Text 14"/>
          <p:cNvSpPr/>
          <p:nvPr/>
        </p:nvSpPr>
        <p:spPr>
          <a:xfrm>
            <a:off x="493776" y="4443984"/>
            <a:ext cx="2286000" cy="164592"/>
          </a:xfrm>
          <a:prstGeom prst="rect">
            <a:avLst/>
          </a:prstGeom>
          <a:noFill/>
          <a:ln/>
        </p:spPr>
        <p:txBody>
          <a:bodyPr wrap="square" rtlCol="0" anchor="ctr"/>
          <a:lstStyle/>
          <a:p>
            <a:pPr indent="0" marL="0">
              <a:buNone/>
            </a:pPr>
            <a:r>
              <a:rPr lang="en-US" sz="750" b="1" spc="100" kern="0" dirty="0">
                <a:solidFill>
                  <a:srgbClr val="2C8A4B"/>
                </a:solidFill>
                <a:latin typeface="Calibri" pitchFamily="34" charset="0"/>
                <a:ea typeface="Calibri" pitchFamily="34" charset="-122"/>
                <a:cs typeface="Calibri" pitchFamily="34" charset="-120"/>
              </a:rPr>
              <a:t>SAFEGUARD</a:t>
            </a:r>
            <a:endParaRPr lang="en-US" sz="750" dirty="0"/>
          </a:p>
        </p:txBody>
      </p:sp>
      <p:sp>
        <p:nvSpPr>
          <p:cNvPr id="17" name="Text 15"/>
          <p:cNvSpPr/>
          <p:nvPr/>
        </p:nvSpPr>
        <p:spPr>
          <a:xfrm>
            <a:off x="493776" y="4608576"/>
            <a:ext cx="2331720" cy="420624"/>
          </a:xfrm>
          <a:prstGeom prst="rect">
            <a:avLst/>
          </a:prstGeom>
          <a:noFill/>
          <a:ln/>
        </p:spPr>
        <p:txBody>
          <a:bodyPr wrap="square" rtlCol="0" anchor="t"/>
          <a:lstStyle/>
          <a:p>
            <a:pPr indent="0" marL="0">
              <a:lnSpc>
                <a:spcPts val="1100"/>
              </a:lnSpc>
              <a:buNone/>
            </a:pPr>
            <a:r>
              <a:rPr lang="en-US" sz="900" b="1" dirty="0">
                <a:solidFill>
                  <a:srgbClr val="1E6B38"/>
                </a:solidFill>
                <a:latin typeface="Calibri" pitchFamily="34" charset="0"/>
                <a:ea typeface="Calibri" pitchFamily="34" charset="-122"/>
                <a:cs typeface="Calibri" pitchFamily="34" charset="-120"/>
              </a:rPr>
              <a:t>Existence guard drops any stale table before rebuild</a:t>
            </a:r>
            <a:endParaRPr lang="en-US" sz="900" dirty="0"/>
          </a:p>
        </p:txBody>
      </p:sp>
      <p:sp>
        <p:nvSpPr>
          <p:cNvPr id="18" name="Shape 16"/>
          <p:cNvSpPr/>
          <p:nvPr/>
        </p:nvSpPr>
        <p:spPr>
          <a:xfrm>
            <a:off x="3209544" y="1965960"/>
            <a:ext cx="2807208" cy="54864"/>
          </a:xfrm>
          <a:prstGeom prst="rect">
            <a:avLst/>
          </a:prstGeom>
          <a:solidFill>
            <a:srgbClr val="B3261E"/>
          </a:solidFill>
          <a:ln/>
        </p:spPr>
      </p:sp>
      <p:sp>
        <p:nvSpPr>
          <p:cNvPr id="19" name="Shape 17"/>
          <p:cNvSpPr/>
          <p:nvPr/>
        </p:nvSpPr>
        <p:spPr>
          <a:xfrm>
            <a:off x="3209544" y="2020824"/>
            <a:ext cx="2807208" cy="3136392"/>
          </a:xfrm>
          <a:prstGeom prst="rect">
            <a:avLst/>
          </a:prstGeom>
          <a:solidFill>
            <a:srgbClr val="F2F5FC"/>
          </a:solidFill>
          <a:ln/>
        </p:spPr>
      </p:sp>
      <p:sp>
        <p:nvSpPr>
          <p:cNvPr id="20" name="Text 18"/>
          <p:cNvSpPr/>
          <p:nvPr/>
        </p:nvSpPr>
        <p:spPr>
          <a:xfrm>
            <a:off x="3374136" y="2112264"/>
            <a:ext cx="548640" cy="237744"/>
          </a:xfrm>
          <a:prstGeom prst="rect">
            <a:avLst/>
          </a:prstGeom>
          <a:noFill/>
          <a:ln/>
        </p:spPr>
        <p:txBody>
          <a:bodyPr wrap="square"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02</a:t>
            </a:r>
            <a:endParaRPr lang="en-US" sz="1400" dirty="0"/>
          </a:p>
        </p:txBody>
      </p:sp>
      <p:sp>
        <p:nvSpPr>
          <p:cNvPr id="21" name="Text 19"/>
          <p:cNvSpPr/>
          <p:nvPr/>
        </p:nvSpPr>
        <p:spPr>
          <a:xfrm>
            <a:off x="3374136" y="2395728"/>
            <a:ext cx="2514600" cy="274320"/>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Key-domain mismatch</a:t>
            </a:r>
            <a:endParaRPr lang="en-US" sz="1200" dirty="0"/>
          </a:p>
        </p:txBody>
      </p:sp>
      <p:sp>
        <p:nvSpPr>
          <p:cNvPr id="22" name="Text 20"/>
          <p:cNvSpPr/>
          <p:nvPr/>
        </p:nvSpPr>
        <p:spPr>
          <a:xfrm>
            <a:off x="3374136" y="2724912"/>
            <a:ext cx="2514600" cy="182880"/>
          </a:xfrm>
          <a:prstGeom prst="rect">
            <a:avLst/>
          </a:prstGeom>
          <a:noFill/>
          <a:ln/>
        </p:spPr>
        <p:txBody>
          <a:bodyPr wrap="square" rtlCol="0" anchor="ctr"/>
          <a:lstStyle/>
          <a:p>
            <a:pPr indent="0" marL="0">
              <a:buNone/>
            </a:pPr>
            <a:r>
              <a:rPr lang="en-US" sz="800" b="1" spc="100" kern="0" dirty="0">
                <a:solidFill>
                  <a:srgbClr val="64748B"/>
                </a:solidFill>
                <a:latin typeface="Calibri" pitchFamily="34" charset="0"/>
                <a:ea typeface="Calibri" pitchFamily="34" charset="-122"/>
                <a:cs typeface="Calibri" pitchFamily="34" charset="-120"/>
              </a:rPr>
              <a:t>WHAT HAPPENED</a:t>
            </a:r>
            <a:endParaRPr lang="en-US" sz="800" dirty="0"/>
          </a:p>
        </p:txBody>
      </p:sp>
      <p:sp>
        <p:nvSpPr>
          <p:cNvPr id="23" name="Text 21"/>
          <p:cNvSpPr/>
          <p:nvPr/>
        </p:nvSpPr>
        <p:spPr>
          <a:xfrm>
            <a:off x="3374136" y="2907792"/>
            <a:ext cx="2514600" cy="841248"/>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A new recipe grouped on the platform's profile key but labelled it as the customer key. The merge matched nothing and appended rows — output grew by half.</a:t>
            </a:r>
            <a:endParaRPr lang="en-US" sz="950" dirty="0"/>
          </a:p>
        </p:txBody>
      </p:sp>
      <p:sp>
        <p:nvSpPr>
          <p:cNvPr id="24" name="Text 22"/>
          <p:cNvSpPr/>
          <p:nvPr/>
        </p:nvSpPr>
        <p:spPr>
          <a:xfrm>
            <a:off x="3374136" y="3767328"/>
            <a:ext cx="2514600" cy="164592"/>
          </a:xfrm>
          <a:prstGeom prst="rect">
            <a:avLst/>
          </a:prstGeom>
          <a:noFill/>
          <a:ln/>
        </p:spPr>
        <p:txBody>
          <a:bodyPr wrap="square" rtlCol="0" anchor="ctr"/>
          <a:lstStyle/>
          <a:p>
            <a:pPr indent="0" marL="0">
              <a:buNone/>
            </a:pPr>
            <a:r>
              <a:rPr lang="en-US" sz="800" b="1" spc="100" kern="0" dirty="0">
                <a:solidFill>
                  <a:srgbClr val="64748B"/>
                </a:solidFill>
                <a:latin typeface="Calibri" pitchFamily="34" charset="0"/>
                <a:ea typeface="Calibri" pitchFamily="34" charset="-122"/>
                <a:cs typeface="Calibri" pitchFamily="34" charset="-120"/>
              </a:rPr>
              <a:t>HOW IT WAS CAUGHT</a:t>
            </a:r>
            <a:endParaRPr lang="en-US" sz="800" dirty="0"/>
          </a:p>
        </p:txBody>
      </p:sp>
      <p:sp>
        <p:nvSpPr>
          <p:cNvPr id="25" name="Text 23"/>
          <p:cNvSpPr/>
          <p:nvPr/>
        </p:nvSpPr>
        <p:spPr>
          <a:xfrm>
            <a:off x="3374136" y="3931920"/>
            <a:ext cx="2514600" cy="365760"/>
          </a:xfrm>
          <a:prstGeom prst="rect">
            <a:avLst/>
          </a:prstGeom>
          <a:noFill/>
          <a:ln/>
        </p:spPr>
        <p:txBody>
          <a:bodyPr wrap="square" rtlCol="0" anchor="t"/>
          <a:lstStyle/>
          <a:p>
            <a:pPr indent="0" marL="0">
              <a:lnSpc>
                <a:spcPts val="1100"/>
              </a:lnSpc>
              <a:buNone/>
            </a:pPr>
            <a:r>
              <a:rPr lang="en-US" sz="900" i="1" dirty="0">
                <a:solidFill>
                  <a:srgbClr val="5B6577"/>
                </a:solidFill>
                <a:latin typeface="Calibri" pitchFamily="34" charset="0"/>
                <a:ea typeface="Calibri" pitchFamily="34" charset="-122"/>
                <a:cs typeface="Calibri" pitchFamily="34" charset="-120"/>
              </a:rPr>
              <a:t>Output row count exceeded the requested audience by ~50%</a:t>
            </a:r>
            <a:endParaRPr lang="en-US" sz="900" dirty="0"/>
          </a:p>
        </p:txBody>
      </p:sp>
      <p:sp>
        <p:nvSpPr>
          <p:cNvPr id="26" name="Shape 24"/>
          <p:cNvSpPr/>
          <p:nvPr/>
        </p:nvSpPr>
        <p:spPr>
          <a:xfrm>
            <a:off x="3374136" y="4389120"/>
            <a:ext cx="2487168" cy="676656"/>
          </a:xfrm>
          <a:prstGeom prst="rect">
            <a:avLst/>
          </a:prstGeom>
          <a:solidFill>
            <a:srgbClr val="E1F0E6"/>
          </a:solidFill>
          <a:ln/>
        </p:spPr>
      </p:sp>
      <p:sp>
        <p:nvSpPr>
          <p:cNvPr id="27" name="Text 25"/>
          <p:cNvSpPr/>
          <p:nvPr/>
        </p:nvSpPr>
        <p:spPr>
          <a:xfrm>
            <a:off x="3465576" y="4443984"/>
            <a:ext cx="2286000" cy="164592"/>
          </a:xfrm>
          <a:prstGeom prst="rect">
            <a:avLst/>
          </a:prstGeom>
          <a:noFill/>
          <a:ln/>
        </p:spPr>
        <p:txBody>
          <a:bodyPr wrap="square" rtlCol="0" anchor="ctr"/>
          <a:lstStyle/>
          <a:p>
            <a:pPr indent="0" marL="0">
              <a:buNone/>
            </a:pPr>
            <a:r>
              <a:rPr lang="en-US" sz="750" b="1" spc="100" kern="0" dirty="0">
                <a:solidFill>
                  <a:srgbClr val="2C8A4B"/>
                </a:solidFill>
                <a:latin typeface="Calibri" pitchFamily="34" charset="0"/>
                <a:ea typeface="Calibri" pitchFamily="34" charset="-122"/>
                <a:cs typeface="Calibri" pitchFamily="34" charset="-120"/>
              </a:rPr>
              <a:t>SAFEGUARD</a:t>
            </a:r>
            <a:endParaRPr lang="en-US" sz="750" dirty="0"/>
          </a:p>
        </p:txBody>
      </p:sp>
      <p:sp>
        <p:nvSpPr>
          <p:cNvPr id="28" name="Text 26"/>
          <p:cNvSpPr/>
          <p:nvPr/>
        </p:nvSpPr>
        <p:spPr>
          <a:xfrm>
            <a:off x="3465576" y="4608576"/>
            <a:ext cx="2331720" cy="420624"/>
          </a:xfrm>
          <a:prstGeom prst="rect">
            <a:avLst/>
          </a:prstGeom>
          <a:noFill/>
          <a:ln/>
        </p:spPr>
        <p:txBody>
          <a:bodyPr wrap="square" rtlCol="0" anchor="t"/>
          <a:lstStyle/>
          <a:p>
            <a:pPr indent="0" marL="0">
              <a:lnSpc>
                <a:spcPts val="1100"/>
              </a:lnSpc>
              <a:buNone/>
            </a:pPr>
            <a:r>
              <a:rPr lang="en-US" sz="900" b="1" dirty="0">
                <a:solidFill>
                  <a:srgbClr val="1E6B38"/>
                </a:solidFill>
                <a:latin typeface="Calibri" pitchFamily="34" charset="0"/>
                <a:ea typeface="Calibri" pitchFamily="34" charset="-122"/>
                <a:cs typeface="Calibri" pitchFamily="34" charset="-120"/>
              </a:rPr>
              <a:t>Row-count check: output must equal the audience exactly</a:t>
            </a:r>
            <a:endParaRPr lang="en-US" sz="900" dirty="0"/>
          </a:p>
        </p:txBody>
      </p:sp>
      <p:sp>
        <p:nvSpPr>
          <p:cNvPr id="29" name="Shape 27"/>
          <p:cNvSpPr/>
          <p:nvPr/>
        </p:nvSpPr>
        <p:spPr>
          <a:xfrm>
            <a:off x="6181344" y="1965960"/>
            <a:ext cx="2807208" cy="54864"/>
          </a:xfrm>
          <a:prstGeom prst="rect">
            <a:avLst/>
          </a:prstGeom>
          <a:solidFill>
            <a:srgbClr val="B3261E"/>
          </a:solidFill>
          <a:ln/>
        </p:spPr>
      </p:sp>
      <p:sp>
        <p:nvSpPr>
          <p:cNvPr id="30" name="Shape 28"/>
          <p:cNvSpPr/>
          <p:nvPr/>
        </p:nvSpPr>
        <p:spPr>
          <a:xfrm>
            <a:off x="6181344" y="2020824"/>
            <a:ext cx="2807208" cy="3136392"/>
          </a:xfrm>
          <a:prstGeom prst="rect">
            <a:avLst/>
          </a:prstGeom>
          <a:solidFill>
            <a:srgbClr val="F2F5FC"/>
          </a:solidFill>
          <a:ln/>
        </p:spPr>
      </p:sp>
      <p:sp>
        <p:nvSpPr>
          <p:cNvPr id="31" name="Text 29"/>
          <p:cNvSpPr/>
          <p:nvPr/>
        </p:nvSpPr>
        <p:spPr>
          <a:xfrm>
            <a:off x="6345936" y="2112264"/>
            <a:ext cx="548640" cy="237744"/>
          </a:xfrm>
          <a:prstGeom prst="rect">
            <a:avLst/>
          </a:prstGeom>
          <a:noFill/>
          <a:ln/>
        </p:spPr>
        <p:txBody>
          <a:bodyPr wrap="square"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03</a:t>
            </a:r>
            <a:endParaRPr lang="en-US" sz="1400" dirty="0"/>
          </a:p>
        </p:txBody>
      </p:sp>
      <p:sp>
        <p:nvSpPr>
          <p:cNvPr id="32" name="Text 30"/>
          <p:cNvSpPr/>
          <p:nvPr/>
        </p:nvSpPr>
        <p:spPr>
          <a:xfrm>
            <a:off x="6345936" y="2395728"/>
            <a:ext cx="2514600" cy="274320"/>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Unseen reference data</a:t>
            </a:r>
            <a:endParaRPr lang="en-US" sz="1200" dirty="0"/>
          </a:p>
        </p:txBody>
      </p:sp>
      <p:sp>
        <p:nvSpPr>
          <p:cNvPr id="33" name="Text 31"/>
          <p:cNvSpPr/>
          <p:nvPr/>
        </p:nvSpPr>
        <p:spPr>
          <a:xfrm>
            <a:off x="6345936" y="2724912"/>
            <a:ext cx="2514600" cy="182880"/>
          </a:xfrm>
          <a:prstGeom prst="rect">
            <a:avLst/>
          </a:prstGeom>
          <a:noFill/>
          <a:ln/>
        </p:spPr>
        <p:txBody>
          <a:bodyPr wrap="square" rtlCol="0" anchor="ctr"/>
          <a:lstStyle/>
          <a:p>
            <a:pPr indent="0" marL="0">
              <a:buNone/>
            </a:pPr>
            <a:r>
              <a:rPr lang="en-US" sz="800" b="1" spc="100" kern="0" dirty="0">
                <a:solidFill>
                  <a:srgbClr val="64748B"/>
                </a:solidFill>
                <a:latin typeface="Calibri" pitchFamily="34" charset="0"/>
                <a:ea typeface="Calibri" pitchFamily="34" charset="-122"/>
                <a:cs typeface="Calibri" pitchFamily="34" charset="-120"/>
              </a:rPr>
              <a:t>WHAT HAPPENED</a:t>
            </a:r>
            <a:endParaRPr lang="en-US" sz="800" dirty="0"/>
          </a:p>
        </p:txBody>
      </p:sp>
      <p:sp>
        <p:nvSpPr>
          <p:cNvPr id="34" name="Text 32"/>
          <p:cNvSpPr/>
          <p:nvPr/>
        </p:nvSpPr>
        <p:spPr>
          <a:xfrm>
            <a:off x="6345936" y="2907792"/>
            <a:ext cx="2514600" cy="841248"/>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A new product code landed in the CDP after go-live. A pre-flight integrity check stopped the whole run before a single variable was built.</a:t>
            </a:r>
            <a:endParaRPr lang="en-US" sz="950" dirty="0"/>
          </a:p>
        </p:txBody>
      </p:sp>
      <p:sp>
        <p:nvSpPr>
          <p:cNvPr id="35" name="Text 33"/>
          <p:cNvSpPr/>
          <p:nvPr/>
        </p:nvSpPr>
        <p:spPr>
          <a:xfrm>
            <a:off x="6345936" y="3767328"/>
            <a:ext cx="2514600" cy="164592"/>
          </a:xfrm>
          <a:prstGeom prst="rect">
            <a:avLst/>
          </a:prstGeom>
          <a:noFill/>
          <a:ln/>
        </p:spPr>
        <p:txBody>
          <a:bodyPr wrap="square" rtlCol="0" anchor="ctr"/>
          <a:lstStyle/>
          <a:p>
            <a:pPr indent="0" marL="0">
              <a:buNone/>
            </a:pPr>
            <a:r>
              <a:rPr lang="en-US" sz="800" b="1" spc="100" kern="0" dirty="0">
                <a:solidFill>
                  <a:srgbClr val="64748B"/>
                </a:solidFill>
                <a:latin typeface="Calibri" pitchFamily="34" charset="0"/>
                <a:ea typeface="Calibri" pitchFamily="34" charset="-122"/>
                <a:cs typeface="Calibri" pitchFamily="34" charset="-120"/>
              </a:rPr>
              <a:t>HOW IT WAS CAUGHT</a:t>
            </a:r>
            <a:endParaRPr lang="en-US" sz="800" dirty="0"/>
          </a:p>
        </p:txBody>
      </p:sp>
      <p:sp>
        <p:nvSpPr>
          <p:cNvPr id="36" name="Text 34"/>
          <p:cNvSpPr/>
          <p:nvPr/>
        </p:nvSpPr>
        <p:spPr>
          <a:xfrm>
            <a:off x="6345936" y="3931920"/>
            <a:ext cx="2514600" cy="365760"/>
          </a:xfrm>
          <a:prstGeom prst="rect">
            <a:avLst/>
          </a:prstGeom>
          <a:noFill/>
          <a:ln/>
        </p:spPr>
        <p:txBody>
          <a:bodyPr wrap="square" rtlCol="0" anchor="t"/>
          <a:lstStyle/>
          <a:p>
            <a:pPr indent="0" marL="0">
              <a:lnSpc>
                <a:spcPts val="1100"/>
              </a:lnSpc>
              <a:buNone/>
            </a:pPr>
            <a:r>
              <a:rPr lang="en-US" sz="900" i="1" dirty="0">
                <a:solidFill>
                  <a:srgbClr val="5B6577"/>
                </a:solidFill>
                <a:latin typeface="Calibri" pitchFamily="34" charset="0"/>
                <a:ea typeface="Calibri" pitchFamily="34" charset="-122"/>
                <a:cs typeface="Calibri" pitchFamily="34" charset="-120"/>
              </a:rPr>
              <a:t>Integrity-check message naming the unknown code</a:t>
            </a:r>
            <a:endParaRPr lang="en-US" sz="900" dirty="0"/>
          </a:p>
        </p:txBody>
      </p:sp>
      <p:sp>
        <p:nvSpPr>
          <p:cNvPr id="37" name="Shape 35"/>
          <p:cNvSpPr/>
          <p:nvPr/>
        </p:nvSpPr>
        <p:spPr>
          <a:xfrm>
            <a:off x="6345936" y="4389120"/>
            <a:ext cx="2487168" cy="676656"/>
          </a:xfrm>
          <a:prstGeom prst="rect">
            <a:avLst/>
          </a:prstGeom>
          <a:solidFill>
            <a:srgbClr val="E1F0E6"/>
          </a:solidFill>
          <a:ln/>
        </p:spPr>
      </p:sp>
      <p:sp>
        <p:nvSpPr>
          <p:cNvPr id="38" name="Text 36"/>
          <p:cNvSpPr/>
          <p:nvPr/>
        </p:nvSpPr>
        <p:spPr>
          <a:xfrm>
            <a:off x="6437376" y="4443984"/>
            <a:ext cx="2286000" cy="164592"/>
          </a:xfrm>
          <a:prstGeom prst="rect">
            <a:avLst/>
          </a:prstGeom>
          <a:noFill/>
          <a:ln/>
        </p:spPr>
        <p:txBody>
          <a:bodyPr wrap="square" rtlCol="0" anchor="ctr"/>
          <a:lstStyle/>
          <a:p>
            <a:pPr indent="0" marL="0">
              <a:buNone/>
            </a:pPr>
            <a:r>
              <a:rPr lang="en-US" sz="750" b="1" spc="100" kern="0" dirty="0">
                <a:solidFill>
                  <a:srgbClr val="2C8A4B"/>
                </a:solidFill>
                <a:latin typeface="Calibri" pitchFamily="34" charset="0"/>
                <a:ea typeface="Calibri" pitchFamily="34" charset="-122"/>
                <a:cs typeface="Calibri" pitchFamily="34" charset="-120"/>
              </a:rPr>
              <a:t>SAFEGUARD</a:t>
            </a:r>
            <a:endParaRPr lang="en-US" sz="750" dirty="0"/>
          </a:p>
        </p:txBody>
      </p:sp>
      <p:sp>
        <p:nvSpPr>
          <p:cNvPr id="39" name="Text 37"/>
          <p:cNvSpPr/>
          <p:nvPr/>
        </p:nvSpPr>
        <p:spPr>
          <a:xfrm>
            <a:off x="6437376" y="4608576"/>
            <a:ext cx="2331720" cy="420624"/>
          </a:xfrm>
          <a:prstGeom prst="rect">
            <a:avLst/>
          </a:prstGeom>
          <a:noFill/>
          <a:ln/>
        </p:spPr>
        <p:txBody>
          <a:bodyPr wrap="square" rtlCol="0" anchor="t"/>
          <a:lstStyle/>
          <a:p>
            <a:pPr indent="0" marL="0">
              <a:lnSpc>
                <a:spcPts val="1100"/>
              </a:lnSpc>
              <a:buNone/>
            </a:pPr>
            <a:r>
              <a:rPr lang="en-US" sz="900" b="1" dirty="0">
                <a:solidFill>
                  <a:srgbClr val="1E6B38"/>
                </a:solidFill>
                <a:latin typeface="Calibri" pitchFamily="34" charset="0"/>
                <a:ea typeface="Calibri" pitchFamily="34" charset="-122"/>
                <a:cs typeface="Calibri" pitchFamily="34" charset="-120"/>
              </a:rPr>
              <a:t>Code added to a neutral, unread group; family confirmed later</a:t>
            </a:r>
            <a:endParaRPr lang="en-US" sz="900" dirty="0"/>
          </a:p>
        </p:txBody>
      </p:sp>
      <p:sp>
        <p:nvSpPr>
          <p:cNvPr id="40" name="Shape 38"/>
          <p:cNvSpPr/>
          <p:nvPr/>
        </p:nvSpPr>
        <p:spPr>
          <a:xfrm>
            <a:off x="9153144" y="1965960"/>
            <a:ext cx="2807208" cy="54864"/>
          </a:xfrm>
          <a:prstGeom prst="rect">
            <a:avLst/>
          </a:prstGeom>
          <a:solidFill>
            <a:srgbClr val="B3261E"/>
          </a:solidFill>
          <a:ln/>
        </p:spPr>
      </p:sp>
      <p:sp>
        <p:nvSpPr>
          <p:cNvPr id="41" name="Shape 39"/>
          <p:cNvSpPr/>
          <p:nvPr/>
        </p:nvSpPr>
        <p:spPr>
          <a:xfrm>
            <a:off x="9153144" y="2020824"/>
            <a:ext cx="2807208" cy="3136392"/>
          </a:xfrm>
          <a:prstGeom prst="rect">
            <a:avLst/>
          </a:prstGeom>
          <a:solidFill>
            <a:srgbClr val="F2F5FC"/>
          </a:solidFill>
          <a:ln/>
        </p:spPr>
      </p:sp>
      <p:sp>
        <p:nvSpPr>
          <p:cNvPr id="42" name="Text 40"/>
          <p:cNvSpPr/>
          <p:nvPr/>
        </p:nvSpPr>
        <p:spPr>
          <a:xfrm>
            <a:off x="9317736" y="2112264"/>
            <a:ext cx="548640" cy="237744"/>
          </a:xfrm>
          <a:prstGeom prst="rect">
            <a:avLst/>
          </a:prstGeom>
          <a:noFill/>
          <a:ln/>
        </p:spPr>
        <p:txBody>
          <a:bodyPr wrap="square"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04</a:t>
            </a:r>
            <a:endParaRPr lang="en-US" sz="1400" dirty="0"/>
          </a:p>
        </p:txBody>
      </p:sp>
      <p:sp>
        <p:nvSpPr>
          <p:cNvPr id="43" name="Text 41"/>
          <p:cNvSpPr/>
          <p:nvPr/>
        </p:nvSpPr>
        <p:spPr>
          <a:xfrm>
            <a:off x="9317736" y="2395728"/>
            <a:ext cx="2514600" cy="274320"/>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Overwritten bridge file</a:t>
            </a:r>
            <a:endParaRPr lang="en-US" sz="1200" dirty="0"/>
          </a:p>
        </p:txBody>
      </p:sp>
      <p:sp>
        <p:nvSpPr>
          <p:cNvPr id="44" name="Text 42"/>
          <p:cNvSpPr/>
          <p:nvPr/>
        </p:nvSpPr>
        <p:spPr>
          <a:xfrm>
            <a:off x="9317736" y="2724912"/>
            <a:ext cx="2514600" cy="182880"/>
          </a:xfrm>
          <a:prstGeom prst="rect">
            <a:avLst/>
          </a:prstGeom>
          <a:noFill/>
          <a:ln/>
        </p:spPr>
        <p:txBody>
          <a:bodyPr wrap="square" rtlCol="0" anchor="ctr"/>
          <a:lstStyle/>
          <a:p>
            <a:pPr indent="0" marL="0">
              <a:buNone/>
            </a:pPr>
            <a:r>
              <a:rPr lang="en-US" sz="800" b="1" spc="100" kern="0" dirty="0">
                <a:solidFill>
                  <a:srgbClr val="64748B"/>
                </a:solidFill>
                <a:latin typeface="Calibri" pitchFamily="34" charset="0"/>
                <a:ea typeface="Calibri" pitchFamily="34" charset="-122"/>
                <a:cs typeface="Calibri" pitchFamily="34" charset="-120"/>
              </a:rPr>
              <a:t>WHAT HAPPENED</a:t>
            </a:r>
            <a:endParaRPr lang="en-US" sz="800" dirty="0"/>
          </a:p>
        </p:txBody>
      </p:sp>
      <p:sp>
        <p:nvSpPr>
          <p:cNvPr id="45" name="Text 43"/>
          <p:cNvSpPr/>
          <p:nvPr/>
        </p:nvSpPr>
        <p:spPr>
          <a:xfrm>
            <a:off x="9317736" y="2907792"/>
            <a:ext cx="2514600" cy="841248"/>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A one-macro patch was saved over the full compatibility file. Every mapping macro disappeared and hundreds of variables failed to resolve.</a:t>
            </a:r>
            <a:endParaRPr lang="en-US" sz="950" dirty="0"/>
          </a:p>
        </p:txBody>
      </p:sp>
      <p:sp>
        <p:nvSpPr>
          <p:cNvPr id="46" name="Text 44"/>
          <p:cNvSpPr/>
          <p:nvPr/>
        </p:nvSpPr>
        <p:spPr>
          <a:xfrm>
            <a:off x="9317736" y="3767328"/>
            <a:ext cx="2514600" cy="164592"/>
          </a:xfrm>
          <a:prstGeom prst="rect">
            <a:avLst/>
          </a:prstGeom>
          <a:noFill/>
          <a:ln/>
        </p:spPr>
        <p:txBody>
          <a:bodyPr wrap="square" rtlCol="0" anchor="ctr"/>
          <a:lstStyle/>
          <a:p>
            <a:pPr indent="0" marL="0">
              <a:buNone/>
            </a:pPr>
            <a:r>
              <a:rPr lang="en-US" sz="800" b="1" spc="100" kern="0" dirty="0">
                <a:solidFill>
                  <a:srgbClr val="64748B"/>
                </a:solidFill>
                <a:latin typeface="Calibri" pitchFamily="34" charset="0"/>
                <a:ea typeface="Calibri" pitchFamily="34" charset="-122"/>
                <a:cs typeface="Calibri" pitchFamily="34" charset="-120"/>
              </a:rPr>
              <a:t>HOW IT WAS CAUGHT</a:t>
            </a:r>
            <a:endParaRPr lang="en-US" sz="800" dirty="0"/>
          </a:p>
        </p:txBody>
      </p:sp>
      <p:sp>
        <p:nvSpPr>
          <p:cNvPr id="47" name="Text 45"/>
          <p:cNvSpPr/>
          <p:nvPr/>
        </p:nvSpPr>
        <p:spPr>
          <a:xfrm>
            <a:off x="9317736" y="3931920"/>
            <a:ext cx="2514600" cy="365760"/>
          </a:xfrm>
          <a:prstGeom prst="rect">
            <a:avLst/>
          </a:prstGeom>
          <a:noFill/>
          <a:ln/>
        </p:spPr>
        <p:txBody>
          <a:bodyPr wrap="square" rtlCol="0" anchor="t"/>
          <a:lstStyle/>
          <a:p>
            <a:pPr indent="0" marL="0">
              <a:lnSpc>
                <a:spcPts val="1100"/>
              </a:lnSpc>
              <a:buNone/>
            </a:pPr>
            <a:r>
              <a:rPr lang="en-US" sz="900" i="1" dirty="0">
                <a:solidFill>
                  <a:srgbClr val="5B6577"/>
                </a:solidFill>
                <a:latin typeface="Calibri" pitchFamily="34" charset="0"/>
                <a:ea typeface="Calibri" pitchFamily="34" charset="-122"/>
                <a:cs typeface="Calibri" pitchFamily="34" charset="-120"/>
              </a:rPr>
              <a:t>Thousands of 'macro not resolved' warnings; fresh-session check returned 0</a:t>
            </a:r>
            <a:endParaRPr lang="en-US" sz="900" dirty="0"/>
          </a:p>
        </p:txBody>
      </p:sp>
      <p:sp>
        <p:nvSpPr>
          <p:cNvPr id="48" name="Shape 46"/>
          <p:cNvSpPr/>
          <p:nvPr/>
        </p:nvSpPr>
        <p:spPr>
          <a:xfrm>
            <a:off x="9317736" y="4389120"/>
            <a:ext cx="2487168" cy="676656"/>
          </a:xfrm>
          <a:prstGeom prst="rect">
            <a:avLst/>
          </a:prstGeom>
          <a:solidFill>
            <a:srgbClr val="E1F0E6"/>
          </a:solidFill>
          <a:ln/>
        </p:spPr>
      </p:sp>
      <p:sp>
        <p:nvSpPr>
          <p:cNvPr id="49" name="Text 47"/>
          <p:cNvSpPr/>
          <p:nvPr/>
        </p:nvSpPr>
        <p:spPr>
          <a:xfrm>
            <a:off x="9409176" y="4443984"/>
            <a:ext cx="2286000" cy="164592"/>
          </a:xfrm>
          <a:prstGeom prst="rect">
            <a:avLst/>
          </a:prstGeom>
          <a:noFill/>
          <a:ln/>
        </p:spPr>
        <p:txBody>
          <a:bodyPr wrap="square" rtlCol="0" anchor="ctr"/>
          <a:lstStyle/>
          <a:p>
            <a:pPr indent="0" marL="0">
              <a:buNone/>
            </a:pPr>
            <a:r>
              <a:rPr lang="en-US" sz="750" b="1" spc="100" kern="0" dirty="0">
                <a:solidFill>
                  <a:srgbClr val="2C8A4B"/>
                </a:solidFill>
                <a:latin typeface="Calibri" pitchFamily="34" charset="0"/>
                <a:ea typeface="Calibri" pitchFamily="34" charset="-122"/>
                <a:cs typeface="Calibri" pitchFamily="34" charset="-120"/>
              </a:rPr>
              <a:t>SAFEGUARD</a:t>
            </a:r>
            <a:endParaRPr lang="en-US" sz="750" dirty="0"/>
          </a:p>
        </p:txBody>
      </p:sp>
      <p:sp>
        <p:nvSpPr>
          <p:cNvPr id="50" name="Text 48"/>
          <p:cNvSpPr/>
          <p:nvPr/>
        </p:nvSpPr>
        <p:spPr>
          <a:xfrm>
            <a:off x="9409176" y="4608576"/>
            <a:ext cx="2331720" cy="420624"/>
          </a:xfrm>
          <a:prstGeom prst="rect">
            <a:avLst/>
          </a:prstGeom>
          <a:noFill/>
          <a:ln/>
        </p:spPr>
        <p:txBody>
          <a:bodyPr wrap="square" rtlCol="0" anchor="t"/>
          <a:lstStyle/>
          <a:p>
            <a:pPr indent="0" marL="0">
              <a:lnSpc>
                <a:spcPts val="1100"/>
              </a:lnSpc>
              <a:buNone/>
            </a:pPr>
            <a:r>
              <a:rPr lang="en-US" sz="900" b="1" dirty="0">
                <a:solidFill>
                  <a:srgbClr val="1E6B38"/>
                </a:solidFill>
                <a:latin typeface="Calibri" pitchFamily="34" charset="0"/>
                <a:ea typeface="Calibri" pitchFamily="34" charset="-122"/>
                <a:cs typeface="Calibri" pitchFamily="34" charset="-120"/>
              </a:rPr>
              <a:t>Compile check after every deploy: each bridge macro must exist</a:t>
            </a:r>
            <a:endParaRPr lang="en-US" sz="900" dirty="0"/>
          </a:p>
        </p:txBody>
      </p:sp>
      <p:sp>
        <p:nvSpPr>
          <p:cNvPr id="51" name="Shape 49"/>
          <p:cNvSpPr/>
          <p:nvPr/>
        </p:nvSpPr>
        <p:spPr>
          <a:xfrm>
            <a:off x="237744" y="5422392"/>
            <a:ext cx="11713464" cy="758952"/>
          </a:xfrm>
          <a:prstGeom prst="rect">
            <a:avLst/>
          </a:prstGeom>
          <a:solidFill>
            <a:srgbClr val="1A288E"/>
          </a:solidFill>
          <a:ln/>
        </p:spPr>
      </p:sp>
      <p:sp>
        <p:nvSpPr>
          <p:cNvPr id="52" name="Text 50"/>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WHY THIS MATTERS</a:t>
            </a:r>
            <a:endParaRPr lang="en-US" sz="900" dirty="0"/>
          </a:p>
        </p:txBody>
      </p:sp>
      <p:sp>
        <p:nvSpPr>
          <p:cNvPr id="53" name="Text 51"/>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On a shared production platform, the environment fails as often as the code. Each trap became a permanent guard, so the next team inherits the protection rather than the incident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PRACTICE · PRODUCTION SAFETY</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Run Discipline on a Shared Production Platform</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All work happened against live production data that campaigns depended on. These rules were applied to every change — they are as much a part of the method as the diagnosis itself</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56816"/>
            <a:ext cx="50292" cy="731520"/>
          </a:xfrm>
          <a:prstGeom prst="rect">
            <a:avLst/>
          </a:prstGeom>
          <a:solidFill>
            <a:srgbClr val="1861F5"/>
          </a:solidFill>
          <a:ln/>
        </p:spPr>
      </p:sp>
      <p:sp>
        <p:nvSpPr>
          <p:cNvPr id="8" name="Shape 6"/>
          <p:cNvSpPr/>
          <p:nvPr/>
        </p:nvSpPr>
        <p:spPr>
          <a:xfrm>
            <a:off x="288036" y="1956816"/>
            <a:ext cx="5609844" cy="731520"/>
          </a:xfrm>
          <a:prstGeom prst="rect">
            <a:avLst/>
          </a:prstGeom>
          <a:solidFill>
            <a:srgbClr val="F2F5FC"/>
          </a:solidFill>
          <a:ln/>
        </p:spPr>
      </p:sp>
      <p:sp>
        <p:nvSpPr>
          <p:cNvPr id="9" name="Text 7"/>
          <p:cNvSpPr/>
          <p:nvPr/>
        </p:nvSpPr>
        <p:spPr>
          <a:xfrm>
            <a:off x="438912" y="2011680"/>
            <a:ext cx="5294376"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Read-only diagnostics first</a:t>
            </a:r>
            <a:endParaRPr lang="en-US" sz="1100" dirty="0"/>
          </a:p>
        </p:txBody>
      </p:sp>
      <p:sp>
        <p:nvSpPr>
          <p:cNvPr id="10" name="Text 8"/>
          <p:cNvSpPr/>
          <p:nvPr/>
        </p:nvSpPr>
        <p:spPr>
          <a:xfrm>
            <a:off x="438912" y="2240280"/>
            <a:ext cx="5294376" cy="402336"/>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Every hypothesis was tested with SELECT-only probes before any code changed. No write ever went to a shared schema to answer a question.</a:t>
            </a:r>
            <a:endParaRPr lang="en-US" sz="950" dirty="0"/>
          </a:p>
        </p:txBody>
      </p:sp>
      <p:sp>
        <p:nvSpPr>
          <p:cNvPr id="11" name="Shape 9"/>
          <p:cNvSpPr/>
          <p:nvPr/>
        </p:nvSpPr>
        <p:spPr>
          <a:xfrm>
            <a:off x="237744" y="2761488"/>
            <a:ext cx="50292" cy="731520"/>
          </a:xfrm>
          <a:prstGeom prst="rect">
            <a:avLst/>
          </a:prstGeom>
          <a:solidFill>
            <a:srgbClr val="1861F5"/>
          </a:solidFill>
          <a:ln/>
        </p:spPr>
      </p:sp>
      <p:sp>
        <p:nvSpPr>
          <p:cNvPr id="12" name="Shape 10"/>
          <p:cNvSpPr/>
          <p:nvPr/>
        </p:nvSpPr>
        <p:spPr>
          <a:xfrm>
            <a:off x="288036" y="2761488"/>
            <a:ext cx="5609844" cy="731520"/>
          </a:xfrm>
          <a:prstGeom prst="rect">
            <a:avLst/>
          </a:prstGeom>
          <a:solidFill>
            <a:srgbClr val="F2F5FC"/>
          </a:solidFill>
          <a:ln/>
        </p:spPr>
      </p:sp>
      <p:sp>
        <p:nvSpPr>
          <p:cNvPr id="13" name="Text 11"/>
          <p:cNvSpPr/>
          <p:nvPr/>
        </p:nvSpPr>
        <p:spPr>
          <a:xfrm>
            <a:off x="438912" y="2816352"/>
            <a:ext cx="5294376"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Verify the environment, not just the code</a:t>
            </a:r>
            <a:endParaRPr lang="en-US" sz="1100" dirty="0"/>
          </a:p>
        </p:txBody>
      </p:sp>
      <p:sp>
        <p:nvSpPr>
          <p:cNvPr id="14" name="Text 12"/>
          <p:cNvSpPr/>
          <p:nvPr/>
        </p:nvSpPr>
        <p:spPr>
          <a:xfrm>
            <a:off x="438912" y="3044952"/>
            <a:ext cx="5294376" cy="402336"/>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Confirm connection, schema and path before running — test and production shared names, and two code trees existed side by side.</a:t>
            </a:r>
            <a:endParaRPr lang="en-US" sz="950" dirty="0"/>
          </a:p>
        </p:txBody>
      </p:sp>
      <p:sp>
        <p:nvSpPr>
          <p:cNvPr id="15" name="Shape 13"/>
          <p:cNvSpPr/>
          <p:nvPr/>
        </p:nvSpPr>
        <p:spPr>
          <a:xfrm>
            <a:off x="237744" y="3566160"/>
            <a:ext cx="50292" cy="731520"/>
          </a:xfrm>
          <a:prstGeom prst="rect">
            <a:avLst/>
          </a:prstGeom>
          <a:solidFill>
            <a:srgbClr val="1861F5"/>
          </a:solidFill>
          <a:ln/>
        </p:spPr>
      </p:sp>
      <p:sp>
        <p:nvSpPr>
          <p:cNvPr id="16" name="Shape 14"/>
          <p:cNvSpPr/>
          <p:nvPr/>
        </p:nvSpPr>
        <p:spPr>
          <a:xfrm>
            <a:off x="288036" y="3566160"/>
            <a:ext cx="5609844" cy="731520"/>
          </a:xfrm>
          <a:prstGeom prst="rect">
            <a:avLst/>
          </a:prstGeom>
          <a:solidFill>
            <a:srgbClr val="F2F5FC"/>
          </a:solidFill>
          <a:ln/>
        </p:spPr>
      </p:sp>
      <p:sp>
        <p:nvSpPr>
          <p:cNvPr id="17" name="Text 15"/>
          <p:cNvSpPr/>
          <p:nvPr/>
        </p:nvSpPr>
        <p:spPr>
          <a:xfrm>
            <a:off x="438912" y="3621024"/>
            <a:ext cx="5294376"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Isolate test output</a:t>
            </a:r>
            <a:endParaRPr lang="en-US" sz="1100" dirty="0"/>
          </a:p>
        </p:txBody>
      </p:sp>
      <p:sp>
        <p:nvSpPr>
          <p:cNvPr id="18" name="Text 16"/>
          <p:cNvSpPr/>
          <p:nvPr/>
        </p:nvSpPr>
        <p:spPr>
          <a:xfrm>
            <a:off x="438912" y="3849624"/>
            <a:ext cx="5294376" cy="402336"/>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Test runs wrote under their own keycode and output name. Production datasets were never the target of an experiment.</a:t>
            </a:r>
            <a:endParaRPr lang="en-US" sz="950" dirty="0"/>
          </a:p>
        </p:txBody>
      </p:sp>
      <p:sp>
        <p:nvSpPr>
          <p:cNvPr id="19" name="Shape 17"/>
          <p:cNvSpPr/>
          <p:nvPr/>
        </p:nvSpPr>
        <p:spPr>
          <a:xfrm>
            <a:off x="237744" y="4370832"/>
            <a:ext cx="50292" cy="731520"/>
          </a:xfrm>
          <a:prstGeom prst="rect">
            <a:avLst/>
          </a:prstGeom>
          <a:solidFill>
            <a:srgbClr val="1861F5"/>
          </a:solidFill>
          <a:ln/>
        </p:spPr>
      </p:sp>
      <p:sp>
        <p:nvSpPr>
          <p:cNvPr id="20" name="Shape 18"/>
          <p:cNvSpPr/>
          <p:nvPr/>
        </p:nvSpPr>
        <p:spPr>
          <a:xfrm>
            <a:off x="288036" y="4370832"/>
            <a:ext cx="5609844" cy="731520"/>
          </a:xfrm>
          <a:prstGeom prst="rect">
            <a:avLst/>
          </a:prstGeom>
          <a:solidFill>
            <a:srgbClr val="F2F5FC"/>
          </a:solidFill>
          <a:ln/>
        </p:spPr>
      </p:sp>
      <p:sp>
        <p:nvSpPr>
          <p:cNvPr id="21" name="Text 19"/>
          <p:cNvSpPr/>
          <p:nvPr/>
        </p:nvSpPr>
        <p:spPr>
          <a:xfrm>
            <a:off x="438912" y="4425696"/>
            <a:ext cx="5294376"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Back up before overwrite</a:t>
            </a:r>
            <a:endParaRPr lang="en-US" sz="1100" dirty="0"/>
          </a:p>
        </p:txBody>
      </p:sp>
      <p:sp>
        <p:nvSpPr>
          <p:cNvPr id="22" name="Text 20"/>
          <p:cNvSpPr/>
          <p:nvPr/>
        </p:nvSpPr>
        <p:spPr>
          <a:xfrm>
            <a:off x="438912" y="4654296"/>
            <a:ext cx="5294376" cy="402336"/>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The engine renames the previous output on failure. The last good dataset was copied to a protected name before every risky run.</a:t>
            </a:r>
            <a:endParaRPr lang="en-US" sz="950" dirty="0"/>
          </a:p>
        </p:txBody>
      </p:sp>
      <p:sp>
        <p:nvSpPr>
          <p:cNvPr id="23" name="Shape 21"/>
          <p:cNvSpPr/>
          <p:nvPr/>
        </p:nvSpPr>
        <p:spPr>
          <a:xfrm>
            <a:off x="6126480" y="1956816"/>
            <a:ext cx="50292" cy="731520"/>
          </a:xfrm>
          <a:prstGeom prst="rect">
            <a:avLst/>
          </a:prstGeom>
          <a:solidFill>
            <a:srgbClr val="F96806"/>
          </a:solidFill>
          <a:ln/>
        </p:spPr>
      </p:sp>
      <p:sp>
        <p:nvSpPr>
          <p:cNvPr id="24" name="Shape 22"/>
          <p:cNvSpPr/>
          <p:nvPr/>
        </p:nvSpPr>
        <p:spPr>
          <a:xfrm>
            <a:off x="6176772" y="1956816"/>
            <a:ext cx="5774436" cy="731520"/>
          </a:xfrm>
          <a:prstGeom prst="rect">
            <a:avLst/>
          </a:prstGeom>
          <a:solidFill>
            <a:srgbClr val="F2F5FC"/>
          </a:solidFill>
          <a:ln/>
        </p:spPr>
      </p:sp>
      <p:sp>
        <p:nvSpPr>
          <p:cNvPr id="25" name="Text 23"/>
          <p:cNvSpPr/>
          <p:nvPr/>
        </p:nvSpPr>
        <p:spPr>
          <a:xfrm>
            <a:off x="6327648" y="2011680"/>
            <a:ext cx="5458968"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Edit the real file, not a reconstruction</a:t>
            </a:r>
            <a:endParaRPr lang="en-US" sz="1100" dirty="0"/>
          </a:p>
        </p:txBody>
      </p:sp>
      <p:sp>
        <p:nvSpPr>
          <p:cNvPr id="26" name="Text 24"/>
          <p:cNvSpPr/>
          <p:nvPr/>
        </p:nvSpPr>
        <p:spPr>
          <a:xfrm>
            <a:off x="6327648" y="2240280"/>
            <a:ext cx="5458968" cy="402336"/>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Fixes were applied byte-for-byte to the uploaded source, encoding and line endings preserved, then diffed so only the intended lines changed.</a:t>
            </a:r>
            <a:endParaRPr lang="en-US" sz="950" dirty="0"/>
          </a:p>
        </p:txBody>
      </p:sp>
      <p:sp>
        <p:nvSpPr>
          <p:cNvPr id="27" name="Shape 25"/>
          <p:cNvSpPr/>
          <p:nvPr/>
        </p:nvSpPr>
        <p:spPr>
          <a:xfrm>
            <a:off x="6126480" y="2761488"/>
            <a:ext cx="50292" cy="731520"/>
          </a:xfrm>
          <a:prstGeom prst="rect">
            <a:avLst/>
          </a:prstGeom>
          <a:solidFill>
            <a:srgbClr val="F96806"/>
          </a:solidFill>
          <a:ln/>
        </p:spPr>
      </p:sp>
      <p:sp>
        <p:nvSpPr>
          <p:cNvPr id="28" name="Shape 26"/>
          <p:cNvSpPr/>
          <p:nvPr/>
        </p:nvSpPr>
        <p:spPr>
          <a:xfrm>
            <a:off x="6176772" y="2761488"/>
            <a:ext cx="5774436" cy="731520"/>
          </a:xfrm>
          <a:prstGeom prst="rect">
            <a:avLst/>
          </a:prstGeom>
          <a:solidFill>
            <a:srgbClr val="F2F5FC"/>
          </a:solidFill>
          <a:ln/>
        </p:spPr>
      </p:sp>
      <p:sp>
        <p:nvSpPr>
          <p:cNvPr id="29" name="Text 27"/>
          <p:cNvSpPr/>
          <p:nvPr/>
        </p:nvSpPr>
        <p:spPr>
          <a:xfrm>
            <a:off x="6327648" y="2816352"/>
            <a:ext cx="5458968"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Prove the file compiled</a:t>
            </a:r>
            <a:endParaRPr lang="en-US" sz="1100" dirty="0"/>
          </a:p>
        </p:txBody>
      </p:sp>
      <p:sp>
        <p:nvSpPr>
          <p:cNvPr id="30" name="Text 28"/>
          <p:cNvSpPr/>
          <p:nvPr/>
        </p:nvSpPr>
        <p:spPr>
          <a:xfrm>
            <a:off x="6327648" y="3044952"/>
            <a:ext cx="5458968" cy="402336"/>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After deployment, every macro the bridge should define was checked to exist in a fresh session — before the long run, not after it.</a:t>
            </a:r>
            <a:endParaRPr lang="en-US" sz="950" dirty="0"/>
          </a:p>
        </p:txBody>
      </p:sp>
      <p:sp>
        <p:nvSpPr>
          <p:cNvPr id="31" name="Shape 29"/>
          <p:cNvSpPr/>
          <p:nvPr/>
        </p:nvSpPr>
        <p:spPr>
          <a:xfrm>
            <a:off x="6126480" y="3566160"/>
            <a:ext cx="50292" cy="731520"/>
          </a:xfrm>
          <a:prstGeom prst="rect">
            <a:avLst/>
          </a:prstGeom>
          <a:solidFill>
            <a:srgbClr val="F96806"/>
          </a:solidFill>
          <a:ln/>
        </p:spPr>
      </p:sp>
      <p:sp>
        <p:nvSpPr>
          <p:cNvPr id="32" name="Shape 30"/>
          <p:cNvSpPr/>
          <p:nvPr/>
        </p:nvSpPr>
        <p:spPr>
          <a:xfrm>
            <a:off x="6176772" y="3566160"/>
            <a:ext cx="5774436" cy="731520"/>
          </a:xfrm>
          <a:prstGeom prst="rect">
            <a:avLst/>
          </a:prstGeom>
          <a:solidFill>
            <a:srgbClr val="F2F5FC"/>
          </a:solidFill>
          <a:ln/>
        </p:spPr>
      </p:sp>
      <p:sp>
        <p:nvSpPr>
          <p:cNvPr id="33" name="Text 31"/>
          <p:cNvSpPr/>
          <p:nvPr/>
        </p:nvSpPr>
        <p:spPr>
          <a:xfrm>
            <a:off x="6327648" y="3621024"/>
            <a:ext cx="5458968"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Read the right log</a:t>
            </a:r>
            <a:endParaRPr lang="en-US" sz="1100" dirty="0"/>
          </a:p>
        </p:txBody>
      </p:sp>
      <p:sp>
        <p:nvSpPr>
          <p:cNvPr id="34" name="Text 32"/>
          <p:cNvSpPr/>
          <p:nvPr/>
        </p:nvSpPr>
        <p:spPr>
          <a:xfrm>
            <a:off x="6327648" y="3849624"/>
            <a:ext cx="5458968" cy="402336"/>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The engine redirects its log mid-run. The visible log often showed only the final symptom; the real error sat in the redirected file.</a:t>
            </a:r>
            <a:endParaRPr lang="en-US" sz="950" dirty="0"/>
          </a:p>
        </p:txBody>
      </p:sp>
      <p:sp>
        <p:nvSpPr>
          <p:cNvPr id="35" name="Shape 33"/>
          <p:cNvSpPr/>
          <p:nvPr/>
        </p:nvSpPr>
        <p:spPr>
          <a:xfrm>
            <a:off x="6126480" y="4370832"/>
            <a:ext cx="50292" cy="731520"/>
          </a:xfrm>
          <a:prstGeom prst="rect">
            <a:avLst/>
          </a:prstGeom>
          <a:solidFill>
            <a:srgbClr val="F96806"/>
          </a:solidFill>
          <a:ln/>
        </p:spPr>
      </p:sp>
      <p:sp>
        <p:nvSpPr>
          <p:cNvPr id="36" name="Shape 34"/>
          <p:cNvSpPr/>
          <p:nvPr/>
        </p:nvSpPr>
        <p:spPr>
          <a:xfrm>
            <a:off x="6176772" y="4370832"/>
            <a:ext cx="5774436" cy="731520"/>
          </a:xfrm>
          <a:prstGeom prst="rect">
            <a:avLst/>
          </a:prstGeom>
          <a:solidFill>
            <a:srgbClr val="F2F5FC"/>
          </a:solidFill>
          <a:ln/>
        </p:spPr>
      </p:sp>
      <p:sp>
        <p:nvSpPr>
          <p:cNvPr id="37" name="Text 35"/>
          <p:cNvSpPr/>
          <p:nvPr/>
        </p:nvSpPr>
        <p:spPr>
          <a:xfrm>
            <a:off x="6327648" y="4425696"/>
            <a:ext cx="5458968"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One change, one verification</a:t>
            </a:r>
            <a:endParaRPr lang="en-US" sz="1100" dirty="0"/>
          </a:p>
        </p:txBody>
      </p:sp>
      <p:sp>
        <p:nvSpPr>
          <p:cNvPr id="38" name="Text 36"/>
          <p:cNvSpPr/>
          <p:nvPr/>
        </p:nvSpPr>
        <p:spPr>
          <a:xfrm>
            <a:off x="6327648" y="4654296"/>
            <a:ext cx="5458968" cy="402336"/>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Each fix ran on the test harness and was confirmed by value before the next was layered on top.</a:t>
            </a:r>
            <a:endParaRPr lang="en-US" sz="950" dirty="0"/>
          </a:p>
        </p:txBody>
      </p:sp>
      <p:sp>
        <p:nvSpPr>
          <p:cNvPr id="39" name="Shape 37"/>
          <p:cNvSpPr/>
          <p:nvPr/>
        </p:nvSpPr>
        <p:spPr>
          <a:xfrm>
            <a:off x="237744" y="5422392"/>
            <a:ext cx="11713464" cy="758952"/>
          </a:xfrm>
          <a:prstGeom prst="rect">
            <a:avLst/>
          </a:prstGeom>
          <a:solidFill>
            <a:srgbClr val="1A288E"/>
          </a:solidFill>
          <a:ln/>
        </p:spPr>
      </p:sp>
      <p:sp>
        <p:nvSpPr>
          <p:cNvPr id="40" name="Text 38"/>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OUTCOME OF THE DISCIPLINE</a:t>
            </a:r>
            <a:endParaRPr lang="en-US" sz="900" dirty="0"/>
          </a:p>
        </p:txBody>
      </p:sp>
      <p:sp>
        <p:nvSpPr>
          <p:cNvPr id="41" name="Text 39"/>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Dozens of iterations against production with no campaign disruption and no lost output — and every change traceable to the evidence that justified it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PERFORMANCE · WHERE THE TIME GOES</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Why a Smaller Audience Did Not Mean a Faster Run</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Cutting the audience from ~600K to ~1K customers barely changed the runtime. Timing every query in the log explained why — and redirected optimisation effort to where it would actually pay</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65960"/>
            <a:ext cx="2807208" cy="932688"/>
          </a:xfrm>
          <a:prstGeom prst="rect">
            <a:avLst/>
          </a:prstGeom>
          <a:solidFill>
            <a:srgbClr val="F2F5FC"/>
          </a:solidFill>
          <a:ln/>
        </p:spPr>
      </p:sp>
      <p:sp>
        <p:nvSpPr>
          <p:cNvPr id="8" name="Shape 6"/>
          <p:cNvSpPr/>
          <p:nvPr/>
        </p:nvSpPr>
        <p:spPr>
          <a:xfrm>
            <a:off x="237744" y="1965960"/>
            <a:ext cx="50292" cy="932688"/>
          </a:xfrm>
          <a:prstGeom prst="rect">
            <a:avLst/>
          </a:prstGeom>
          <a:solidFill>
            <a:srgbClr val="1A288E"/>
          </a:solidFill>
          <a:ln/>
        </p:spPr>
      </p:sp>
      <p:sp>
        <p:nvSpPr>
          <p:cNvPr id="9" name="Text 7"/>
          <p:cNvSpPr/>
          <p:nvPr/>
        </p:nvSpPr>
        <p:spPr>
          <a:xfrm>
            <a:off x="420624" y="2057400"/>
            <a:ext cx="2487168" cy="457200"/>
          </a:xfrm>
          <a:prstGeom prst="rect">
            <a:avLst/>
          </a:prstGeom>
          <a:noFill/>
          <a:ln/>
        </p:spPr>
        <p:txBody>
          <a:bodyPr wrap="square" rtlCol="0" anchor="ctr"/>
          <a:lstStyle/>
          <a:p>
            <a:pPr indent="0" marL="0">
              <a:buNone/>
            </a:pPr>
            <a:r>
              <a:rPr lang="en-US" sz="2400" b="1" dirty="0">
                <a:solidFill>
                  <a:srgbClr val="1A288E"/>
                </a:solidFill>
                <a:latin typeface="Calibri" pitchFamily="34" charset="0"/>
                <a:ea typeface="Calibri" pitchFamily="34" charset="-122"/>
                <a:cs typeface="Calibri" pitchFamily="34" charset="-120"/>
              </a:rPr>
              <a:t>~2,400</a:t>
            </a:r>
            <a:endParaRPr lang="en-US" sz="2400" dirty="0"/>
          </a:p>
        </p:txBody>
      </p:sp>
      <p:sp>
        <p:nvSpPr>
          <p:cNvPr id="10" name="Text 8"/>
          <p:cNvSpPr/>
          <p:nvPr/>
        </p:nvSpPr>
        <p:spPr>
          <a:xfrm>
            <a:off x="420624" y="2514600"/>
            <a:ext cx="2487168" cy="310896"/>
          </a:xfrm>
          <a:prstGeom prst="rect">
            <a:avLst/>
          </a:prstGeom>
          <a:noFill/>
          <a:ln/>
        </p:spPr>
        <p:txBody>
          <a:bodyPr wrap="square" rtlCol="0" anchor="ctr"/>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Queries issued per full run</a:t>
            </a:r>
            <a:endParaRPr lang="en-US" sz="900" dirty="0"/>
          </a:p>
        </p:txBody>
      </p:sp>
      <p:sp>
        <p:nvSpPr>
          <p:cNvPr id="11" name="Shape 9"/>
          <p:cNvSpPr/>
          <p:nvPr/>
        </p:nvSpPr>
        <p:spPr>
          <a:xfrm>
            <a:off x="3209544" y="1965960"/>
            <a:ext cx="2807208" cy="932688"/>
          </a:xfrm>
          <a:prstGeom prst="rect">
            <a:avLst/>
          </a:prstGeom>
          <a:solidFill>
            <a:srgbClr val="F2F5FC"/>
          </a:solidFill>
          <a:ln/>
        </p:spPr>
      </p:sp>
      <p:sp>
        <p:nvSpPr>
          <p:cNvPr id="12" name="Shape 10"/>
          <p:cNvSpPr/>
          <p:nvPr/>
        </p:nvSpPr>
        <p:spPr>
          <a:xfrm>
            <a:off x="3209544" y="1965960"/>
            <a:ext cx="50292" cy="932688"/>
          </a:xfrm>
          <a:prstGeom prst="rect">
            <a:avLst/>
          </a:prstGeom>
          <a:solidFill>
            <a:srgbClr val="F96806"/>
          </a:solidFill>
          <a:ln/>
        </p:spPr>
      </p:sp>
      <p:sp>
        <p:nvSpPr>
          <p:cNvPr id="13" name="Text 11"/>
          <p:cNvSpPr/>
          <p:nvPr/>
        </p:nvSpPr>
        <p:spPr>
          <a:xfrm>
            <a:off x="3392424" y="2057400"/>
            <a:ext cx="2487168" cy="457200"/>
          </a:xfrm>
          <a:prstGeom prst="rect">
            <a:avLst/>
          </a:prstGeom>
          <a:noFill/>
          <a:ln/>
        </p:spPr>
        <p:txBody>
          <a:bodyPr wrap="square" rtlCol="0" anchor="ctr"/>
          <a:lstStyle/>
          <a:p>
            <a:pPr indent="0" marL="0">
              <a:buNone/>
            </a:pPr>
            <a:r>
              <a:rPr lang="en-US" sz="2400" b="1" dirty="0">
                <a:solidFill>
                  <a:srgbClr val="F96806"/>
                </a:solidFill>
                <a:latin typeface="Calibri" pitchFamily="34" charset="0"/>
                <a:ea typeface="Calibri" pitchFamily="34" charset="-122"/>
                <a:cs typeface="Calibri" pitchFamily="34" charset="-120"/>
              </a:rPr>
              <a:t>~5 sec</a:t>
            </a:r>
            <a:endParaRPr lang="en-US" sz="2400" dirty="0"/>
          </a:p>
        </p:txBody>
      </p:sp>
      <p:sp>
        <p:nvSpPr>
          <p:cNvPr id="14" name="Text 12"/>
          <p:cNvSpPr/>
          <p:nvPr/>
        </p:nvSpPr>
        <p:spPr>
          <a:xfrm>
            <a:off x="3392424" y="2514600"/>
            <a:ext cx="2487168" cy="310896"/>
          </a:xfrm>
          <a:prstGeom prst="rect">
            <a:avLst/>
          </a:prstGeom>
          <a:noFill/>
          <a:ln/>
        </p:spPr>
        <p:txBody>
          <a:bodyPr wrap="square" rtlCol="0" anchor="ctr"/>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Fixed overhead per query, regardless of size</a:t>
            </a:r>
            <a:endParaRPr lang="en-US" sz="900" dirty="0"/>
          </a:p>
        </p:txBody>
      </p:sp>
      <p:sp>
        <p:nvSpPr>
          <p:cNvPr id="15" name="Shape 13"/>
          <p:cNvSpPr/>
          <p:nvPr/>
        </p:nvSpPr>
        <p:spPr>
          <a:xfrm>
            <a:off x="6181344" y="1965960"/>
            <a:ext cx="2807208" cy="932688"/>
          </a:xfrm>
          <a:prstGeom prst="rect">
            <a:avLst/>
          </a:prstGeom>
          <a:solidFill>
            <a:srgbClr val="F2F5FC"/>
          </a:solidFill>
          <a:ln/>
        </p:spPr>
      </p:sp>
      <p:sp>
        <p:nvSpPr>
          <p:cNvPr id="16" name="Shape 14"/>
          <p:cNvSpPr/>
          <p:nvPr/>
        </p:nvSpPr>
        <p:spPr>
          <a:xfrm>
            <a:off x="6181344" y="1965960"/>
            <a:ext cx="50292" cy="932688"/>
          </a:xfrm>
          <a:prstGeom prst="rect">
            <a:avLst/>
          </a:prstGeom>
          <a:solidFill>
            <a:srgbClr val="1A288E"/>
          </a:solidFill>
          <a:ln/>
        </p:spPr>
      </p:sp>
      <p:sp>
        <p:nvSpPr>
          <p:cNvPr id="17" name="Text 15"/>
          <p:cNvSpPr/>
          <p:nvPr/>
        </p:nvSpPr>
        <p:spPr>
          <a:xfrm>
            <a:off x="6364224" y="2057400"/>
            <a:ext cx="2487168" cy="457200"/>
          </a:xfrm>
          <a:prstGeom prst="rect">
            <a:avLst/>
          </a:prstGeom>
          <a:noFill/>
          <a:ln/>
        </p:spPr>
        <p:txBody>
          <a:bodyPr wrap="square" rtlCol="0" anchor="ctr"/>
          <a:lstStyle/>
          <a:p>
            <a:pPr indent="0" marL="0">
              <a:buNone/>
            </a:pPr>
            <a:r>
              <a:rPr lang="en-US" sz="2400" b="1" dirty="0">
                <a:solidFill>
                  <a:srgbClr val="1A288E"/>
                </a:solidFill>
                <a:latin typeface="Calibri" pitchFamily="34" charset="0"/>
                <a:ea typeface="Calibri" pitchFamily="34" charset="-122"/>
                <a:cs typeface="Calibri" pitchFamily="34" charset="-120"/>
              </a:rPr>
              <a:t>~1 hour</a:t>
            </a:r>
            <a:endParaRPr lang="en-US" sz="2400" dirty="0"/>
          </a:p>
        </p:txBody>
      </p:sp>
      <p:sp>
        <p:nvSpPr>
          <p:cNvPr id="18" name="Text 16"/>
          <p:cNvSpPr/>
          <p:nvPr/>
        </p:nvSpPr>
        <p:spPr>
          <a:xfrm>
            <a:off x="6364224" y="2514600"/>
            <a:ext cx="2487168" cy="310896"/>
          </a:xfrm>
          <a:prstGeom prst="rect">
            <a:avLst/>
          </a:prstGeom>
          <a:noFill/>
          <a:ln/>
        </p:spPr>
        <p:txBody>
          <a:bodyPr wrap="square" rtlCol="0" anchor="ctr"/>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Runtime even on the ~1K test audience</a:t>
            </a:r>
            <a:endParaRPr lang="en-US" sz="900" dirty="0"/>
          </a:p>
        </p:txBody>
      </p:sp>
      <p:sp>
        <p:nvSpPr>
          <p:cNvPr id="19" name="Shape 17"/>
          <p:cNvSpPr/>
          <p:nvPr/>
        </p:nvSpPr>
        <p:spPr>
          <a:xfrm>
            <a:off x="9153144" y="1965960"/>
            <a:ext cx="2560320" cy="932688"/>
          </a:xfrm>
          <a:prstGeom prst="rect">
            <a:avLst/>
          </a:prstGeom>
          <a:solidFill>
            <a:srgbClr val="F2F5FC"/>
          </a:solidFill>
          <a:ln/>
        </p:spPr>
      </p:sp>
      <p:sp>
        <p:nvSpPr>
          <p:cNvPr id="20" name="Shape 18"/>
          <p:cNvSpPr/>
          <p:nvPr/>
        </p:nvSpPr>
        <p:spPr>
          <a:xfrm>
            <a:off x="9153144" y="1965960"/>
            <a:ext cx="50292" cy="932688"/>
          </a:xfrm>
          <a:prstGeom prst="rect">
            <a:avLst/>
          </a:prstGeom>
          <a:solidFill>
            <a:srgbClr val="F96806"/>
          </a:solidFill>
          <a:ln/>
        </p:spPr>
      </p:sp>
      <p:sp>
        <p:nvSpPr>
          <p:cNvPr id="21" name="Text 19"/>
          <p:cNvSpPr/>
          <p:nvPr/>
        </p:nvSpPr>
        <p:spPr>
          <a:xfrm>
            <a:off x="9336024" y="2057400"/>
            <a:ext cx="2240280" cy="457200"/>
          </a:xfrm>
          <a:prstGeom prst="rect">
            <a:avLst/>
          </a:prstGeom>
          <a:noFill/>
          <a:ln/>
        </p:spPr>
        <p:txBody>
          <a:bodyPr wrap="square" rtlCol="0" anchor="ctr"/>
          <a:lstStyle/>
          <a:p>
            <a:pPr indent="0" marL="0">
              <a:buNone/>
            </a:pPr>
            <a:r>
              <a:rPr lang="en-US" sz="2400" b="1" dirty="0">
                <a:solidFill>
                  <a:srgbClr val="F96806"/>
                </a:solidFill>
                <a:latin typeface="Calibri" pitchFamily="34" charset="0"/>
                <a:ea typeface="Calibri" pitchFamily="34" charset="-122"/>
                <a:cs typeface="Calibri" pitchFamily="34" charset="-120"/>
              </a:rPr>
              <a:t>57%</a:t>
            </a:r>
            <a:endParaRPr lang="en-US" sz="2400" dirty="0"/>
          </a:p>
        </p:txBody>
      </p:sp>
      <p:sp>
        <p:nvSpPr>
          <p:cNvPr id="22" name="Text 20"/>
          <p:cNvSpPr/>
          <p:nvPr/>
        </p:nvSpPr>
        <p:spPr>
          <a:xfrm>
            <a:off x="9336024" y="2514600"/>
            <a:ext cx="2240280" cy="310896"/>
          </a:xfrm>
          <a:prstGeom prst="rect">
            <a:avLst/>
          </a:prstGeom>
          <a:noFill/>
          <a:ln/>
        </p:spPr>
        <p:txBody>
          <a:bodyPr wrap="square" rtlCol="0" anchor="ctr"/>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Of runtime in queries of 4–6 seconds</a:t>
            </a:r>
            <a:endParaRPr lang="en-US" sz="900" dirty="0"/>
          </a:p>
        </p:txBody>
      </p:sp>
      <p:sp>
        <p:nvSpPr>
          <p:cNvPr id="23" name="Shape 21"/>
          <p:cNvSpPr/>
          <p:nvPr/>
        </p:nvSpPr>
        <p:spPr>
          <a:xfrm>
            <a:off x="237744" y="3108960"/>
            <a:ext cx="5660136" cy="2103120"/>
          </a:xfrm>
          <a:prstGeom prst="rect">
            <a:avLst/>
          </a:prstGeom>
          <a:solidFill>
            <a:srgbClr val="1A288E"/>
          </a:solidFill>
          <a:ln/>
        </p:spPr>
      </p:sp>
      <p:sp>
        <p:nvSpPr>
          <p:cNvPr id="24" name="Text 22"/>
          <p:cNvSpPr/>
          <p:nvPr/>
        </p:nvSpPr>
        <p:spPr>
          <a:xfrm>
            <a:off x="438912" y="3236976"/>
            <a:ext cx="5303520" cy="201168"/>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WHAT THE TIMING SHOWED</a:t>
            </a:r>
            <a:endParaRPr lang="en-US" sz="950" dirty="0"/>
          </a:p>
        </p:txBody>
      </p:sp>
      <p:sp>
        <p:nvSpPr>
          <p:cNvPr id="25" name="Text 23"/>
          <p:cNvSpPr/>
          <p:nvPr/>
        </p:nvSpPr>
        <p:spPr>
          <a:xfrm>
            <a:off x="438912" y="3529584"/>
            <a:ext cx="182880" cy="201168"/>
          </a:xfrm>
          <a:prstGeom prst="rect">
            <a:avLst/>
          </a:prstGeom>
          <a:noFill/>
          <a:ln/>
        </p:spPr>
        <p:txBody>
          <a:bodyPr wrap="square" rtlCol="0" anchor="ctr"/>
          <a:lstStyle/>
          <a:p>
            <a:pPr indent="0" marL="0">
              <a:buNone/>
            </a:pPr>
            <a:r>
              <a:rPr lang="en-US" sz="1000" dirty="0">
                <a:solidFill>
                  <a:srgbClr val="F96806"/>
                </a:solidFill>
                <a:latin typeface="Calibri" pitchFamily="34" charset="0"/>
                <a:ea typeface="Calibri" pitchFamily="34" charset="-122"/>
                <a:cs typeface="Calibri" pitchFamily="34" charset="-120"/>
              </a:rPr>
              <a:t>▪</a:t>
            </a:r>
            <a:endParaRPr lang="en-US" sz="1000" dirty="0"/>
          </a:p>
        </p:txBody>
      </p:sp>
      <p:sp>
        <p:nvSpPr>
          <p:cNvPr id="26" name="Text 24"/>
          <p:cNvSpPr/>
          <p:nvPr/>
        </p:nvSpPr>
        <p:spPr>
          <a:xfrm>
            <a:off x="640080" y="3529584"/>
            <a:ext cx="5120640" cy="475488"/>
          </a:xfrm>
          <a:prstGeom prst="rect">
            <a:avLst/>
          </a:prstGeom>
          <a:noFill/>
          <a:ln/>
        </p:spPr>
        <p:txBody>
          <a:bodyPr wrap="square"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Every source view averaged ~5 seconds per query, whether it returned a thousand rows or scanned millions.</a:t>
            </a:r>
            <a:endParaRPr lang="en-US" sz="1000" dirty="0"/>
          </a:p>
        </p:txBody>
      </p:sp>
      <p:sp>
        <p:nvSpPr>
          <p:cNvPr id="27" name="Text 25"/>
          <p:cNvSpPr/>
          <p:nvPr/>
        </p:nvSpPr>
        <p:spPr>
          <a:xfrm>
            <a:off x="438912" y="4059936"/>
            <a:ext cx="182880" cy="201168"/>
          </a:xfrm>
          <a:prstGeom prst="rect">
            <a:avLst/>
          </a:prstGeom>
          <a:noFill/>
          <a:ln/>
        </p:spPr>
        <p:txBody>
          <a:bodyPr wrap="square" rtlCol="0" anchor="ctr"/>
          <a:lstStyle/>
          <a:p>
            <a:pPr indent="0" marL="0">
              <a:buNone/>
            </a:pPr>
            <a:r>
              <a:rPr lang="en-US" sz="1000" dirty="0">
                <a:solidFill>
                  <a:srgbClr val="F96806"/>
                </a:solidFill>
                <a:latin typeface="Calibri" pitchFamily="34" charset="0"/>
                <a:ea typeface="Calibri" pitchFamily="34" charset="-122"/>
                <a:cs typeface="Calibri" pitchFamily="34" charset="-120"/>
              </a:rPr>
              <a:t>▪</a:t>
            </a:r>
            <a:endParaRPr lang="en-US" sz="1000" dirty="0"/>
          </a:p>
        </p:txBody>
      </p:sp>
      <p:sp>
        <p:nvSpPr>
          <p:cNvPr id="28" name="Text 26"/>
          <p:cNvSpPr/>
          <p:nvPr/>
        </p:nvSpPr>
        <p:spPr>
          <a:xfrm>
            <a:off x="640080" y="4059936"/>
            <a:ext cx="5120640" cy="475488"/>
          </a:xfrm>
          <a:prstGeom prst="rect">
            <a:avLst/>
          </a:prstGeom>
          <a:noFill/>
          <a:ln/>
        </p:spPr>
        <p:txBody>
          <a:bodyPr wrap="square"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That uniform floor is scheduling and round-trip latency, not data volume.</a:t>
            </a:r>
            <a:endParaRPr lang="en-US" sz="1000" dirty="0"/>
          </a:p>
        </p:txBody>
      </p:sp>
      <p:sp>
        <p:nvSpPr>
          <p:cNvPr id="29" name="Text 27"/>
          <p:cNvSpPr/>
          <p:nvPr/>
        </p:nvSpPr>
        <p:spPr>
          <a:xfrm>
            <a:off x="438912" y="4590288"/>
            <a:ext cx="182880" cy="201168"/>
          </a:xfrm>
          <a:prstGeom prst="rect">
            <a:avLst/>
          </a:prstGeom>
          <a:noFill/>
          <a:ln/>
        </p:spPr>
        <p:txBody>
          <a:bodyPr wrap="square" rtlCol="0" anchor="ctr"/>
          <a:lstStyle/>
          <a:p>
            <a:pPr indent="0" marL="0">
              <a:buNone/>
            </a:pPr>
            <a:r>
              <a:rPr lang="en-US" sz="1000" dirty="0">
                <a:solidFill>
                  <a:srgbClr val="F96806"/>
                </a:solidFill>
                <a:latin typeface="Calibri" pitchFamily="34" charset="0"/>
                <a:ea typeface="Calibri" pitchFamily="34" charset="-122"/>
                <a:cs typeface="Calibri" pitchFamily="34" charset="-120"/>
              </a:rPr>
              <a:t>▪</a:t>
            </a:r>
            <a:endParaRPr lang="en-US" sz="1000" dirty="0"/>
          </a:p>
        </p:txBody>
      </p:sp>
      <p:sp>
        <p:nvSpPr>
          <p:cNvPr id="30" name="Text 28"/>
          <p:cNvSpPr/>
          <p:nvPr/>
        </p:nvSpPr>
        <p:spPr>
          <a:xfrm>
            <a:off x="640080" y="4590288"/>
            <a:ext cx="5120640" cy="475488"/>
          </a:xfrm>
          <a:prstGeom prst="rect">
            <a:avLst/>
          </a:prstGeom>
          <a:noFill/>
          <a:ln/>
        </p:spPr>
        <p:txBody>
          <a:bodyPr wrap="square"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Runtime therefore scales with the number of variables requested — not with the number of customers.</a:t>
            </a:r>
            <a:endParaRPr lang="en-US" sz="1000" dirty="0"/>
          </a:p>
        </p:txBody>
      </p:sp>
      <p:sp>
        <p:nvSpPr>
          <p:cNvPr id="31" name="Text 29"/>
          <p:cNvSpPr/>
          <p:nvPr/>
        </p:nvSpPr>
        <p:spPr>
          <a:xfrm>
            <a:off x="6126480" y="3108960"/>
            <a:ext cx="5760720" cy="201168"/>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LEVERS, IN ORDER OF PAYBACK</a:t>
            </a:r>
            <a:endParaRPr lang="en-US" sz="950" dirty="0"/>
          </a:p>
        </p:txBody>
      </p:sp>
      <p:sp>
        <p:nvSpPr>
          <p:cNvPr id="32" name="Shape 30"/>
          <p:cNvSpPr/>
          <p:nvPr/>
        </p:nvSpPr>
        <p:spPr>
          <a:xfrm>
            <a:off x="6126480" y="3383280"/>
            <a:ext cx="50292" cy="548640"/>
          </a:xfrm>
          <a:prstGeom prst="rect">
            <a:avLst/>
          </a:prstGeom>
          <a:solidFill>
            <a:srgbClr val="1861F5"/>
          </a:solidFill>
          <a:ln/>
        </p:spPr>
      </p:sp>
      <p:sp>
        <p:nvSpPr>
          <p:cNvPr id="33" name="Shape 31"/>
          <p:cNvSpPr/>
          <p:nvPr/>
        </p:nvSpPr>
        <p:spPr>
          <a:xfrm>
            <a:off x="6176772" y="3383280"/>
            <a:ext cx="5774436" cy="548640"/>
          </a:xfrm>
          <a:prstGeom prst="rect">
            <a:avLst/>
          </a:prstGeom>
          <a:solidFill>
            <a:srgbClr val="F2F5FC"/>
          </a:solidFill>
          <a:ln/>
        </p:spPr>
      </p:sp>
      <p:sp>
        <p:nvSpPr>
          <p:cNvPr id="34" name="Text 32"/>
          <p:cNvSpPr/>
          <p:nvPr/>
        </p:nvSpPr>
        <p:spPr>
          <a:xfrm>
            <a:off x="6327648" y="3438144"/>
            <a:ext cx="5458968"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Subset the variable list for debugging</a:t>
            </a:r>
            <a:endParaRPr lang="en-US" sz="1100" dirty="0"/>
          </a:p>
        </p:txBody>
      </p:sp>
      <p:sp>
        <p:nvSpPr>
          <p:cNvPr id="35" name="Text 33"/>
          <p:cNvSpPr/>
          <p:nvPr/>
        </p:nvSpPr>
        <p:spPr>
          <a:xfrm>
            <a:off x="6327648" y="3666744"/>
            <a:ext cx="5458968" cy="219456"/>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Validate a fix on the 10–20 variables it touches: minutes, not an hour.</a:t>
            </a:r>
            <a:endParaRPr lang="en-US" sz="950" dirty="0"/>
          </a:p>
        </p:txBody>
      </p:sp>
      <p:sp>
        <p:nvSpPr>
          <p:cNvPr id="36" name="Shape 34"/>
          <p:cNvSpPr/>
          <p:nvPr/>
        </p:nvSpPr>
        <p:spPr>
          <a:xfrm>
            <a:off x="6126480" y="4005072"/>
            <a:ext cx="50292" cy="548640"/>
          </a:xfrm>
          <a:prstGeom prst="rect">
            <a:avLst/>
          </a:prstGeom>
          <a:solidFill>
            <a:srgbClr val="1861F5"/>
          </a:solidFill>
          <a:ln/>
        </p:spPr>
      </p:sp>
      <p:sp>
        <p:nvSpPr>
          <p:cNvPr id="37" name="Shape 35"/>
          <p:cNvSpPr/>
          <p:nvPr/>
        </p:nvSpPr>
        <p:spPr>
          <a:xfrm>
            <a:off x="6176772" y="4005072"/>
            <a:ext cx="5774436" cy="548640"/>
          </a:xfrm>
          <a:prstGeom prst="rect">
            <a:avLst/>
          </a:prstGeom>
          <a:solidFill>
            <a:srgbClr val="F2F5FC"/>
          </a:solidFill>
          <a:ln/>
        </p:spPr>
      </p:sp>
      <p:sp>
        <p:nvSpPr>
          <p:cNvPr id="38" name="Text 36"/>
          <p:cNvSpPr/>
          <p:nvPr/>
        </p:nvSpPr>
        <p:spPr>
          <a:xfrm>
            <a:off x="6327648" y="4059936"/>
            <a:ext cx="5458968"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Run variable families in parallel</a:t>
            </a:r>
            <a:endParaRPr lang="en-US" sz="1100" dirty="0"/>
          </a:p>
        </p:txBody>
      </p:sp>
      <p:sp>
        <p:nvSpPr>
          <p:cNvPr id="39" name="Text 37"/>
          <p:cNvSpPr/>
          <p:nvPr/>
        </p:nvSpPr>
        <p:spPr>
          <a:xfrm>
            <a:off x="6327648" y="4288536"/>
            <a:ext cx="5458968" cy="219456"/>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Independent categories in separate sessions with distinct staging names.</a:t>
            </a:r>
            <a:endParaRPr lang="en-US" sz="950" dirty="0"/>
          </a:p>
        </p:txBody>
      </p:sp>
      <p:sp>
        <p:nvSpPr>
          <p:cNvPr id="40" name="Shape 38"/>
          <p:cNvSpPr/>
          <p:nvPr/>
        </p:nvSpPr>
        <p:spPr>
          <a:xfrm>
            <a:off x="6126480" y="4626864"/>
            <a:ext cx="50292" cy="548640"/>
          </a:xfrm>
          <a:prstGeom prst="rect">
            <a:avLst/>
          </a:prstGeom>
          <a:solidFill>
            <a:srgbClr val="1861F5"/>
          </a:solidFill>
          <a:ln/>
        </p:spPr>
      </p:sp>
      <p:sp>
        <p:nvSpPr>
          <p:cNvPr id="41" name="Shape 39"/>
          <p:cNvSpPr/>
          <p:nvPr/>
        </p:nvSpPr>
        <p:spPr>
          <a:xfrm>
            <a:off x="6176772" y="4626864"/>
            <a:ext cx="5774436" cy="548640"/>
          </a:xfrm>
          <a:prstGeom prst="rect">
            <a:avLst/>
          </a:prstGeom>
          <a:solidFill>
            <a:srgbClr val="F2F5FC"/>
          </a:solidFill>
          <a:ln/>
        </p:spPr>
      </p:sp>
      <p:sp>
        <p:nvSpPr>
          <p:cNvPr id="42" name="Text 40"/>
          <p:cNvSpPr/>
          <p:nvPr/>
        </p:nvSpPr>
        <p:spPr>
          <a:xfrm>
            <a:off x="6327648" y="4681728"/>
            <a:ext cx="5458968" cy="219456"/>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Stage the heaviest views once</a:t>
            </a:r>
            <a:endParaRPr lang="en-US" sz="1100" dirty="0"/>
          </a:p>
        </p:txBody>
      </p:sp>
      <p:sp>
        <p:nvSpPr>
          <p:cNvPr id="43" name="Text 41"/>
          <p:cNvSpPr/>
          <p:nvPr/>
        </p:nvSpPr>
        <p:spPr>
          <a:xfrm>
            <a:off x="6327648" y="4910328"/>
            <a:ext cx="5458968" cy="219456"/>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Pre-filter the four largest views to the audience, then query the small copy.</a:t>
            </a:r>
            <a:endParaRPr lang="en-US" sz="950" dirty="0"/>
          </a:p>
        </p:txBody>
      </p:sp>
      <p:sp>
        <p:nvSpPr>
          <p:cNvPr id="44" name="Shape 42"/>
          <p:cNvSpPr/>
          <p:nvPr/>
        </p:nvSpPr>
        <p:spPr>
          <a:xfrm>
            <a:off x="237744" y="5422392"/>
            <a:ext cx="11713464" cy="758952"/>
          </a:xfrm>
          <a:prstGeom prst="rect">
            <a:avLst/>
          </a:prstGeom>
          <a:solidFill>
            <a:srgbClr val="1A288E"/>
          </a:solidFill>
          <a:ln/>
        </p:spPr>
      </p:sp>
      <p:sp>
        <p:nvSpPr>
          <p:cNvPr id="45" name="Text 43"/>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LESSON FOR SIZING</a:t>
            </a:r>
            <a:endParaRPr lang="en-US" sz="900" dirty="0"/>
          </a:p>
        </p:txBody>
      </p:sp>
      <p:sp>
        <p:nvSpPr>
          <p:cNvPr id="46" name="Text 44"/>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Measure before optimising. The intuitive lever — a smaller audience — was the wrong one; query count and per-query latency were the real cost drivers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DELIVERY · ITERATION TIMELINE</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Seven Iterations From First Run to 100% Population</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Each iteration closed one class of defect and was verified by value before the next began. Ownership was split by role so that whoever fixed a defect was never the only one validating it</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329184" y="2395728"/>
            <a:ext cx="11475720" cy="41148"/>
          </a:xfrm>
          <a:prstGeom prst="rect">
            <a:avLst/>
          </a:prstGeom>
          <a:solidFill>
            <a:srgbClr val="D6DEF5"/>
          </a:solidFill>
          <a:ln/>
        </p:spPr>
      </p:sp>
      <p:sp>
        <p:nvSpPr>
          <p:cNvPr id="8" name="Shape 6"/>
          <p:cNvSpPr/>
          <p:nvPr/>
        </p:nvSpPr>
        <p:spPr>
          <a:xfrm>
            <a:off x="1046988" y="2322576"/>
            <a:ext cx="155448" cy="155448"/>
          </a:xfrm>
          <a:prstGeom prst="ellipse">
            <a:avLst/>
          </a:prstGeom>
          <a:solidFill>
            <a:srgbClr val="F96806"/>
          </a:solidFill>
          <a:ln/>
        </p:spPr>
      </p:sp>
      <p:sp>
        <p:nvSpPr>
          <p:cNvPr id="9" name="Text 7"/>
          <p:cNvSpPr/>
          <p:nvPr/>
        </p:nvSpPr>
        <p:spPr>
          <a:xfrm>
            <a:off x="329184" y="2029968"/>
            <a:ext cx="1591056" cy="219456"/>
          </a:xfrm>
          <a:prstGeom prst="rect">
            <a:avLst/>
          </a:prstGeom>
          <a:noFill/>
          <a:ln/>
        </p:spPr>
        <p:txBody>
          <a:bodyPr wrap="square" rtlCol="0" anchor="ctr"/>
          <a:lstStyle/>
          <a:p>
            <a:pPr algn="ctr" indent="0" marL="0">
              <a:buNone/>
            </a:pPr>
            <a:r>
              <a:rPr lang="en-US" sz="950" b="1" spc="100" kern="0" dirty="0">
                <a:solidFill>
                  <a:srgbClr val="F96806"/>
                </a:solidFill>
                <a:latin typeface="Calibri" pitchFamily="34" charset="0"/>
                <a:ea typeface="Calibri" pitchFamily="34" charset="-122"/>
                <a:cs typeface="Calibri" pitchFamily="34" charset="-120"/>
              </a:rPr>
              <a:t>MONTH 1</a:t>
            </a:r>
            <a:endParaRPr lang="en-US" sz="950" dirty="0"/>
          </a:p>
        </p:txBody>
      </p:sp>
      <p:sp>
        <p:nvSpPr>
          <p:cNvPr id="10" name="Shape 8"/>
          <p:cNvSpPr/>
          <p:nvPr/>
        </p:nvSpPr>
        <p:spPr>
          <a:xfrm>
            <a:off x="329184" y="2615184"/>
            <a:ext cx="1591056" cy="45720"/>
          </a:xfrm>
          <a:prstGeom prst="rect">
            <a:avLst/>
          </a:prstGeom>
          <a:solidFill>
            <a:srgbClr val="1861F5"/>
          </a:solidFill>
          <a:ln/>
        </p:spPr>
      </p:sp>
      <p:sp>
        <p:nvSpPr>
          <p:cNvPr id="11" name="Shape 9"/>
          <p:cNvSpPr/>
          <p:nvPr/>
        </p:nvSpPr>
        <p:spPr>
          <a:xfrm>
            <a:off x="329184" y="2660904"/>
            <a:ext cx="1591056" cy="1938528"/>
          </a:xfrm>
          <a:prstGeom prst="rect">
            <a:avLst/>
          </a:prstGeom>
          <a:solidFill>
            <a:srgbClr val="F2F5FC"/>
          </a:solidFill>
          <a:ln/>
        </p:spPr>
      </p:sp>
      <p:sp>
        <p:nvSpPr>
          <p:cNvPr id="12" name="Text 10"/>
          <p:cNvSpPr/>
          <p:nvPr/>
        </p:nvSpPr>
        <p:spPr>
          <a:xfrm>
            <a:off x="438912" y="2724912"/>
            <a:ext cx="1371600" cy="512064"/>
          </a:xfrm>
          <a:prstGeom prst="rect">
            <a:avLst/>
          </a:prstGeom>
          <a:noFill/>
          <a:ln/>
        </p:spPr>
        <p:txBody>
          <a:bodyPr wrap="square" rtlCol="0" anchor="t"/>
          <a:lstStyle/>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Parallel run</a:t>
            </a:r>
            <a:endParaRPr lang="en-US" sz="1000" dirty="0"/>
          </a:p>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in production</a:t>
            </a:r>
            <a:endParaRPr lang="en-US" sz="1000" dirty="0"/>
          </a:p>
        </p:txBody>
      </p:sp>
      <p:sp>
        <p:nvSpPr>
          <p:cNvPr id="13" name="Text 11"/>
          <p:cNvSpPr/>
          <p:nvPr/>
        </p:nvSpPr>
        <p:spPr>
          <a:xfrm>
            <a:off x="438912" y="3255264"/>
            <a:ext cx="1371600" cy="859536"/>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First CDP execution; unresolved names cascaded across the log.</a:t>
            </a:r>
            <a:endParaRPr lang="en-US" sz="850" dirty="0"/>
          </a:p>
        </p:txBody>
      </p:sp>
      <p:sp>
        <p:nvSpPr>
          <p:cNvPr id="14" name="Shape 12"/>
          <p:cNvSpPr/>
          <p:nvPr/>
        </p:nvSpPr>
        <p:spPr>
          <a:xfrm>
            <a:off x="420624" y="4151376"/>
            <a:ext cx="1408176" cy="219456"/>
          </a:xfrm>
          <a:prstGeom prst="rect">
            <a:avLst/>
          </a:prstGeom>
          <a:solidFill>
            <a:srgbClr val="E3EAFB"/>
          </a:solidFill>
          <a:ln/>
        </p:spPr>
      </p:sp>
      <p:sp>
        <p:nvSpPr>
          <p:cNvPr id="15" name="Text 13"/>
          <p:cNvSpPr/>
          <p:nvPr/>
        </p:nvSpPr>
        <p:spPr>
          <a:xfrm>
            <a:off x="420624" y="4178808"/>
            <a:ext cx="1408176" cy="182880"/>
          </a:xfrm>
          <a:prstGeom prst="rect">
            <a:avLst/>
          </a:prstGeom>
          <a:noFill/>
          <a:ln/>
        </p:spPr>
        <p:txBody>
          <a:bodyPr wrap="square" rtlCol="0" anchor="ctr"/>
          <a:lstStyle/>
          <a:p>
            <a:pPr algn="ctr" indent="0" marL="0">
              <a:buNone/>
            </a:pPr>
            <a:r>
              <a:rPr lang="en-US" sz="750" b="1" dirty="0">
                <a:solidFill>
                  <a:srgbClr val="113C75"/>
                </a:solidFill>
                <a:latin typeface="Calibri" pitchFamily="34" charset="0"/>
                <a:ea typeface="Calibri" pitchFamily="34" charset="-122"/>
                <a:cs typeface="Calibri" pitchFamily="34" charset="-120"/>
              </a:rPr>
              <a:t>344/475 · ~5K err</a:t>
            </a:r>
            <a:endParaRPr lang="en-US" sz="750" dirty="0"/>
          </a:p>
        </p:txBody>
      </p:sp>
      <p:sp>
        <p:nvSpPr>
          <p:cNvPr id="16" name="Text 14"/>
          <p:cNvSpPr/>
          <p:nvPr/>
        </p:nvSpPr>
        <p:spPr>
          <a:xfrm>
            <a:off x="420624" y="4407408"/>
            <a:ext cx="1408176" cy="182880"/>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Analytics engineer</a:t>
            </a:r>
            <a:endParaRPr lang="en-US" sz="750" dirty="0"/>
          </a:p>
        </p:txBody>
      </p:sp>
      <p:sp>
        <p:nvSpPr>
          <p:cNvPr id="17" name="Shape 15"/>
          <p:cNvSpPr/>
          <p:nvPr/>
        </p:nvSpPr>
        <p:spPr>
          <a:xfrm>
            <a:off x="2692908" y="2322576"/>
            <a:ext cx="155448" cy="155448"/>
          </a:xfrm>
          <a:prstGeom prst="ellipse">
            <a:avLst/>
          </a:prstGeom>
          <a:solidFill>
            <a:srgbClr val="F96806"/>
          </a:solidFill>
          <a:ln/>
        </p:spPr>
      </p:sp>
      <p:sp>
        <p:nvSpPr>
          <p:cNvPr id="18" name="Text 16"/>
          <p:cNvSpPr/>
          <p:nvPr/>
        </p:nvSpPr>
        <p:spPr>
          <a:xfrm>
            <a:off x="1975104" y="2029968"/>
            <a:ext cx="1591056" cy="219456"/>
          </a:xfrm>
          <a:prstGeom prst="rect">
            <a:avLst/>
          </a:prstGeom>
          <a:noFill/>
          <a:ln/>
        </p:spPr>
        <p:txBody>
          <a:bodyPr wrap="square" rtlCol="0" anchor="ctr"/>
          <a:lstStyle/>
          <a:p>
            <a:pPr algn="ctr" indent="0" marL="0">
              <a:buNone/>
            </a:pPr>
            <a:r>
              <a:rPr lang="en-US" sz="950" b="1" spc="100" kern="0" dirty="0">
                <a:solidFill>
                  <a:srgbClr val="F96806"/>
                </a:solidFill>
                <a:latin typeface="Calibri" pitchFamily="34" charset="0"/>
                <a:ea typeface="Calibri" pitchFamily="34" charset="-122"/>
                <a:cs typeface="Calibri" pitchFamily="34" charset="-120"/>
              </a:rPr>
              <a:t>MONTH 2</a:t>
            </a:r>
            <a:endParaRPr lang="en-US" sz="950" dirty="0"/>
          </a:p>
        </p:txBody>
      </p:sp>
      <p:sp>
        <p:nvSpPr>
          <p:cNvPr id="19" name="Shape 17"/>
          <p:cNvSpPr/>
          <p:nvPr/>
        </p:nvSpPr>
        <p:spPr>
          <a:xfrm>
            <a:off x="1975104" y="2615184"/>
            <a:ext cx="1591056" cy="45720"/>
          </a:xfrm>
          <a:prstGeom prst="rect">
            <a:avLst/>
          </a:prstGeom>
          <a:solidFill>
            <a:srgbClr val="1861F5"/>
          </a:solidFill>
          <a:ln/>
        </p:spPr>
      </p:sp>
      <p:sp>
        <p:nvSpPr>
          <p:cNvPr id="20" name="Shape 18"/>
          <p:cNvSpPr/>
          <p:nvPr/>
        </p:nvSpPr>
        <p:spPr>
          <a:xfrm>
            <a:off x="1975104" y="2660904"/>
            <a:ext cx="1591056" cy="1938528"/>
          </a:xfrm>
          <a:prstGeom prst="rect">
            <a:avLst/>
          </a:prstGeom>
          <a:solidFill>
            <a:srgbClr val="F2F5FC"/>
          </a:solidFill>
          <a:ln/>
        </p:spPr>
      </p:sp>
      <p:sp>
        <p:nvSpPr>
          <p:cNvPr id="21" name="Text 19"/>
          <p:cNvSpPr/>
          <p:nvPr/>
        </p:nvSpPr>
        <p:spPr>
          <a:xfrm>
            <a:off x="2084832" y="2724912"/>
            <a:ext cx="1371600" cy="512064"/>
          </a:xfrm>
          <a:prstGeom prst="rect">
            <a:avLst/>
          </a:prstGeom>
          <a:noFill/>
          <a:ln/>
        </p:spPr>
        <p:txBody>
          <a:bodyPr wrap="square" rtlCol="0" anchor="t"/>
          <a:lstStyle/>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Bridge layer</a:t>
            </a:r>
            <a:endParaRPr lang="en-US" sz="1000" dirty="0"/>
          </a:p>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&amp; sample check</a:t>
            </a:r>
            <a:endParaRPr lang="en-US" sz="1000" dirty="0"/>
          </a:p>
        </p:txBody>
      </p:sp>
      <p:sp>
        <p:nvSpPr>
          <p:cNvPr id="22" name="Text 20"/>
          <p:cNvSpPr/>
          <p:nvPr/>
        </p:nvSpPr>
        <p:spPr>
          <a:xfrm>
            <a:off x="2084832" y="3255264"/>
            <a:ext cx="1371600" cy="859536"/>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Name mapping added; a bad key rewrite removed; reference sample matched.</a:t>
            </a:r>
            <a:endParaRPr lang="en-US" sz="850" dirty="0"/>
          </a:p>
        </p:txBody>
      </p:sp>
      <p:sp>
        <p:nvSpPr>
          <p:cNvPr id="23" name="Shape 21"/>
          <p:cNvSpPr/>
          <p:nvPr/>
        </p:nvSpPr>
        <p:spPr>
          <a:xfrm>
            <a:off x="2066544" y="4151376"/>
            <a:ext cx="1408176" cy="219456"/>
          </a:xfrm>
          <a:prstGeom prst="rect">
            <a:avLst/>
          </a:prstGeom>
          <a:solidFill>
            <a:srgbClr val="E3EAFB"/>
          </a:solidFill>
          <a:ln/>
        </p:spPr>
      </p:sp>
      <p:sp>
        <p:nvSpPr>
          <p:cNvPr id="24" name="Text 22"/>
          <p:cNvSpPr/>
          <p:nvPr/>
        </p:nvSpPr>
        <p:spPr>
          <a:xfrm>
            <a:off x="2066544" y="4178808"/>
            <a:ext cx="1408176" cy="182880"/>
          </a:xfrm>
          <a:prstGeom prst="rect">
            <a:avLst/>
          </a:prstGeom>
          <a:noFill/>
          <a:ln/>
        </p:spPr>
        <p:txBody>
          <a:bodyPr wrap="square" rtlCol="0" anchor="ctr"/>
          <a:lstStyle/>
          <a:p>
            <a:pPr algn="ctr" indent="0" marL="0">
              <a:buNone/>
            </a:pPr>
            <a:r>
              <a:rPr lang="en-US" sz="750" b="1" dirty="0">
                <a:solidFill>
                  <a:srgbClr val="113C75"/>
                </a:solidFill>
                <a:latin typeface="Calibri" pitchFamily="34" charset="0"/>
                <a:ea typeface="Calibri" pitchFamily="34" charset="-122"/>
                <a:cs typeface="Calibri" pitchFamily="34" charset="-120"/>
              </a:rPr>
              <a:t>423 / 475</a:t>
            </a:r>
            <a:endParaRPr lang="en-US" sz="750" dirty="0"/>
          </a:p>
        </p:txBody>
      </p:sp>
      <p:sp>
        <p:nvSpPr>
          <p:cNvPr id="25" name="Text 23"/>
          <p:cNvSpPr/>
          <p:nvPr/>
        </p:nvSpPr>
        <p:spPr>
          <a:xfrm>
            <a:off x="2066544" y="4407408"/>
            <a:ext cx="1408176" cy="182880"/>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Engineer · QC lead</a:t>
            </a:r>
            <a:endParaRPr lang="en-US" sz="750" dirty="0"/>
          </a:p>
        </p:txBody>
      </p:sp>
      <p:sp>
        <p:nvSpPr>
          <p:cNvPr id="26" name="Shape 24"/>
          <p:cNvSpPr/>
          <p:nvPr/>
        </p:nvSpPr>
        <p:spPr>
          <a:xfrm>
            <a:off x="4338828" y="2322576"/>
            <a:ext cx="155448" cy="155448"/>
          </a:xfrm>
          <a:prstGeom prst="ellipse">
            <a:avLst/>
          </a:prstGeom>
          <a:solidFill>
            <a:srgbClr val="F96806"/>
          </a:solidFill>
          <a:ln/>
        </p:spPr>
      </p:sp>
      <p:sp>
        <p:nvSpPr>
          <p:cNvPr id="27" name="Text 25"/>
          <p:cNvSpPr/>
          <p:nvPr/>
        </p:nvSpPr>
        <p:spPr>
          <a:xfrm>
            <a:off x="3621024" y="2029968"/>
            <a:ext cx="1591056" cy="219456"/>
          </a:xfrm>
          <a:prstGeom prst="rect">
            <a:avLst/>
          </a:prstGeom>
          <a:noFill/>
          <a:ln/>
        </p:spPr>
        <p:txBody>
          <a:bodyPr wrap="square" rtlCol="0" anchor="ctr"/>
          <a:lstStyle/>
          <a:p>
            <a:pPr algn="ctr" indent="0" marL="0">
              <a:buNone/>
            </a:pPr>
            <a:r>
              <a:rPr lang="en-US" sz="950" b="1" spc="100" kern="0" dirty="0">
                <a:solidFill>
                  <a:srgbClr val="F96806"/>
                </a:solidFill>
                <a:latin typeface="Calibri" pitchFamily="34" charset="0"/>
                <a:ea typeface="Calibri" pitchFamily="34" charset="-122"/>
                <a:cs typeface="Calibri" pitchFamily="34" charset="-120"/>
              </a:rPr>
              <a:t>M3 · WK1</a:t>
            </a:r>
            <a:endParaRPr lang="en-US" sz="950" dirty="0"/>
          </a:p>
        </p:txBody>
      </p:sp>
      <p:sp>
        <p:nvSpPr>
          <p:cNvPr id="28" name="Shape 26"/>
          <p:cNvSpPr/>
          <p:nvPr/>
        </p:nvSpPr>
        <p:spPr>
          <a:xfrm>
            <a:off x="3621024" y="2615184"/>
            <a:ext cx="1591056" cy="45720"/>
          </a:xfrm>
          <a:prstGeom prst="rect">
            <a:avLst/>
          </a:prstGeom>
          <a:solidFill>
            <a:srgbClr val="1861F5"/>
          </a:solidFill>
          <a:ln/>
        </p:spPr>
      </p:sp>
      <p:sp>
        <p:nvSpPr>
          <p:cNvPr id="29" name="Shape 27"/>
          <p:cNvSpPr/>
          <p:nvPr/>
        </p:nvSpPr>
        <p:spPr>
          <a:xfrm>
            <a:off x="3621024" y="2660904"/>
            <a:ext cx="1591056" cy="1938528"/>
          </a:xfrm>
          <a:prstGeom prst="rect">
            <a:avLst/>
          </a:prstGeom>
          <a:solidFill>
            <a:srgbClr val="F2F5FC"/>
          </a:solidFill>
          <a:ln/>
        </p:spPr>
      </p:sp>
      <p:sp>
        <p:nvSpPr>
          <p:cNvPr id="30" name="Text 28"/>
          <p:cNvSpPr/>
          <p:nvPr/>
        </p:nvSpPr>
        <p:spPr>
          <a:xfrm>
            <a:off x="3730752" y="2724912"/>
            <a:ext cx="1371600" cy="512064"/>
          </a:xfrm>
          <a:prstGeom prst="rect">
            <a:avLst/>
          </a:prstGeom>
          <a:noFill/>
          <a:ln/>
        </p:spPr>
        <p:txBody>
          <a:bodyPr wrap="square" rtlCol="0" anchor="t"/>
          <a:lstStyle/>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Variable</a:t>
            </a:r>
            <a:endParaRPr lang="en-US" sz="1000" dirty="0"/>
          </a:p>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triage</a:t>
            </a:r>
            <a:endParaRPr lang="en-US" sz="1000" dirty="0"/>
          </a:p>
        </p:txBody>
      </p:sp>
      <p:sp>
        <p:nvSpPr>
          <p:cNvPr id="31" name="Text 29"/>
          <p:cNvSpPr/>
          <p:nvPr/>
        </p:nvSpPr>
        <p:spPr>
          <a:xfrm>
            <a:off x="3730752" y="3255264"/>
            <a:ext cx="1371600" cy="859536"/>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Sub-90% variables grouped by shared root cause, not chased one by one.</a:t>
            </a:r>
            <a:endParaRPr lang="en-US" sz="850" dirty="0"/>
          </a:p>
        </p:txBody>
      </p:sp>
      <p:sp>
        <p:nvSpPr>
          <p:cNvPr id="32" name="Shape 30"/>
          <p:cNvSpPr/>
          <p:nvPr/>
        </p:nvSpPr>
        <p:spPr>
          <a:xfrm>
            <a:off x="3712464" y="4151376"/>
            <a:ext cx="1408176" cy="219456"/>
          </a:xfrm>
          <a:prstGeom prst="rect">
            <a:avLst/>
          </a:prstGeom>
          <a:solidFill>
            <a:srgbClr val="E3EAFB"/>
          </a:solidFill>
          <a:ln/>
        </p:spPr>
      </p:sp>
      <p:sp>
        <p:nvSpPr>
          <p:cNvPr id="33" name="Text 31"/>
          <p:cNvSpPr/>
          <p:nvPr/>
        </p:nvSpPr>
        <p:spPr>
          <a:xfrm>
            <a:off x="3712464" y="4178808"/>
            <a:ext cx="1408176" cy="182880"/>
          </a:xfrm>
          <a:prstGeom prst="rect">
            <a:avLst/>
          </a:prstGeom>
          <a:noFill/>
          <a:ln/>
        </p:spPr>
        <p:txBody>
          <a:bodyPr wrap="square" rtlCol="0" anchor="ctr"/>
          <a:lstStyle/>
          <a:p>
            <a:pPr algn="ctr" indent="0" marL="0">
              <a:buNone/>
            </a:pPr>
            <a:r>
              <a:rPr lang="en-US" sz="750" b="1" dirty="0">
                <a:solidFill>
                  <a:srgbClr val="113C75"/>
                </a:solidFill>
                <a:latin typeface="Calibri" pitchFamily="34" charset="0"/>
                <a:ea typeface="Calibri" pitchFamily="34" charset="-122"/>
                <a:cs typeface="Calibri" pitchFamily="34" charset="-120"/>
              </a:rPr>
              <a:t>6 families</a:t>
            </a:r>
            <a:endParaRPr lang="en-US" sz="750" dirty="0"/>
          </a:p>
        </p:txBody>
      </p:sp>
      <p:sp>
        <p:nvSpPr>
          <p:cNvPr id="34" name="Text 32"/>
          <p:cNvSpPr/>
          <p:nvPr/>
        </p:nvSpPr>
        <p:spPr>
          <a:xfrm>
            <a:off x="3712464" y="4407408"/>
            <a:ext cx="1408176" cy="182880"/>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Engagement lead</a:t>
            </a:r>
            <a:endParaRPr lang="en-US" sz="750" dirty="0"/>
          </a:p>
        </p:txBody>
      </p:sp>
      <p:sp>
        <p:nvSpPr>
          <p:cNvPr id="35" name="Shape 33"/>
          <p:cNvSpPr/>
          <p:nvPr/>
        </p:nvSpPr>
        <p:spPr>
          <a:xfrm>
            <a:off x="5984748" y="2322576"/>
            <a:ext cx="155448" cy="155448"/>
          </a:xfrm>
          <a:prstGeom prst="ellipse">
            <a:avLst/>
          </a:prstGeom>
          <a:solidFill>
            <a:srgbClr val="F96806"/>
          </a:solidFill>
          <a:ln/>
        </p:spPr>
      </p:sp>
      <p:sp>
        <p:nvSpPr>
          <p:cNvPr id="36" name="Text 34"/>
          <p:cNvSpPr/>
          <p:nvPr/>
        </p:nvSpPr>
        <p:spPr>
          <a:xfrm>
            <a:off x="5266944" y="2029968"/>
            <a:ext cx="1591056" cy="219456"/>
          </a:xfrm>
          <a:prstGeom prst="rect">
            <a:avLst/>
          </a:prstGeom>
          <a:noFill/>
          <a:ln/>
        </p:spPr>
        <p:txBody>
          <a:bodyPr wrap="square" rtlCol="0" anchor="ctr"/>
          <a:lstStyle/>
          <a:p>
            <a:pPr algn="ctr" indent="0" marL="0">
              <a:buNone/>
            </a:pPr>
            <a:r>
              <a:rPr lang="en-US" sz="950" b="1" spc="100" kern="0" dirty="0">
                <a:solidFill>
                  <a:srgbClr val="F96806"/>
                </a:solidFill>
                <a:latin typeface="Calibri" pitchFamily="34" charset="0"/>
                <a:ea typeface="Calibri" pitchFamily="34" charset="-122"/>
                <a:cs typeface="Calibri" pitchFamily="34" charset="-120"/>
              </a:rPr>
              <a:t>M3 · WK2</a:t>
            </a:r>
            <a:endParaRPr lang="en-US" sz="950" dirty="0"/>
          </a:p>
        </p:txBody>
      </p:sp>
      <p:sp>
        <p:nvSpPr>
          <p:cNvPr id="37" name="Shape 35"/>
          <p:cNvSpPr/>
          <p:nvPr/>
        </p:nvSpPr>
        <p:spPr>
          <a:xfrm>
            <a:off x="5266944" y="2615184"/>
            <a:ext cx="1591056" cy="45720"/>
          </a:xfrm>
          <a:prstGeom prst="rect">
            <a:avLst/>
          </a:prstGeom>
          <a:solidFill>
            <a:srgbClr val="1861F5"/>
          </a:solidFill>
          <a:ln/>
        </p:spPr>
      </p:sp>
      <p:sp>
        <p:nvSpPr>
          <p:cNvPr id="38" name="Shape 36"/>
          <p:cNvSpPr/>
          <p:nvPr/>
        </p:nvSpPr>
        <p:spPr>
          <a:xfrm>
            <a:off x="5266944" y="2660904"/>
            <a:ext cx="1591056" cy="1938528"/>
          </a:xfrm>
          <a:prstGeom prst="rect">
            <a:avLst/>
          </a:prstGeom>
          <a:solidFill>
            <a:srgbClr val="F2F5FC"/>
          </a:solidFill>
          <a:ln/>
        </p:spPr>
      </p:sp>
      <p:sp>
        <p:nvSpPr>
          <p:cNvPr id="39" name="Text 37"/>
          <p:cNvSpPr/>
          <p:nvPr/>
        </p:nvSpPr>
        <p:spPr>
          <a:xfrm>
            <a:off x="5376672" y="2724912"/>
            <a:ext cx="1371600" cy="512064"/>
          </a:xfrm>
          <a:prstGeom prst="rect">
            <a:avLst/>
          </a:prstGeom>
          <a:noFill/>
          <a:ln/>
        </p:spPr>
        <p:txBody>
          <a:bodyPr wrap="square" rtlCol="0" anchor="t"/>
          <a:lstStyle/>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NULL-safe</a:t>
            </a:r>
            <a:endParaRPr lang="en-US" sz="1000" dirty="0"/>
          </a:p>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exclusions</a:t>
            </a:r>
            <a:endParaRPr lang="en-US" sz="1000" dirty="0"/>
          </a:p>
        </p:txBody>
      </p:sp>
      <p:sp>
        <p:nvSpPr>
          <p:cNvPr id="40" name="Text 38"/>
          <p:cNvSpPr/>
          <p:nvPr/>
        </p:nvSpPr>
        <p:spPr>
          <a:xfrm>
            <a:off x="5376672" y="3255264"/>
            <a:ext cx="1371600" cy="859536"/>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Exclusion predicates made NULL-safe; the type-failure cascade cleared.</a:t>
            </a:r>
            <a:endParaRPr lang="en-US" sz="850" dirty="0"/>
          </a:p>
        </p:txBody>
      </p:sp>
      <p:sp>
        <p:nvSpPr>
          <p:cNvPr id="41" name="Shape 39"/>
          <p:cNvSpPr/>
          <p:nvPr/>
        </p:nvSpPr>
        <p:spPr>
          <a:xfrm>
            <a:off x="5358384" y="4151376"/>
            <a:ext cx="1408176" cy="219456"/>
          </a:xfrm>
          <a:prstGeom prst="rect">
            <a:avLst/>
          </a:prstGeom>
          <a:solidFill>
            <a:srgbClr val="E3EAFB"/>
          </a:solidFill>
          <a:ln/>
        </p:spPr>
      </p:sp>
      <p:sp>
        <p:nvSpPr>
          <p:cNvPr id="42" name="Text 40"/>
          <p:cNvSpPr/>
          <p:nvPr/>
        </p:nvSpPr>
        <p:spPr>
          <a:xfrm>
            <a:off x="5358384" y="4178808"/>
            <a:ext cx="1408176" cy="182880"/>
          </a:xfrm>
          <a:prstGeom prst="rect">
            <a:avLst/>
          </a:prstGeom>
          <a:noFill/>
          <a:ln/>
        </p:spPr>
        <p:txBody>
          <a:bodyPr wrap="square" rtlCol="0" anchor="ctr"/>
          <a:lstStyle/>
          <a:p>
            <a:pPr algn="ctr" indent="0" marL="0">
              <a:buNone/>
            </a:pPr>
            <a:r>
              <a:rPr lang="en-US" sz="750" b="1" dirty="0">
                <a:solidFill>
                  <a:srgbClr val="113C75"/>
                </a:solidFill>
                <a:latin typeface="Calibri" pitchFamily="34" charset="0"/>
                <a:ea typeface="Calibri" pitchFamily="34" charset="-122"/>
                <a:cs typeface="Calibri" pitchFamily="34" charset="-120"/>
              </a:rPr>
              <a:t>~5K → 3 err · 436</a:t>
            </a:r>
            <a:endParaRPr lang="en-US" sz="750" dirty="0"/>
          </a:p>
        </p:txBody>
      </p:sp>
      <p:sp>
        <p:nvSpPr>
          <p:cNvPr id="43" name="Text 41"/>
          <p:cNvSpPr/>
          <p:nvPr/>
        </p:nvSpPr>
        <p:spPr>
          <a:xfrm>
            <a:off x="5358384" y="4407408"/>
            <a:ext cx="1408176" cy="182880"/>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Analytics engineer</a:t>
            </a:r>
            <a:endParaRPr lang="en-US" sz="750" dirty="0"/>
          </a:p>
        </p:txBody>
      </p:sp>
      <p:sp>
        <p:nvSpPr>
          <p:cNvPr id="44" name="Shape 42"/>
          <p:cNvSpPr/>
          <p:nvPr/>
        </p:nvSpPr>
        <p:spPr>
          <a:xfrm>
            <a:off x="7630668" y="2322576"/>
            <a:ext cx="155448" cy="155448"/>
          </a:xfrm>
          <a:prstGeom prst="ellipse">
            <a:avLst/>
          </a:prstGeom>
          <a:solidFill>
            <a:srgbClr val="F96806"/>
          </a:solidFill>
          <a:ln/>
        </p:spPr>
      </p:sp>
      <p:sp>
        <p:nvSpPr>
          <p:cNvPr id="45" name="Text 43"/>
          <p:cNvSpPr/>
          <p:nvPr/>
        </p:nvSpPr>
        <p:spPr>
          <a:xfrm>
            <a:off x="6912864" y="2029968"/>
            <a:ext cx="1591056" cy="219456"/>
          </a:xfrm>
          <a:prstGeom prst="rect">
            <a:avLst/>
          </a:prstGeom>
          <a:noFill/>
          <a:ln/>
        </p:spPr>
        <p:txBody>
          <a:bodyPr wrap="square" rtlCol="0" anchor="ctr"/>
          <a:lstStyle/>
          <a:p>
            <a:pPr algn="ctr" indent="0" marL="0">
              <a:buNone/>
            </a:pPr>
            <a:r>
              <a:rPr lang="en-US" sz="950" b="1" spc="100" kern="0" dirty="0">
                <a:solidFill>
                  <a:srgbClr val="F96806"/>
                </a:solidFill>
                <a:latin typeface="Calibri" pitchFamily="34" charset="0"/>
                <a:ea typeface="Calibri" pitchFamily="34" charset="-122"/>
                <a:cs typeface="Calibri" pitchFamily="34" charset="-120"/>
              </a:rPr>
              <a:t>M3 · WK3</a:t>
            </a:r>
            <a:endParaRPr lang="en-US" sz="950" dirty="0"/>
          </a:p>
        </p:txBody>
      </p:sp>
      <p:sp>
        <p:nvSpPr>
          <p:cNvPr id="46" name="Shape 44"/>
          <p:cNvSpPr/>
          <p:nvPr/>
        </p:nvSpPr>
        <p:spPr>
          <a:xfrm>
            <a:off x="6912864" y="2615184"/>
            <a:ext cx="1591056" cy="45720"/>
          </a:xfrm>
          <a:prstGeom prst="rect">
            <a:avLst/>
          </a:prstGeom>
          <a:solidFill>
            <a:srgbClr val="1861F5"/>
          </a:solidFill>
          <a:ln/>
        </p:spPr>
      </p:sp>
      <p:sp>
        <p:nvSpPr>
          <p:cNvPr id="47" name="Shape 45"/>
          <p:cNvSpPr/>
          <p:nvPr/>
        </p:nvSpPr>
        <p:spPr>
          <a:xfrm>
            <a:off x="6912864" y="2660904"/>
            <a:ext cx="1591056" cy="1938528"/>
          </a:xfrm>
          <a:prstGeom prst="rect">
            <a:avLst/>
          </a:prstGeom>
          <a:solidFill>
            <a:srgbClr val="F2F5FC"/>
          </a:solidFill>
          <a:ln/>
        </p:spPr>
      </p:sp>
      <p:sp>
        <p:nvSpPr>
          <p:cNvPr id="48" name="Text 46"/>
          <p:cNvSpPr/>
          <p:nvPr/>
        </p:nvSpPr>
        <p:spPr>
          <a:xfrm>
            <a:off x="7022592" y="2724912"/>
            <a:ext cx="1371600" cy="512064"/>
          </a:xfrm>
          <a:prstGeom prst="rect">
            <a:avLst/>
          </a:prstGeom>
          <a:noFill/>
          <a:ln/>
        </p:spPr>
        <p:txBody>
          <a:bodyPr wrap="square" rtlCol="0" anchor="t"/>
          <a:lstStyle/>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Date source &amp;</a:t>
            </a:r>
            <a:endParaRPr lang="en-US" sz="1000" dirty="0"/>
          </a:p>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mapping fix</a:t>
            </a:r>
            <a:endParaRPr lang="en-US" sz="1000" dirty="0"/>
          </a:p>
        </p:txBody>
      </p:sp>
      <p:sp>
        <p:nvSpPr>
          <p:cNvPr id="49" name="Text 47"/>
          <p:cNvSpPr/>
          <p:nvPr/>
        </p:nvSpPr>
        <p:spPr>
          <a:xfrm>
            <a:off x="7022592" y="3255264"/>
            <a:ext cx="1371600" cy="859536"/>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Date re-sourced; empty product column remapped; affinity recovered.</a:t>
            </a:r>
            <a:endParaRPr lang="en-US" sz="850" dirty="0"/>
          </a:p>
        </p:txBody>
      </p:sp>
      <p:sp>
        <p:nvSpPr>
          <p:cNvPr id="50" name="Shape 48"/>
          <p:cNvSpPr/>
          <p:nvPr/>
        </p:nvSpPr>
        <p:spPr>
          <a:xfrm>
            <a:off x="7004304" y="4151376"/>
            <a:ext cx="1408176" cy="219456"/>
          </a:xfrm>
          <a:prstGeom prst="rect">
            <a:avLst/>
          </a:prstGeom>
          <a:solidFill>
            <a:srgbClr val="E3EAFB"/>
          </a:solidFill>
          <a:ln/>
        </p:spPr>
      </p:sp>
      <p:sp>
        <p:nvSpPr>
          <p:cNvPr id="51" name="Text 49"/>
          <p:cNvSpPr/>
          <p:nvPr/>
        </p:nvSpPr>
        <p:spPr>
          <a:xfrm>
            <a:off x="7004304" y="4178808"/>
            <a:ext cx="1408176" cy="182880"/>
          </a:xfrm>
          <a:prstGeom prst="rect">
            <a:avLst/>
          </a:prstGeom>
          <a:noFill/>
          <a:ln/>
        </p:spPr>
        <p:txBody>
          <a:bodyPr wrap="square" rtlCol="0" anchor="ctr"/>
          <a:lstStyle/>
          <a:p>
            <a:pPr algn="ctr" indent="0" marL="0">
              <a:buNone/>
            </a:pPr>
            <a:r>
              <a:rPr lang="en-US" sz="750" b="1" dirty="0">
                <a:solidFill>
                  <a:srgbClr val="113C75"/>
                </a:solidFill>
                <a:latin typeface="Calibri" pitchFamily="34" charset="0"/>
                <a:ea typeface="Calibri" pitchFamily="34" charset="-122"/>
                <a:cs typeface="Calibri" pitchFamily="34" charset="-120"/>
              </a:rPr>
              <a:t>464 / 475</a:t>
            </a:r>
            <a:endParaRPr lang="en-US" sz="750" dirty="0"/>
          </a:p>
        </p:txBody>
      </p:sp>
      <p:sp>
        <p:nvSpPr>
          <p:cNvPr id="52" name="Text 50"/>
          <p:cNvSpPr/>
          <p:nvPr/>
        </p:nvSpPr>
        <p:spPr>
          <a:xfrm>
            <a:off x="7004304" y="4407408"/>
            <a:ext cx="1408176" cy="182880"/>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Analytics engineer</a:t>
            </a:r>
            <a:endParaRPr lang="en-US" sz="750" dirty="0"/>
          </a:p>
        </p:txBody>
      </p:sp>
      <p:sp>
        <p:nvSpPr>
          <p:cNvPr id="53" name="Shape 51"/>
          <p:cNvSpPr/>
          <p:nvPr/>
        </p:nvSpPr>
        <p:spPr>
          <a:xfrm>
            <a:off x="9276588" y="2322576"/>
            <a:ext cx="155448" cy="155448"/>
          </a:xfrm>
          <a:prstGeom prst="ellipse">
            <a:avLst/>
          </a:prstGeom>
          <a:solidFill>
            <a:srgbClr val="F96806"/>
          </a:solidFill>
          <a:ln/>
        </p:spPr>
      </p:sp>
      <p:sp>
        <p:nvSpPr>
          <p:cNvPr id="54" name="Text 52"/>
          <p:cNvSpPr/>
          <p:nvPr/>
        </p:nvSpPr>
        <p:spPr>
          <a:xfrm>
            <a:off x="8558784" y="2029968"/>
            <a:ext cx="1591056" cy="219456"/>
          </a:xfrm>
          <a:prstGeom prst="rect">
            <a:avLst/>
          </a:prstGeom>
          <a:noFill/>
          <a:ln/>
        </p:spPr>
        <p:txBody>
          <a:bodyPr wrap="square" rtlCol="0" anchor="ctr"/>
          <a:lstStyle/>
          <a:p>
            <a:pPr algn="ctr" indent="0" marL="0">
              <a:buNone/>
            </a:pPr>
            <a:r>
              <a:rPr lang="en-US" sz="950" b="1" spc="100" kern="0" dirty="0">
                <a:solidFill>
                  <a:srgbClr val="F96806"/>
                </a:solidFill>
                <a:latin typeface="Calibri" pitchFamily="34" charset="0"/>
                <a:ea typeface="Calibri" pitchFamily="34" charset="-122"/>
                <a:cs typeface="Calibri" pitchFamily="34" charset="-120"/>
              </a:rPr>
              <a:t>M3 · WK4</a:t>
            </a:r>
            <a:endParaRPr lang="en-US" sz="950" dirty="0"/>
          </a:p>
        </p:txBody>
      </p:sp>
      <p:sp>
        <p:nvSpPr>
          <p:cNvPr id="55" name="Shape 53"/>
          <p:cNvSpPr/>
          <p:nvPr/>
        </p:nvSpPr>
        <p:spPr>
          <a:xfrm>
            <a:off x="8558784" y="2615184"/>
            <a:ext cx="1591056" cy="45720"/>
          </a:xfrm>
          <a:prstGeom prst="rect">
            <a:avLst/>
          </a:prstGeom>
          <a:solidFill>
            <a:srgbClr val="1861F5"/>
          </a:solidFill>
          <a:ln/>
        </p:spPr>
      </p:sp>
      <p:sp>
        <p:nvSpPr>
          <p:cNvPr id="56" name="Shape 54"/>
          <p:cNvSpPr/>
          <p:nvPr/>
        </p:nvSpPr>
        <p:spPr>
          <a:xfrm>
            <a:off x="8558784" y="2660904"/>
            <a:ext cx="1591056" cy="1938528"/>
          </a:xfrm>
          <a:prstGeom prst="rect">
            <a:avLst/>
          </a:prstGeom>
          <a:solidFill>
            <a:srgbClr val="F2F5FC"/>
          </a:solidFill>
          <a:ln/>
        </p:spPr>
      </p:sp>
      <p:sp>
        <p:nvSpPr>
          <p:cNvPr id="57" name="Text 55"/>
          <p:cNvSpPr/>
          <p:nvPr/>
        </p:nvSpPr>
        <p:spPr>
          <a:xfrm>
            <a:off x="8668512" y="2724912"/>
            <a:ext cx="1371600" cy="512064"/>
          </a:xfrm>
          <a:prstGeom prst="rect">
            <a:avLst/>
          </a:prstGeom>
          <a:noFill/>
          <a:ln/>
        </p:spPr>
        <p:txBody>
          <a:bodyPr wrap="square" rtlCol="0" anchor="t"/>
          <a:lstStyle/>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Recent</a:t>
            </a:r>
            <a:endParaRPr lang="en-US" sz="1000" dirty="0"/>
          </a:p>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build date</a:t>
            </a:r>
            <a:endParaRPr lang="en-US" sz="1000" dirty="0"/>
          </a:p>
        </p:txBody>
      </p:sp>
      <p:sp>
        <p:nvSpPr>
          <p:cNvPr id="58" name="Text 56"/>
          <p:cNvSpPr/>
          <p:nvPr/>
        </p:nvSpPr>
        <p:spPr>
          <a:xfrm>
            <a:off x="8668512" y="3255264"/>
            <a:ext cx="1371600" cy="859536"/>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Run moved to a current build date; boundary variables populated.</a:t>
            </a:r>
            <a:endParaRPr lang="en-US" sz="850" dirty="0"/>
          </a:p>
        </p:txBody>
      </p:sp>
      <p:sp>
        <p:nvSpPr>
          <p:cNvPr id="59" name="Shape 57"/>
          <p:cNvSpPr/>
          <p:nvPr/>
        </p:nvSpPr>
        <p:spPr>
          <a:xfrm>
            <a:off x="8650224" y="4151376"/>
            <a:ext cx="1408176" cy="219456"/>
          </a:xfrm>
          <a:prstGeom prst="rect">
            <a:avLst/>
          </a:prstGeom>
          <a:solidFill>
            <a:srgbClr val="E3EAFB"/>
          </a:solidFill>
          <a:ln/>
        </p:spPr>
      </p:sp>
      <p:sp>
        <p:nvSpPr>
          <p:cNvPr id="60" name="Text 58"/>
          <p:cNvSpPr/>
          <p:nvPr/>
        </p:nvSpPr>
        <p:spPr>
          <a:xfrm>
            <a:off x="8650224" y="4178808"/>
            <a:ext cx="1408176" cy="182880"/>
          </a:xfrm>
          <a:prstGeom prst="rect">
            <a:avLst/>
          </a:prstGeom>
          <a:noFill/>
          <a:ln/>
        </p:spPr>
        <p:txBody>
          <a:bodyPr wrap="square" rtlCol="0" anchor="ctr"/>
          <a:lstStyle/>
          <a:p>
            <a:pPr algn="ctr" indent="0" marL="0">
              <a:buNone/>
            </a:pPr>
            <a:r>
              <a:rPr lang="en-US" sz="750" b="1" dirty="0">
                <a:solidFill>
                  <a:srgbClr val="113C75"/>
                </a:solidFill>
                <a:latin typeface="Calibri" pitchFamily="34" charset="0"/>
                <a:ea typeface="Calibri" pitchFamily="34" charset="-122"/>
                <a:cs typeface="Calibri" pitchFamily="34" charset="-120"/>
              </a:rPr>
              <a:t>469 / 475</a:t>
            </a:r>
            <a:endParaRPr lang="en-US" sz="750" dirty="0"/>
          </a:p>
        </p:txBody>
      </p:sp>
      <p:sp>
        <p:nvSpPr>
          <p:cNvPr id="61" name="Text 59"/>
          <p:cNvSpPr/>
          <p:nvPr/>
        </p:nvSpPr>
        <p:spPr>
          <a:xfrm>
            <a:off x="8650224" y="4407408"/>
            <a:ext cx="1408176" cy="182880"/>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QC lead</a:t>
            </a:r>
            <a:endParaRPr lang="en-US" sz="750" dirty="0"/>
          </a:p>
        </p:txBody>
      </p:sp>
      <p:sp>
        <p:nvSpPr>
          <p:cNvPr id="62" name="Shape 60"/>
          <p:cNvSpPr/>
          <p:nvPr/>
        </p:nvSpPr>
        <p:spPr>
          <a:xfrm>
            <a:off x="10922508" y="2322576"/>
            <a:ext cx="155448" cy="155448"/>
          </a:xfrm>
          <a:prstGeom prst="ellipse">
            <a:avLst/>
          </a:prstGeom>
          <a:solidFill>
            <a:srgbClr val="2C8A4B"/>
          </a:solidFill>
          <a:ln/>
        </p:spPr>
      </p:sp>
      <p:sp>
        <p:nvSpPr>
          <p:cNvPr id="63" name="Text 61"/>
          <p:cNvSpPr/>
          <p:nvPr/>
        </p:nvSpPr>
        <p:spPr>
          <a:xfrm>
            <a:off x="10204704" y="2029968"/>
            <a:ext cx="1591056" cy="219456"/>
          </a:xfrm>
          <a:prstGeom prst="rect">
            <a:avLst/>
          </a:prstGeom>
          <a:noFill/>
          <a:ln/>
        </p:spPr>
        <p:txBody>
          <a:bodyPr wrap="square" rtlCol="0" anchor="ctr"/>
          <a:lstStyle/>
          <a:p>
            <a:pPr algn="ctr" indent="0" marL="0">
              <a:buNone/>
            </a:pPr>
            <a:r>
              <a:rPr lang="en-US" sz="950" b="1" spc="100" kern="0" dirty="0">
                <a:solidFill>
                  <a:srgbClr val="2C8A4B"/>
                </a:solidFill>
                <a:latin typeface="Calibri" pitchFamily="34" charset="0"/>
                <a:ea typeface="Calibri" pitchFamily="34" charset="-122"/>
                <a:cs typeface="Calibri" pitchFamily="34" charset="-120"/>
              </a:rPr>
              <a:t>MONTH 4</a:t>
            </a:r>
            <a:endParaRPr lang="en-US" sz="950" dirty="0"/>
          </a:p>
        </p:txBody>
      </p:sp>
      <p:sp>
        <p:nvSpPr>
          <p:cNvPr id="64" name="Shape 62"/>
          <p:cNvSpPr/>
          <p:nvPr/>
        </p:nvSpPr>
        <p:spPr>
          <a:xfrm>
            <a:off x="10204704" y="2615184"/>
            <a:ext cx="1591056" cy="45720"/>
          </a:xfrm>
          <a:prstGeom prst="rect">
            <a:avLst/>
          </a:prstGeom>
          <a:solidFill>
            <a:srgbClr val="2C8A4B"/>
          </a:solidFill>
          <a:ln/>
        </p:spPr>
      </p:sp>
      <p:sp>
        <p:nvSpPr>
          <p:cNvPr id="65" name="Shape 63"/>
          <p:cNvSpPr/>
          <p:nvPr/>
        </p:nvSpPr>
        <p:spPr>
          <a:xfrm>
            <a:off x="10204704" y="2660904"/>
            <a:ext cx="1591056" cy="1938528"/>
          </a:xfrm>
          <a:prstGeom prst="rect">
            <a:avLst/>
          </a:prstGeom>
          <a:solidFill>
            <a:srgbClr val="F2F5FC"/>
          </a:solidFill>
          <a:ln/>
        </p:spPr>
      </p:sp>
      <p:sp>
        <p:nvSpPr>
          <p:cNvPr id="66" name="Text 64"/>
          <p:cNvSpPr/>
          <p:nvPr/>
        </p:nvSpPr>
        <p:spPr>
          <a:xfrm>
            <a:off x="10314432" y="2724912"/>
            <a:ext cx="1371600" cy="512064"/>
          </a:xfrm>
          <a:prstGeom prst="rect">
            <a:avLst/>
          </a:prstGeom>
          <a:noFill/>
          <a:ln/>
        </p:spPr>
        <p:txBody>
          <a:bodyPr wrap="square" rtlCol="0" anchor="t"/>
          <a:lstStyle/>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Final-six</a:t>
            </a:r>
            <a:endParaRPr lang="en-US" sz="1000" dirty="0"/>
          </a:p>
          <a:p>
            <a:pPr indent="0" marL="0">
              <a:lnSpc>
                <a:spcPts val="1250"/>
              </a:lnSpc>
              <a:buNone/>
            </a:pPr>
            <a:r>
              <a:rPr lang="en-US" sz="1000" b="1" dirty="0">
                <a:solidFill>
                  <a:srgbClr val="1A288E"/>
                </a:solidFill>
                <a:latin typeface="Calibri" pitchFamily="34" charset="0"/>
                <a:ea typeface="Calibri" pitchFamily="34" charset="-122"/>
                <a:cs typeface="Calibri" pitchFamily="34" charset="-120"/>
              </a:rPr>
              <a:t>closure</a:t>
            </a:r>
            <a:endParaRPr lang="en-US" sz="1000" dirty="0"/>
          </a:p>
        </p:txBody>
      </p:sp>
      <p:sp>
        <p:nvSpPr>
          <p:cNvPr id="67" name="Text 65"/>
          <p:cNvSpPr/>
          <p:nvPr/>
        </p:nvSpPr>
        <p:spPr>
          <a:xfrm>
            <a:off x="10314432" y="3255264"/>
            <a:ext cx="1371600" cy="859536"/>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Sign-slot fix, refreshed product keys, full-audience validation, one port.</a:t>
            </a:r>
            <a:endParaRPr lang="en-US" sz="850" dirty="0"/>
          </a:p>
        </p:txBody>
      </p:sp>
      <p:sp>
        <p:nvSpPr>
          <p:cNvPr id="68" name="Shape 66"/>
          <p:cNvSpPr/>
          <p:nvPr/>
        </p:nvSpPr>
        <p:spPr>
          <a:xfrm>
            <a:off x="10296144" y="4151376"/>
            <a:ext cx="1408176" cy="219456"/>
          </a:xfrm>
          <a:prstGeom prst="rect">
            <a:avLst/>
          </a:prstGeom>
          <a:solidFill>
            <a:srgbClr val="D5EEDC"/>
          </a:solidFill>
          <a:ln/>
        </p:spPr>
      </p:sp>
      <p:sp>
        <p:nvSpPr>
          <p:cNvPr id="69" name="Text 67"/>
          <p:cNvSpPr/>
          <p:nvPr/>
        </p:nvSpPr>
        <p:spPr>
          <a:xfrm>
            <a:off x="10296144" y="4178808"/>
            <a:ext cx="1408176" cy="182880"/>
          </a:xfrm>
          <a:prstGeom prst="rect">
            <a:avLst/>
          </a:prstGeom>
          <a:noFill/>
          <a:ln/>
        </p:spPr>
        <p:txBody>
          <a:bodyPr wrap="square" rtlCol="0" anchor="ctr"/>
          <a:lstStyle/>
          <a:p>
            <a:pPr algn="ctr" indent="0" marL="0">
              <a:buNone/>
            </a:pPr>
            <a:r>
              <a:rPr lang="en-US" sz="750" b="1" dirty="0">
                <a:solidFill>
                  <a:srgbClr val="1E6B38"/>
                </a:solidFill>
                <a:latin typeface="Calibri" pitchFamily="34" charset="0"/>
                <a:ea typeface="Calibri" pitchFamily="34" charset="-122"/>
                <a:cs typeface="Calibri" pitchFamily="34" charset="-120"/>
              </a:rPr>
              <a:t>475 / 475</a:t>
            </a:r>
            <a:endParaRPr lang="en-US" sz="750" dirty="0"/>
          </a:p>
        </p:txBody>
      </p:sp>
      <p:sp>
        <p:nvSpPr>
          <p:cNvPr id="70" name="Text 68"/>
          <p:cNvSpPr/>
          <p:nvPr/>
        </p:nvSpPr>
        <p:spPr>
          <a:xfrm>
            <a:off x="10296144" y="4407408"/>
            <a:ext cx="1408176" cy="182880"/>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All roles</a:t>
            </a:r>
            <a:endParaRPr lang="en-US" sz="750" dirty="0"/>
          </a:p>
        </p:txBody>
      </p:sp>
      <p:sp>
        <p:nvSpPr>
          <p:cNvPr id="71" name="Shape 69"/>
          <p:cNvSpPr/>
          <p:nvPr/>
        </p:nvSpPr>
        <p:spPr>
          <a:xfrm>
            <a:off x="237744" y="4736592"/>
            <a:ext cx="11713464" cy="548640"/>
          </a:xfrm>
          <a:prstGeom prst="rect">
            <a:avLst/>
          </a:prstGeom>
          <a:solidFill>
            <a:srgbClr val="F7F9FE"/>
          </a:solidFill>
          <a:ln/>
        </p:spPr>
      </p:sp>
      <p:sp>
        <p:nvSpPr>
          <p:cNvPr id="72" name="Text 70"/>
          <p:cNvSpPr/>
          <p:nvPr/>
        </p:nvSpPr>
        <p:spPr>
          <a:xfrm>
            <a:off x="420624" y="4809744"/>
            <a:ext cx="2377440" cy="182880"/>
          </a:xfrm>
          <a:prstGeom prst="rect">
            <a:avLst/>
          </a:prstGeom>
          <a:noFill/>
          <a:ln/>
        </p:spPr>
        <p:txBody>
          <a:bodyPr wrap="square" rtlCol="0" anchor="ctr"/>
          <a:lstStyle/>
          <a:p>
            <a:pPr indent="0" marL="0">
              <a:buNone/>
            </a:pPr>
            <a:r>
              <a:rPr lang="en-US" sz="850" b="1" spc="100" kern="0" dirty="0">
                <a:solidFill>
                  <a:srgbClr val="F96806"/>
                </a:solidFill>
                <a:latin typeface="Calibri" pitchFamily="34" charset="0"/>
                <a:ea typeface="Calibri" pitchFamily="34" charset="-122"/>
                <a:cs typeface="Calibri" pitchFamily="34" charset="-120"/>
              </a:rPr>
              <a:t>ROLE MODEL</a:t>
            </a:r>
            <a:endParaRPr lang="en-US" sz="850" dirty="0"/>
          </a:p>
        </p:txBody>
      </p:sp>
      <p:sp>
        <p:nvSpPr>
          <p:cNvPr id="73" name="Text 71"/>
          <p:cNvSpPr/>
          <p:nvPr/>
        </p:nvSpPr>
        <p:spPr>
          <a:xfrm>
            <a:off x="420624" y="4992624"/>
            <a:ext cx="3749040" cy="182880"/>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Engagement lead</a:t>
            </a:r>
            <a:endParaRPr lang="en-US" sz="950" dirty="0"/>
          </a:p>
        </p:txBody>
      </p:sp>
      <p:sp>
        <p:nvSpPr>
          <p:cNvPr id="74" name="Text 72"/>
          <p:cNvSpPr/>
          <p:nvPr/>
        </p:nvSpPr>
        <p:spPr>
          <a:xfrm>
            <a:off x="420624" y="5138928"/>
            <a:ext cx="3749040" cy="164592"/>
          </a:xfrm>
          <a:prstGeom prst="rect">
            <a:avLst/>
          </a:prstGeom>
          <a:noFill/>
          <a:ln/>
        </p:spPr>
        <p:txBody>
          <a:bodyPr wrap="square" rtlCol="0" anchor="ctr"/>
          <a:lstStyle/>
          <a:p>
            <a:pPr indent="0" marL="0">
              <a:buNone/>
            </a:pPr>
            <a:r>
              <a:rPr lang="en-US" sz="800" dirty="0">
                <a:solidFill>
                  <a:srgbClr val="5B6577"/>
                </a:solidFill>
                <a:latin typeface="Calibri" pitchFamily="34" charset="0"/>
                <a:ea typeface="Calibri" pitchFamily="34" charset="-122"/>
                <a:cs typeface="Calibri" pitchFamily="34" charset="-120"/>
              </a:rPr>
              <a:t>Client communication · escalation · scope</a:t>
            </a:r>
            <a:endParaRPr lang="en-US" sz="800" dirty="0"/>
          </a:p>
        </p:txBody>
      </p:sp>
      <p:sp>
        <p:nvSpPr>
          <p:cNvPr id="75" name="Text 73"/>
          <p:cNvSpPr/>
          <p:nvPr/>
        </p:nvSpPr>
        <p:spPr>
          <a:xfrm>
            <a:off x="4261104" y="4992624"/>
            <a:ext cx="3749040" cy="182880"/>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Analytics engineer</a:t>
            </a:r>
            <a:endParaRPr lang="en-US" sz="950" dirty="0"/>
          </a:p>
        </p:txBody>
      </p:sp>
      <p:sp>
        <p:nvSpPr>
          <p:cNvPr id="76" name="Text 74"/>
          <p:cNvSpPr/>
          <p:nvPr/>
        </p:nvSpPr>
        <p:spPr>
          <a:xfrm>
            <a:off x="4261104" y="5138928"/>
            <a:ext cx="3749040" cy="164592"/>
          </a:xfrm>
          <a:prstGeom prst="rect">
            <a:avLst/>
          </a:prstGeom>
          <a:noFill/>
          <a:ln/>
        </p:spPr>
        <p:txBody>
          <a:bodyPr wrap="square" rtlCol="0" anchor="ctr"/>
          <a:lstStyle/>
          <a:p>
            <a:pPr indent="0" marL="0">
              <a:buNone/>
            </a:pPr>
            <a:r>
              <a:rPr lang="en-US" sz="800" dirty="0">
                <a:solidFill>
                  <a:srgbClr val="5B6577"/>
                </a:solidFill>
                <a:latin typeface="Calibri" pitchFamily="34" charset="0"/>
                <a:ea typeface="Calibri" pitchFamily="34" charset="-122"/>
                <a:cs typeface="Calibri" pitchFamily="34" charset="-120"/>
              </a:rPr>
              <a:t>Engine diagnosis · code remediation</a:t>
            </a:r>
            <a:endParaRPr lang="en-US" sz="800" dirty="0"/>
          </a:p>
        </p:txBody>
      </p:sp>
      <p:sp>
        <p:nvSpPr>
          <p:cNvPr id="77" name="Text 75"/>
          <p:cNvSpPr/>
          <p:nvPr/>
        </p:nvSpPr>
        <p:spPr>
          <a:xfrm>
            <a:off x="8101584" y="4992624"/>
            <a:ext cx="3749040" cy="182880"/>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QC lead</a:t>
            </a:r>
            <a:endParaRPr lang="en-US" sz="950" dirty="0"/>
          </a:p>
        </p:txBody>
      </p:sp>
      <p:sp>
        <p:nvSpPr>
          <p:cNvPr id="78" name="Text 76"/>
          <p:cNvSpPr/>
          <p:nvPr/>
        </p:nvSpPr>
        <p:spPr>
          <a:xfrm>
            <a:off x="8101584" y="5138928"/>
            <a:ext cx="3749040" cy="164592"/>
          </a:xfrm>
          <a:prstGeom prst="rect">
            <a:avLst/>
          </a:prstGeom>
          <a:noFill/>
          <a:ln/>
        </p:spPr>
        <p:txBody>
          <a:bodyPr wrap="square" rtlCol="0" anchor="ctr"/>
          <a:lstStyle/>
          <a:p>
            <a:pPr indent="0" marL="0">
              <a:buNone/>
            </a:pPr>
            <a:r>
              <a:rPr lang="en-US" sz="800" dirty="0">
                <a:solidFill>
                  <a:srgbClr val="5B6577"/>
                </a:solidFill>
                <a:latin typeface="Calibri" pitchFamily="34" charset="0"/>
                <a:ea typeface="Calibri" pitchFamily="34" charset="-122"/>
                <a:cs typeface="Calibri" pitchFamily="34" charset="-120"/>
              </a:rPr>
              <a:t>Census workbooks · legacy reconciliation</a:t>
            </a:r>
            <a:endParaRPr lang="en-US" sz="800" dirty="0"/>
          </a:p>
        </p:txBody>
      </p:sp>
      <p:sp>
        <p:nvSpPr>
          <p:cNvPr id="79" name="Shape 77"/>
          <p:cNvSpPr/>
          <p:nvPr/>
        </p:nvSpPr>
        <p:spPr>
          <a:xfrm>
            <a:off x="237744" y="5422392"/>
            <a:ext cx="11713464" cy="758952"/>
          </a:xfrm>
          <a:prstGeom prst="rect">
            <a:avLst/>
          </a:prstGeom>
          <a:solidFill>
            <a:srgbClr val="1A288E"/>
          </a:solidFill>
          <a:ln/>
        </p:spPr>
      </p:sp>
      <p:sp>
        <p:nvSpPr>
          <p:cNvPr id="80" name="Text 78"/>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WHAT THE CADENCE ENFORCED</a:t>
            </a:r>
            <a:endParaRPr lang="en-US" sz="900" dirty="0"/>
          </a:p>
        </p:txBody>
      </p:sp>
      <p:sp>
        <p:nvSpPr>
          <p:cNvPr id="81" name="Text 79"/>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No iteration began until the previous one was verified by value. Seven passes took the run from ~5,000 errors and 344 populating variables to zero errors and 475 of 475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OUTCOMES · WHERE THE PIPELINE STANDS</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Results After Remediation</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Measured on the full ~600K production audience against the 475-variable legacy structure</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65960"/>
            <a:ext cx="2807208" cy="932688"/>
          </a:xfrm>
          <a:prstGeom prst="rect">
            <a:avLst/>
          </a:prstGeom>
          <a:solidFill>
            <a:srgbClr val="F2F5FC"/>
          </a:solidFill>
          <a:ln/>
        </p:spPr>
      </p:sp>
      <p:sp>
        <p:nvSpPr>
          <p:cNvPr id="8" name="Shape 6"/>
          <p:cNvSpPr/>
          <p:nvPr/>
        </p:nvSpPr>
        <p:spPr>
          <a:xfrm>
            <a:off x="237744" y="1965960"/>
            <a:ext cx="50292" cy="932688"/>
          </a:xfrm>
          <a:prstGeom prst="rect">
            <a:avLst/>
          </a:prstGeom>
          <a:solidFill>
            <a:srgbClr val="2C8A4B"/>
          </a:solidFill>
          <a:ln/>
        </p:spPr>
      </p:sp>
      <p:sp>
        <p:nvSpPr>
          <p:cNvPr id="9" name="Text 7"/>
          <p:cNvSpPr/>
          <p:nvPr/>
        </p:nvSpPr>
        <p:spPr>
          <a:xfrm>
            <a:off x="420624" y="2057400"/>
            <a:ext cx="2487168" cy="457200"/>
          </a:xfrm>
          <a:prstGeom prst="rect">
            <a:avLst/>
          </a:prstGeom>
          <a:noFill/>
          <a:ln/>
        </p:spPr>
        <p:txBody>
          <a:bodyPr wrap="square" rtlCol="0" anchor="ctr"/>
          <a:lstStyle/>
          <a:p>
            <a:pPr indent="0" marL="0">
              <a:buNone/>
            </a:pPr>
            <a:r>
              <a:rPr lang="en-US" sz="2400" b="1" dirty="0">
                <a:solidFill>
                  <a:srgbClr val="2C8A4B"/>
                </a:solidFill>
                <a:latin typeface="Calibri" pitchFamily="34" charset="0"/>
                <a:ea typeface="Calibri" pitchFamily="34" charset="-122"/>
                <a:cs typeface="Calibri" pitchFamily="34" charset="-120"/>
              </a:rPr>
              <a:t>~5K → 0</a:t>
            </a:r>
            <a:endParaRPr lang="en-US" sz="2400" dirty="0"/>
          </a:p>
        </p:txBody>
      </p:sp>
      <p:sp>
        <p:nvSpPr>
          <p:cNvPr id="10" name="Text 8"/>
          <p:cNvSpPr/>
          <p:nvPr/>
        </p:nvSpPr>
        <p:spPr>
          <a:xfrm>
            <a:off x="420624" y="2514600"/>
            <a:ext cx="2487168" cy="310896"/>
          </a:xfrm>
          <a:prstGeom prst="rect">
            <a:avLst/>
          </a:prstGeom>
          <a:noFill/>
          <a:ln/>
        </p:spPr>
        <p:txBody>
          <a:bodyPr wrap="square" rtlCol="0" anchor="ctr"/>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Errors in the execution log</a:t>
            </a:r>
            <a:endParaRPr lang="en-US" sz="900" dirty="0"/>
          </a:p>
        </p:txBody>
      </p:sp>
      <p:sp>
        <p:nvSpPr>
          <p:cNvPr id="11" name="Shape 9"/>
          <p:cNvSpPr/>
          <p:nvPr/>
        </p:nvSpPr>
        <p:spPr>
          <a:xfrm>
            <a:off x="3209544" y="1965960"/>
            <a:ext cx="2807208" cy="932688"/>
          </a:xfrm>
          <a:prstGeom prst="rect">
            <a:avLst/>
          </a:prstGeom>
          <a:solidFill>
            <a:srgbClr val="F2F5FC"/>
          </a:solidFill>
          <a:ln/>
        </p:spPr>
      </p:sp>
      <p:sp>
        <p:nvSpPr>
          <p:cNvPr id="12" name="Shape 10"/>
          <p:cNvSpPr/>
          <p:nvPr/>
        </p:nvSpPr>
        <p:spPr>
          <a:xfrm>
            <a:off x="3209544" y="1965960"/>
            <a:ext cx="50292" cy="932688"/>
          </a:xfrm>
          <a:prstGeom prst="rect">
            <a:avLst/>
          </a:prstGeom>
          <a:solidFill>
            <a:srgbClr val="2C8A4B"/>
          </a:solidFill>
          <a:ln/>
        </p:spPr>
      </p:sp>
      <p:sp>
        <p:nvSpPr>
          <p:cNvPr id="13" name="Text 11"/>
          <p:cNvSpPr/>
          <p:nvPr/>
        </p:nvSpPr>
        <p:spPr>
          <a:xfrm>
            <a:off x="3392424" y="2057400"/>
            <a:ext cx="2487168" cy="457200"/>
          </a:xfrm>
          <a:prstGeom prst="rect">
            <a:avLst/>
          </a:prstGeom>
          <a:noFill/>
          <a:ln/>
        </p:spPr>
        <p:txBody>
          <a:bodyPr wrap="square" rtlCol="0" anchor="ctr"/>
          <a:lstStyle/>
          <a:p>
            <a:pPr indent="0" marL="0">
              <a:buNone/>
            </a:pPr>
            <a:r>
              <a:rPr lang="en-US" sz="2400" b="1" dirty="0">
                <a:solidFill>
                  <a:srgbClr val="2C8A4B"/>
                </a:solidFill>
                <a:latin typeface="Calibri" pitchFamily="34" charset="0"/>
                <a:ea typeface="Calibri" pitchFamily="34" charset="-122"/>
                <a:cs typeface="Calibri" pitchFamily="34" charset="-120"/>
              </a:rPr>
              <a:t>475 / 475</a:t>
            </a:r>
            <a:endParaRPr lang="en-US" sz="2400" dirty="0"/>
          </a:p>
        </p:txBody>
      </p:sp>
      <p:sp>
        <p:nvSpPr>
          <p:cNvPr id="14" name="Text 12"/>
          <p:cNvSpPr/>
          <p:nvPr/>
        </p:nvSpPr>
        <p:spPr>
          <a:xfrm>
            <a:off x="3392424" y="2514600"/>
            <a:ext cx="2487168" cy="310896"/>
          </a:xfrm>
          <a:prstGeom prst="rect">
            <a:avLst/>
          </a:prstGeom>
          <a:noFill/>
          <a:ln/>
        </p:spPr>
        <p:txBody>
          <a:bodyPr wrap="square" rtlCol="0" anchor="ctr"/>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Variables populating (100%)</a:t>
            </a:r>
            <a:endParaRPr lang="en-US" sz="900" dirty="0"/>
          </a:p>
        </p:txBody>
      </p:sp>
      <p:sp>
        <p:nvSpPr>
          <p:cNvPr id="15" name="Shape 13"/>
          <p:cNvSpPr/>
          <p:nvPr/>
        </p:nvSpPr>
        <p:spPr>
          <a:xfrm>
            <a:off x="6181344" y="1965960"/>
            <a:ext cx="2807208" cy="932688"/>
          </a:xfrm>
          <a:prstGeom prst="rect">
            <a:avLst/>
          </a:prstGeom>
          <a:solidFill>
            <a:srgbClr val="F2F5FC"/>
          </a:solidFill>
          <a:ln/>
        </p:spPr>
      </p:sp>
      <p:sp>
        <p:nvSpPr>
          <p:cNvPr id="16" name="Shape 14"/>
          <p:cNvSpPr/>
          <p:nvPr/>
        </p:nvSpPr>
        <p:spPr>
          <a:xfrm>
            <a:off x="6181344" y="1965960"/>
            <a:ext cx="50292" cy="932688"/>
          </a:xfrm>
          <a:prstGeom prst="rect">
            <a:avLst/>
          </a:prstGeom>
          <a:solidFill>
            <a:srgbClr val="1A288E"/>
          </a:solidFill>
          <a:ln/>
        </p:spPr>
      </p:sp>
      <p:sp>
        <p:nvSpPr>
          <p:cNvPr id="17" name="Text 15"/>
          <p:cNvSpPr/>
          <p:nvPr/>
        </p:nvSpPr>
        <p:spPr>
          <a:xfrm>
            <a:off x="6364224" y="2057400"/>
            <a:ext cx="2487168" cy="457200"/>
          </a:xfrm>
          <a:prstGeom prst="rect">
            <a:avLst/>
          </a:prstGeom>
          <a:noFill/>
          <a:ln/>
        </p:spPr>
        <p:txBody>
          <a:bodyPr wrap="square" rtlCol="0" anchor="ctr"/>
          <a:lstStyle/>
          <a:p>
            <a:pPr indent="0" marL="0">
              <a:buNone/>
            </a:pPr>
            <a:r>
              <a:rPr lang="en-US" sz="2400" b="1" dirty="0">
                <a:solidFill>
                  <a:srgbClr val="1A288E"/>
                </a:solidFill>
                <a:latin typeface="Calibri" pitchFamily="34" charset="0"/>
                <a:ea typeface="Calibri" pitchFamily="34" charset="-122"/>
                <a:cs typeface="Calibri" pitchFamily="34" charset="-120"/>
              </a:rPr>
              <a:t>2</a:t>
            </a:r>
            <a:endParaRPr lang="en-US" sz="2400" dirty="0"/>
          </a:p>
        </p:txBody>
      </p:sp>
      <p:sp>
        <p:nvSpPr>
          <p:cNvPr id="18" name="Text 16"/>
          <p:cNvSpPr/>
          <p:nvPr/>
        </p:nvSpPr>
        <p:spPr>
          <a:xfrm>
            <a:off x="6364224" y="2514600"/>
            <a:ext cx="2487168" cy="310896"/>
          </a:xfrm>
          <a:prstGeom prst="rect">
            <a:avLst/>
          </a:prstGeom>
          <a:noFill/>
          <a:ln/>
        </p:spPr>
        <p:txBody>
          <a:bodyPr wrap="square" rtlCol="0" anchor="ctr"/>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Bridge files hold every platform change</a:t>
            </a:r>
            <a:endParaRPr lang="en-US" sz="900" dirty="0"/>
          </a:p>
        </p:txBody>
      </p:sp>
      <p:sp>
        <p:nvSpPr>
          <p:cNvPr id="19" name="Shape 17"/>
          <p:cNvSpPr/>
          <p:nvPr/>
        </p:nvSpPr>
        <p:spPr>
          <a:xfrm>
            <a:off x="9153144" y="1965960"/>
            <a:ext cx="2560320" cy="932688"/>
          </a:xfrm>
          <a:prstGeom prst="rect">
            <a:avLst/>
          </a:prstGeom>
          <a:solidFill>
            <a:srgbClr val="F2F5FC"/>
          </a:solidFill>
          <a:ln/>
        </p:spPr>
      </p:sp>
      <p:sp>
        <p:nvSpPr>
          <p:cNvPr id="20" name="Shape 18"/>
          <p:cNvSpPr/>
          <p:nvPr/>
        </p:nvSpPr>
        <p:spPr>
          <a:xfrm>
            <a:off x="9153144" y="1965960"/>
            <a:ext cx="50292" cy="932688"/>
          </a:xfrm>
          <a:prstGeom prst="rect">
            <a:avLst/>
          </a:prstGeom>
          <a:solidFill>
            <a:srgbClr val="F96806"/>
          </a:solidFill>
          <a:ln/>
        </p:spPr>
      </p:sp>
      <p:sp>
        <p:nvSpPr>
          <p:cNvPr id="21" name="Text 19"/>
          <p:cNvSpPr/>
          <p:nvPr/>
        </p:nvSpPr>
        <p:spPr>
          <a:xfrm>
            <a:off x="9336024" y="2057400"/>
            <a:ext cx="2240280" cy="457200"/>
          </a:xfrm>
          <a:prstGeom prst="rect">
            <a:avLst/>
          </a:prstGeom>
          <a:noFill/>
          <a:ln/>
        </p:spPr>
        <p:txBody>
          <a:bodyPr wrap="square" rtlCol="0" anchor="ctr"/>
          <a:lstStyle/>
          <a:p>
            <a:pPr indent="0" marL="0">
              <a:buNone/>
            </a:pPr>
            <a:r>
              <a:rPr lang="en-US" sz="2400" b="1" dirty="0">
                <a:solidFill>
                  <a:srgbClr val="F96806"/>
                </a:solidFill>
                <a:latin typeface="Calibri" pitchFamily="34" charset="0"/>
                <a:ea typeface="Calibri" pitchFamily="34" charset="-122"/>
                <a:cs typeface="Calibri" pitchFamily="34" charset="-120"/>
              </a:rPr>
              <a:t>~35%</a:t>
            </a:r>
            <a:endParaRPr lang="en-US" sz="2400" dirty="0"/>
          </a:p>
        </p:txBody>
      </p:sp>
      <p:sp>
        <p:nvSpPr>
          <p:cNvPr id="22" name="Text 20"/>
          <p:cNvSpPr/>
          <p:nvPr/>
        </p:nvSpPr>
        <p:spPr>
          <a:xfrm>
            <a:off x="9336024" y="2514600"/>
            <a:ext cx="2240280" cy="310896"/>
          </a:xfrm>
          <a:prstGeom prst="rect">
            <a:avLst/>
          </a:prstGeom>
          <a:noFill/>
          <a:ln/>
        </p:spPr>
        <p:txBody>
          <a:bodyPr wrap="square" rtlCol="0" anchor="ctr"/>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Magazine revenue restored by one fix</a:t>
            </a:r>
            <a:endParaRPr lang="en-US" sz="900" dirty="0"/>
          </a:p>
        </p:txBody>
      </p:sp>
      <p:sp>
        <p:nvSpPr>
          <p:cNvPr id="23" name="Text 21"/>
          <p:cNvSpPr/>
          <p:nvPr/>
        </p:nvSpPr>
        <p:spPr>
          <a:xfrm>
            <a:off x="237744" y="3200400"/>
            <a:ext cx="5669280" cy="219456"/>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WHAT MOVED  ·  344 → 475</a:t>
            </a:r>
            <a:endParaRPr lang="en-US" sz="950" dirty="0"/>
          </a:p>
        </p:txBody>
      </p:sp>
      <p:sp>
        <p:nvSpPr>
          <p:cNvPr id="24" name="Shape 22"/>
          <p:cNvSpPr/>
          <p:nvPr/>
        </p:nvSpPr>
        <p:spPr>
          <a:xfrm>
            <a:off x="237744" y="3474720"/>
            <a:ext cx="5660136" cy="283464"/>
          </a:xfrm>
          <a:prstGeom prst="rect">
            <a:avLst/>
          </a:prstGeom>
          <a:solidFill>
            <a:srgbClr val="F2F5FC"/>
          </a:solidFill>
          <a:ln/>
        </p:spPr>
      </p:sp>
      <p:sp>
        <p:nvSpPr>
          <p:cNvPr id="25" name="Text 23"/>
          <p:cNvSpPr/>
          <p:nvPr/>
        </p:nvSpPr>
        <p:spPr>
          <a:xfrm>
            <a:off x="374904" y="3511296"/>
            <a:ext cx="640080" cy="210312"/>
          </a:xfrm>
          <a:prstGeom prst="rect">
            <a:avLst/>
          </a:prstGeom>
          <a:noFill/>
          <a:ln/>
        </p:spPr>
        <p:txBody>
          <a:bodyPr wrap="square" rtlCol="0" anchor="ctr"/>
          <a:lstStyle/>
          <a:p>
            <a:pPr indent="0" marL="0">
              <a:buNone/>
            </a:pPr>
            <a:r>
              <a:rPr lang="en-US" sz="1150" b="1" dirty="0">
                <a:solidFill>
                  <a:srgbClr val="F96806"/>
                </a:solidFill>
                <a:latin typeface="Calibri" pitchFamily="34" charset="0"/>
                <a:ea typeface="Calibri" pitchFamily="34" charset="-122"/>
                <a:cs typeface="Calibri" pitchFamily="34" charset="-120"/>
              </a:rPr>
              <a:t>+79</a:t>
            </a:r>
            <a:endParaRPr lang="en-US" sz="1150" dirty="0"/>
          </a:p>
        </p:txBody>
      </p:sp>
      <p:sp>
        <p:nvSpPr>
          <p:cNvPr id="26" name="Text 24"/>
          <p:cNvSpPr/>
          <p:nvPr/>
        </p:nvSpPr>
        <p:spPr>
          <a:xfrm>
            <a:off x="1014984" y="3520440"/>
            <a:ext cx="2103120" cy="192024"/>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promotion variables</a:t>
            </a:r>
            <a:endParaRPr lang="en-US" sz="950" dirty="0"/>
          </a:p>
        </p:txBody>
      </p:sp>
      <p:sp>
        <p:nvSpPr>
          <p:cNvPr id="27" name="Text 25"/>
          <p:cNvSpPr/>
          <p:nvPr/>
        </p:nvSpPr>
        <p:spPr>
          <a:xfrm>
            <a:off x="3072384" y="3520440"/>
            <a:ext cx="2743200" cy="192024"/>
          </a:xfrm>
          <a:prstGeom prst="rect">
            <a:avLst/>
          </a:prstGeom>
          <a:noFill/>
          <a:ln/>
        </p:spPr>
        <p:txBody>
          <a:bodyPr wrap="square" rtlCol="0" anchor="ctr"/>
          <a:lstStyle/>
          <a:p>
            <a:pPr indent="0" marL="0">
              <a:buNone/>
            </a:pPr>
            <a:r>
              <a:rPr lang="en-US" sz="850" dirty="0">
                <a:solidFill>
                  <a:srgbClr val="5B6577"/>
                </a:solidFill>
                <a:latin typeface="Calibri" pitchFamily="34" charset="0"/>
                <a:ea typeface="Calibri" pitchFamily="34" charset="-122"/>
                <a:cs typeface="Calibri" pitchFamily="34" charset="-120"/>
              </a:rPr>
              <a:t>restored by removing a wrong key rewrite</a:t>
            </a:r>
            <a:endParaRPr lang="en-US" sz="850" dirty="0"/>
          </a:p>
        </p:txBody>
      </p:sp>
      <p:sp>
        <p:nvSpPr>
          <p:cNvPr id="28" name="Shape 26"/>
          <p:cNvSpPr/>
          <p:nvPr/>
        </p:nvSpPr>
        <p:spPr>
          <a:xfrm>
            <a:off x="237744" y="3785616"/>
            <a:ext cx="5660136" cy="283464"/>
          </a:xfrm>
          <a:prstGeom prst="rect">
            <a:avLst/>
          </a:prstGeom>
          <a:solidFill>
            <a:srgbClr val="F2F5FC"/>
          </a:solidFill>
          <a:ln/>
        </p:spPr>
      </p:sp>
      <p:sp>
        <p:nvSpPr>
          <p:cNvPr id="29" name="Text 27"/>
          <p:cNvSpPr/>
          <p:nvPr/>
        </p:nvSpPr>
        <p:spPr>
          <a:xfrm>
            <a:off x="374904" y="3822192"/>
            <a:ext cx="640080" cy="210312"/>
          </a:xfrm>
          <a:prstGeom prst="rect">
            <a:avLst/>
          </a:prstGeom>
          <a:noFill/>
          <a:ln/>
        </p:spPr>
        <p:txBody>
          <a:bodyPr wrap="square" rtlCol="0" anchor="ctr"/>
          <a:lstStyle/>
          <a:p>
            <a:pPr indent="0" marL="0">
              <a:buNone/>
            </a:pPr>
            <a:r>
              <a:rPr lang="en-US" sz="1150" b="1" dirty="0">
                <a:solidFill>
                  <a:srgbClr val="F96806"/>
                </a:solidFill>
                <a:latin typeface="Calibri" pitchFamily="34" charset="0"/>
                <a:ea typeface="Calibri" pitchFamily="34" charset="-122"/>
                <a:cs typeface="Calibri" pitchFamily="34" charset="-120"/>
              </a:rPr>
              <a:t>+13</a:t>
            </a:r>
            <a:endParaRPr lang="en-US" sz="1150" dirty="0"/>
          </a:p>
        </p:txBody>
      </p:sp>
      <p:sp>
        <p:nvSpPr>
          <p:cNvPr id="30" name="Text 28"/>
          <p:cNvSpPr/>
          <p:nvPr/>
        </p:nvSpPr>
        <p:spPr>
          <a:xfrm>
            <a:off x="1014984" y="3831336"/>
            <a:ext cx="2103120" cy="192024"/>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interest variables</a:t>
            </a:r>
            <a:endParaRPr lang="en-US" sz="950" dirty="0"/>
          </a:p>
        </p:txBody>
      </p:sp>
      <p:sp>
        <p:nvSpPr>
          <p:cNvPr id="31" name="Text 29"/>
          <p:cNvSpPr/>
          <p:nvPr/>
        </p:nvSpPr>
        <p:spPr>
          <a:xfrm>
            <a:off x="3072384" y="3831336"/>
            <a:ext cx="2743200" cy="192024"/>
          </a:xfrm>
          <a:prstGeom prst="rect">
            <a:avLst/>
          </a:prstGeom>
          <a:noFill/>
          <a:ln/>
        </p:spPr>
        <p:txBody>
          <a:bodyPr wrap="square" rtlCol="0" anchor="ctr"/>
          <a:lstStyle/>
          <a:p>
            <a:pPr indent="0" marL="0">
              <a:buNone/>
            </a:pPr>
            <a:r>
              <a:rPr lang="en-US" sz="850" dirty="0">
                <a:solidFill>
                  <a:srgbClr val="5B6577"/>
                </a:solidFill>
                <a:latin typeface="Calibri" pitchFamily="34" charset="0"/>
                <a:ea typeface="Calibri" pitchFamily="34" charset="-122"/>
                <a:cs typeface="Calibri" pitchFamily="34" charset="-120"/>
              </a:rPr>
              <a:t>recovered by NULL-safe exclusions</a:t>
            </a:r>
            <a:endParaRPr lang="en-US" sz="850" dirty="0"/>
          </a:p>
        </p:txBody>
      </p:sp>
      <p:sp>
        <p:nvSpPr>
          <p:cNvPr id="32" name="Shape 30"/>
          <p:cNvSpPr/>
          <p:nvPr/>
        </p:nvSpPr>
        <p:spPr>
          <a:xfrm>
            <a:off x="237744" y="4096512"/>
            <a:ext cx="5660136" cy="283464"/>
          </a:xfrm>
          <a:prstGeom prst="rect">
            <a:avLst/>
          </a:prstGeom>
          <a:solidFill>
            <a:srgbClr val="F2F5FC"/>
          </a:solidFill>
          <a:ln/>
        </p:spPr>
      </p:sp>
      <p:sp>
        <p:nvSpPr>
          <p:cNvPr id="33" name="Text 31"/>
          <p:cNvSpPr/>
          <p:nvPr/>
        </p:nvSpPr>
        <p:spPr>
          <a:xfrm>
            <a:off x="374904" y="4133088"/>
            <a:ext cx="640080" cy="210312"/>
          </a:xfrm>
          <a:prstGeom prst="rect">
            <a:avLst/>
          </a:prstGeom>
          <a:noFill/>
          <a:ln/>
        </p:spPr>
        <p:txBody>
          <a:bodyPr wrap="square" rtlCol="0" anchor="ctr"/>
          <a:lstStyle/>
          <a:p>
            <a:pPr indent="0" marL="0">
              <a:buNone/>
            </a:pPr>
            <a:r>
              <a:rPr lang="en-US" sz="1150" b="1" dirty="0">
                <a:solidFill>
                  <a:srgbClr val="F96806"/>
                </a:solidFill>
                <a:latin typeface="Calibri" pitchFamily="34" charset="0"/>
                <a:ea typeface="Calibri" pitchFamily="34" charset="-122"/>
                <a:cs typeface="Calibri" pitchFamily="34" charset="-120"/>
              </a:rPr>
              <a:t>+1</a:t>
            </a:r>
            <a:endParaRPr lang="en-US" sz="1150" dirty="0"/>
          </a:p>
        </p:txBody>
      </p:sp>
      <p:sp>
        <p:nvSpPr>
          <p:cNvPr id="34" name="Text 32"/>
          <p:cNvSpPr/>
          <p:nvPr/>
        </p:nvSpPr>
        <p:spPr>
          <a:xfrm>
            <a:off x="1014984" y="4142232"/>
            <a:ext cx="2103120" cy="192024"/>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date variable</a:t>
            </a:r>
            <a:endParaRPr lang="en-US" sz="950" dirty="0"/>
          </a:p>
        </p:txBody>
      </p:sp>
      <p:sp>
        <p:nvSpPr>
          <p:cNvPr id="35" name="Text 33"/>
          <p:cNvSpPr/>
          <p:nvPr/>
        </p:nvSpPr>
        <p:spPr>
          <a:xfrm>
            <a:off x="3072384" y="4142232"/>
            <a:ext cx="2743200" cy="192024"/>
          </a:xfrm>
          <a:prstGeom prst="rect">
            <a:avLst/>
          </a:prstGeom>
          <a:noFill/>
          <a:ln/>
        </p:spPr>
        <p:txBody>
          <a:bodyPr wrap="square" rtlCol="0" anchor="ctr"/>
          <a:lstStyle/>
          <a:p>
            <a:pPr indent="0" marL="0">
              <a:buNone/>
            </a:pPr>
            <a:r>
              <a:rPr lang="en-US" sz="850" dirty="0">
                <a:solidFill>
                  <a:srgbClr val="5B6577"/>
                </a:solidFill>
                <a:latin typeface="Calibri" pitchFamily="34" charset="0"/>
                <a:ea typeface="Calibri" pitchFamily="34" charset="-122"/>
                <a:cs typeface="Calibri" pitchFamily="34" charset="-120"/>
              </a:rPr>
              <a:t>re-sourced from two fields</a:t>
            </a:r>
            <a:endParaRPr lang="en-US" sz="850" dirty="0"/>
          </a:p>
        </p:txBody>
      </p:sp>
      <p:sp>
        <p:nvSpPr>
          <p:cNvPr id="36" name="Shape 34"/>
          <p:cNvSpPr/>
          <p:nvPr/>
        </p:nvSpPr>
        <p:spPr>
          <a:xfrm>
            <a:off x="237744" y="4407408"/>
            <a:ext cx="5660136" cy="283464"/>
          </a:xfrm>
          <a:prstGeom prst="rect">
            <a:avLst/>
          </a:prstGeom>
          <a:solidFill>
            <a:srgbClr val="F2F5FC"/>
          </a:solidFill>
          <a:ln/>
        </p:spPr>
      </p:sp>
      <p:sp>
        <p:nvSpPr>
          <p:cNvPr id="37" name="Text 35"/>
          <p:cNvSpPr/>
          <p:nvPr/>
        </p:nvSpPr>
        <p:spPr>
          <a:xfrm>
            <a:off x="374904" y="4443984"/>
            <a:ext cx="640080" cy="210312"/>
          </a:xfrm>
          <a:prstGeom prst="rect">
            <a:avLst/>
          </a:prstGeom>
          <a:noFill/>
          <a:ln/>
        </p:spPr>
        <p:txBody>
          <a:bodyPr wrap="square" rtlCol="0" anchor="ctr"/>
          <a:lstStyle/>
          <a:p>
            <a:pPr indent="0" marL="0">
              <a:buNone/>
            </a:pPr>
            <a:r>
              <a:rPr lang="en-US" sz="1150" b="1" dirty="0">
                <a:solidFill>
                  <a:srgbClr val="F96806"/>
                </a:solidFill>
                <a:latin typeface="Calibri" pitchFamily="34" charset="0"/>
                <a:ea typeface="Calibri" pitchFamily="34" charset="-122"/>
                <a:cs typeface="Calibri" pitchFamily="34" charset="-120"/>
              </a:rPr>
              <a:t>+27</a:t>
            </a:r>
            <a:endParaRPr lang="en-US" sz="1150" dirty="0"/>
          </a:p>
        </p:txBody>
      </p:sp>
      <p:sp>
        <p:nvSpPr>
          <p:cNvPr id="38" name="Text 36"/>
          <p:cNvSpPr/>
          <p:nvPr/>
        </p:nvSpPr>
        <p:spPr>
          <a:xfrm>
            <a:off x="1014984" y="4453128"/>
            <a:ext cx="2103120" cy="192024"/>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affinity variables</a:t>
            </a:r>
            <a:endParaRPr lang="en-US" sz="950" dirty="0"/>
          </a:p>
        </p:txBody>
      </p:sp>
      <p:sp>
        <p:nvSpPr>
          <p:cNvPr id="39" name="Text 37"/>
          <p:cNvSpPr/>
          <p:nvPr/>
        </p:nvSpPr>
        <p:spPr>
          <a:xfrm>
            <a:off x="3072384" y="4453128"/>
            <a:ext cx="2743200" cy="192024"/>
          </a:xfrm>
          <a:prstGeom prst="rect">
            <a:avLst/>
          </a:prstGeom>
          <a:noFill/>
          <a:ln/>
        </p:spPr>
        <p:txBody>
          <a:bodyPr wrap="square" rtlCol="0" anchor="ctr"/>
          <a:lstStyle/>
          <a:p>
            <a:pPr indent="0" marL="0">
              <a:buNone/>
            </a:pPr>
            <a:r>
              <a:rPr lang="en-US" sz="850" dirty="0">
                <a:solidFill>
                  <a:srgbClr val="5B6577"/>
                </a:solidFill>
                <a:latin typeface="Calibri" pitchFamily="34" charset="0"/>
                <a:ea typeface="Calibri" pitchFamily="34" charset="-122"/>
                <a:cs typeface="Calibri" pitchFamily="34" charset="-120"/>
              </a:rPr>
              <a:t>recovered by one mapping correction</a:t>
            </a:r>
            <a:endParaRPr lang="en-US" sz="850" dirty="0"/>
          </a:p>
        </p:txBody>
      </p:sp>
      <p:sp>
        <p:nvSpPr>
          <p:cNvPr id="40" name="Shape 38"/>
          <p:cNvSpPr/>
          <p:nvPr/>
        </p:nvSpPr>
        <p:spPr>
          <a:xfrm>
            <a:off x="237744" y="4718304"/>
            <a:ext cx="5660136" cy="283464"/>
          </a:xfrm>
          <a:prstGeom prst="rect">
            <a:avLst/>
          </a:prstGeom>
          <a:solidFill>
            <a:srgbClr val="F2F5FC"/>
          </a:solidFill>
          <a:ln/>
        </p:spPr>
      </p:sp>
      <p:sp>
        <p:nvSpPr>
          <p:cNvPr id="41" name="Text 39"/>
          <p:cNvSpPr/>
          <p:nvPr/>
        </p:nvSpPr>
        <p:spPr>
          <a:xfrm>
            <a:off x="374904" y="4754880"/>
            <a:ext cx="640080" cy="210312"/>
          </a:xfrm>
          <a:prstGeom prst="rect">
            <a:avLst/>
          </a:prstGeom>
          <a:noFill/>
          <a:ln/>
        </p:spPr>
        <p:txBody>
          <a:bodyPr wrap="square" rtlCol="0" anchor="ctr"/>
          <a:lstStyle/>
          <a:p>
            <a:pPr indent="0" marL="0">
              <a:buNone/>
            </a:pPr>
            <a:r>
              <a:rPr lang="en-US" sz="1150" b="1" dirty="0">
                <a:solidFill>
                  <a:srgbClr val="F96806"/>
                </a:solidFill>
                <a:latin typeface="Calibri" pitchFamily="34" charset="0"/>
                <a:ea typeface="Calibri" pitchFamily="34" charset="-122"/>
                <a:cs typeface="Calibri" pitchFamily="34" charset="-120"/>
              </a:rPr>
              <a:t>+5</a:t>
            </a:r>
            <a:endParaRPr lang="en-US" sz="1150" dirty="0"/>
          </a:p>
        </p:txBody>
      </p:sp>
      <p:sp>
        <p:nvSpPr>
          <p:cNvPr id="42" name="Text 40"/>
          <p:cNvSpPr/>
          <p:nvPr/>
        </p:nvSpPr>
        <p:spPr>
          <a:xfrm>
            <a:off x="1014984" y="4764024"/>
            <a:ext cx="2103120" cy="192024"/>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boundary variables</a:t>
            </a:r>
            <a:endParaRPr lang="en-US" sz="950" dirty="0"/>
          </a:p>
        </p:txBody>
      </p:sp>
      <p:sp>
        <p:nvSpPr>
          <p:cNvPr id="43" name="Text 41"/>
          <p:cNvSpPr/>
          <p:nvPr/>
        </p:nvSpPr>
        <p:spPr>
          <a:xfrm>
            <a:off x="3072384" y="4764024"/>
            <a:ext cx="2743200" cy="192024"/>
          </a:xfrm>
          <a:prstGeom prst="rect">
            <a:avLst/>
          </a:prstGeom>
          <a:noFill/>
          <a:ln/>
        </p:spPr>
        <p:txBody>
          <a:bodyPr wrap="square" rtlCol="0" anchor="ctr"/>
          <a:lstStyle/>
          <a:p>
            <a:pPr indent="0" marL="0">
              <a:buNone/>
            </a:pPr>
            <a:r>
              <a:rPr lang="en-US" sz="850" dirty="0">
                <a:solidFill>
                  <a:srgbClr val="5B6577"/>
                </a:solidFill>
                <a:latin typeface="Calibri" pitchFamily="34" charset="0"/>
                <a:ea typeface="Calibri" pitchFamily="34" charset="-122"/>
                <a:cs typeface="Calibri" pitchFamily="34" charset="-120"/>
              </a:rPr>
              <a:t>reached by a recent build date</a:t>
            </a:r>
            <a:endParaRPr lang="en-US" sz="850" dirty="0"/>
          </a:p>
        </p:txBody>
      </p:sp>
      <p:sp>
        <p:nvSpPr>
          <p:cNvPr id="44" name="Shape 42"/>
          <p:cNvSpPr/>
          <p:nvPr/>
        </p:nvSpPr>
        <p:spPr>
          <a:xfrm>
            <a:off x="237744" y="5029200"/>
            <a:ext cx="5660136" cy="283464"/>
          </a:xfrm>
          <a:prstGeom prst="rect">
            <a:avLst/>
          </a:prstGeom>
          <a:solidFill>
            <a:srgbClr val="F2F5FC"/>
          </a:solidFill>
          <a:ln/>
        </p:spPr>
      </p:sp>
      <p:sp>
        <p:nvSpPr>
          <p:cNvPr id="45" name="Text 43"/>
          <p:cNvSpPr/>
          <p:nvPr/>
        </p:nvSpPr>
        <p:spPr>
          <a:xfrm>
            <a:off x="374904" y="5065776"/>
            <a:ext cx="640080" cy="210312"/>
          </a:xfrm>
          <a:prstGeom prst="rect">
            <a:avLst/>
          </a:prstGeom>
          <a:noFill/>
          <a:ln/>
        </p:spPr>
        <p:txBody>
          <a:bodyPr wrap="square" rtlCol="0" anchor="ctr"/>
          <a:lstStyle/>
          <a:p>
            <a:pPr indent="0" marL="0">
              <a:buNone/>
            </a:pPr>
            <a:r>
              <a:rPr lang="en-US" sz="1150" b="1" dirty="0">
                <a:solidFill>
                  <a:srgbClr val="F96806"/>
                </a:solidFill>
                <a:latin typeface="Calibri" pitchFamily="34" charset="0"/>
                <a:ea typeface="Calibri" pitchFamily="34" charset="-122"/>
                <a:cs typeface="Calibri" pitchFamily="34" charset="-120"/>
              </a:rPr>
              <a:t>+6</a:t>
            </a:r>
            <a:endParaRPr lang="en-US" sz="1150" dirty="0"/>
          </a:p>
        </p:txBody>
      </p:sp>
      <p:sp>
        <p:nvSpPr>
          <p:cNvPr id="46" name="Text 44"/>
          <p:cNvSpPr/>
          <p:nvPr/>
        </p:nvSpPr>
        <p:spPr>
          <a:xfrm>
            <a:off x="1014984" y="5074920"/>
            <a:ext cx="2103120" cy="192024"/>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final variables</a:t>
            </a:r>
            <a:endParaRPr lang="en-US" sz="950" dirty="0"/>
          </a:p>
        </p:txBody>
      </p:sp>
      <p:sp>
        <p:nvSpPr>
          <p:cNvPr id="47" name="Text 45"/>
          <p:cNvSpPr/>
          <p:nvPr/>
        </p:nvSpPr>
        <p:spPr>
          <a:xfrm>
            <a:off x="3072384" y="5074920"/>
            <a:ext cx="2743200" cy="192024"/>
          </a:xfrm>
          <a:prstGeom prst="rect">
            <a:avLst/>
          </a:prstGeom>
          <a:noFill/>
          <a:ln/>
        </p:spPr>
        <p:txBody>
          <a:bodyPr wrap="square" rtlCol="0" anchor="ctr"/>
          <a:lstStyle/>
          <a:p>
            <a:pPr indent="0" marL="0">
              <a:buNone/>
            </a:pPr>
            <a:r>
              <a:rPr lang="en-US" sz="850" dirty="0">
                <a:solidFill>
                  <a:srgbClr val="5B6577"/>
                </a:solidFill>
                <a:latin typeface="Calibri" pitchFamily="34" charset="0"/>
                <a:ea typeface="Calibri" pitchFamily="34" charset="-122"/>
                <a:cs typeface="Calibri" pitchFamily="34" charset="-120"/>
              </a:rPr>
              <a:t>closed in the last iteration (right)</a:t>
            </a:r>
            <a:endParaRPr lang="en-US" sz="850" dirty="0"/>
          </a:p>
        </p:txBody>
      </p:sp>
      <p:sp>
        <p:nvSpPr>
          <p:cNvPr id="48" name="Text 46"/>
          <p:cNvSpPr/>
          <p:nvPr/>
        </p:nvSpPr>
        <p:spPr>
          <a:xfrm>
            <a:off x="6126480" y="3200400"/>
            <a:ext cx="5760720" cy="219456"/>
          </a:xfrm>
          <a:prstGeom prst="rect">
            <a:avLst/>
          </a:prstGeom>
          <a:noFill/>
          <a:ln/>
        </p:spPr>
        <p:txBody>
          <a:bodyPr wrap="square" rtlCol="0" anchor="ctr"/>
          <a:lstStyle/>
          <a:p>
            <a:pPr indent="0" marL="0">
              <a:buNone/>
            </a:pPr>
            <a:r>
              <a:rPr lang="en-US" sz="950" b="1" spc="110" kern="0" dirty="0">
                <a:solidFill>
                  <a:srgbClr val="F96806"/>
                </a:solidFill>
                <a:latin typeface="Calibri" pitchFamily="34" charset="0"/>
                <a:ea typeface="Calibri" pitchFamily="34" charset="-122"/>
                <a:cs typeface="Calibri" pitchFamily="34" charset="-120"/>
              </a:rPr>
              <a:t>HOW THE FINAL SIX WERE CLOSED</a:t>
            </a:r>
            <a:endParaRPr lang="en-US" sz="950" dirty="0"/>
          </a:p>
        </p:txBody>
      </p:sp>
      <p:sp>
        <p:nvSpPr>
          <p:cNvPr id="49" name="Shape 47"/>
          <p:cNvSpPr/>
          <p:nvPr/>
        </p:nvSpPr>
        <p:spPr>
          <a:xfrm>
            <a:off x="6126480" y="3474720"/>
            <a:ext cx="50292" cy="566928"/>
          </a:xfrm>
          <a:prstGeom prst="rect">
            <a:avLst/>
          </a:prstGeom>
          <a:solidFill>
            <a:srgbClr val="2C8A4B"/>
          </a:solidFill>
          <a:ln/>
        </p:spPr>
      </p:sp>
      <p:sp>
        <p:nvSpPr>
          <p:cNvPr id="50" name="Shape 48"/>
          <p:cNvSpPr/>
          <p:nvPr/>
        </p:nvSpPr>
        <p:spPr>
          <a:xfrm>
            <a:off x="6176772" y="3474720"/>
            <a:ext cx="5586984" cy="566928"/>
          </a:xfrm>
          <a:prstGeom prst="rect">
            <a:avLst/>
          </a:prstGeom>
          <a:solidFill>
            <a:srgbClr val="F2F5FC"/>
          </a:solidFill>
          <a:ln/>
        </p:spPr>
      </p:sp>
      <p:sp>
        <p:nvSpPr>
          <p:cNvPr id="51" name="Text 49"/>
          <p:cNvSpPr/>
          <p:nvPr/>
        </p:nvSpPr>
        <p:spPr>
          <a:xfrm>
            <a:off x="6345936" y="3520440"/>
            <a:ext cx="530352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1 channel variable</a:t>
            </a:r>
            <a:endParaRPr lang="en-US" sz="1050" dirty="0"/>
          </a:p>
        </p:txBody>
      </p:sp>
      <p:sp>
        <p:nvSpPr>
          <p:cNvPr id="52" name="Text 50"/>
          <p:cNvSpPr/>
          <p:nvPr/>
        </p:nvSpPr>
        <p:spPr>
          <a:xfrm>
            <a:off x="6345936" y="3730752"/>
            <a:ext cx="5303520" cy="274320"/>
          </a:xfrm>
          <a:prstGeom prst="rect">
            <a:avLst/>
          </a:prstGeom>
          <a:noFill/>
          <a:ln/>
        </p:spPr>
        <p:txBody>
          <a:bodyPr wrap="square" rtlCol="0" anchor="ctr"/>
          <a:lstStyle/>
          <a:p>
            <a:pPr indent="0" marL="0">
              <a:buNone/>
            </a:pPr>
            <a:r>
              <a:rPr lang="en-US" sz="900" dirty="0">
                <a:solidFill>
                  <a:srgbClr val="5B6577"/>
                </a:solidFill>
                <a:latin typeface="Calibri" pitchFamily="34" charset="0"/>
                <a:ea typeface="Calibri" pitchFamily="34" charset="-122"/>
                <a:cs typeface="Calibri" pitchFamily="34" charset="-120"/>
              </a:rPr>
              <a:t>NULL-safe fix extended to the sign slots; client confirmed blank channel = non-web.</a:t>
            </a:r>
            <a:endParaRPr lang="en-US" sz="900" dirty="0"/>
          </a:p>
        </p:txBody>
      </p:sp>
      <p:sp>
        <p:nvSpPr>
          <p:cNvPr id="53" name="Shape 51"/>
          <p:cNvSpPr/>
          <p:nvPr/>
        </p:nvSpPr>
        <p:spPr>
          <a:xfrm>
            <a:off x="6126480" y="4114800"/>
            <a:ext cx="50292" cy="566928"/>
          </a:xfrm>
          <a:prstGeom prst="rect">
            <a:avLst/>
          </a:prstGeom>
          <a:solidFill>
            <a:srgbClr val="2C8A4B"/>
          </a:solidFill>
          <a:ln/>
        </p:spPr>
      </p:sp>
      <p:sp>
        <p:nvSpPr>
          <p:cNvPr id="54" name="Shape 52"/>
          <p:cNvSpPr/>
          <p:nvPr/>
        </p:nvSpPr>
        <p:spPr>
          <a:xfrm>
            <a:off x="6176772" y="4114800"/>
            <a:ext cx="5586984" cy="566928"/>
          </a:xfrm>
          <a:prstGeom prst="rect">
            <a:avLst/>
          </a:prstGeom>
          <a:solidFill>
            <a:srgbClr val="F2F5FC"/>
          </a:solidFill>
          <a:ln/>
        </p:spPr>
      </p:sp>
      <p:sp>
        <p:nvSpPr>
          <p:cNvPr id="55" name="Text 53"/>
          <p:cNvSpPr/>
          <p:nvPr/>
        </p:nvSpPr>
        <p:spPr>
          <a:xfrm>
            <a:off x="6345936" y="4160520"/>
            <a:ext cx="530352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2 promotion variables</a:t>
            </a:r>
            <a:endParaRPr lang="en-US" sz="1050" dirty="0"/>
          </a:p>
        </p:txBody>
      </p:sp>
      <p:sp>
        <p:nvSpPr>
          <p:cNvPr id="56" name="Text 54"/>
          <p:cNvSpPr/>
          <p:nvPr/>
        </p:nvSpPr>
        <p:spPr>
          <a:xfrm>
            <a:off x="6345936" y="4370832"/>
            <a:ext cx="5303520" cy="274320"/>
          </a:xfrm>
          <a:prstGeom prst="rect">
            <a:avLst/>
          </a:prstGeom>
          <a:noFill/>
          <a:ln/>
        </p:spPr>
        <p:txBody>
          <a:bodyPr wrap="square" rtlCol="0" anchor="ctr"/>
          <a:lstStyle/>
          <a:p>
            <a:pPr indent="0" marL="0">
              <a:buNone/>
            </a:pPr>
            <a:r>
              <a:rPr lang="en-US" sz="900" dirty="0">
                <a:solidFill>
                  <a:srgbClr val="5B6577"/>
                </a:solidFill>
                <a:latin typeface="Calibri" pitchFamily="34" charset="0"/>
                <a:ea typeface="Calibri" pitchFamily="34" charset="-122"/>
                <a:cs typeface="Calibri" pitchFamily="34" charset="-120"/>
              </a:rPr>
              <a:t>Retired product identifiers replaced by current ones via a client-supplied lookup in the bridge.</a:t>
            </a:r>
            <a:endParaRPr lang="en-US" sz="900" dirty="0"/>
          </a:p>
        </p:txBody>
      </p:sp>
      <p:sp>
        <p:nvSpPr>
          <p:cNvPr id="57" name="Shape 55"/>
          <p:cNvSpPr/>
          <p:nvPr/>
        </p:nvSpPr>
        <p:spPr>
          <a:xfrm>
            <a:off x="6126480" y="4754880"/>
            <a:ext cx="50292" cy="566928"/>
          </a:xfrm>
          <a:prstGeom prst="rect">
            <a:avLst/>
          </a:prstGeom>
          <a:solidFill>
            <a:srgbClr val="2C8A4B"/>
          </a:solidFill>
          <a:ln/>
        </p:spPr>
      </p:sp>
      <p:sp>
        <p:nvSpPr>
          <p:cNvPr id="58" name="Shape 56"/>
          <p:cNvSpPr/>
          <p:nvPr/>
        </p:nvSpPr>
        <p:spPr>
          <a:xfrm>
            <a:off x="6176772" y="4754880"/>
            <a:ext cx="5586984" cy="566928"/>
          </a:xfrm>
          <a:prstGeom prst="rect">
            <a:avLst/>
          </a:prstGeom>
          <a:solidFill>
            <a:srgbClr val="F2F5FC"/>
          </a:solidFill>
          <a:ln/>
        </p:spPr>
      </p:sp>
      <p:sp>
        <p:nvSpPr>
          <p:cNvPr id="59" name="Text 57"/>
          <p:cNvSpPr/>
          <p:nvPr/>
        </p:nvSpPr>
        <p:spPr>
          <a:xfrm>
            <a:off x="6345936" y="4800600"/>
            <a:ext cx="530352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3 activity-sparse variables</a:t>
            </a:r>
            <a:endParaRPr lang="en-US" sz="1050" dirty="0"/>
          </a:p>
        </p:txBody>
      </p:sp>
      <p:sp>
        <p:nvSpPr>
          <p:cNvPr id="60" name="Text 58"/>
          <p:cNvSpPr/>
          <p:nvPr/>
        </p:nvSpPr>
        <p:spPr>
          <a:xfrm>
            <a:off x="6345936" y="5010912"/>
            <a:ext cx="5303520" cy="274320"/>
          </a:xfrm>
          <a:prstGeom prst="rect">
            <a:avLst/>
          </a:prstGeom>
          <a:noFill/>
          <a:ln/>
        </p:spPr>
        <p:txBody>
          <a:bodyPr wrap="square" rtlCol="0" anchor="ctr"/>
          <a:lstStyle/>
          <a:p>
            <a:pPr indent="0" marL="0">
              <a:buNone/>
            </a:pPr>
            <a:r>
              <a:rPr lang="en-US" sz="900" dirty="0">
                <a:solidFill>
                  <a:srgbClr val="5B6577"/>
                </a:solidFill>
                <a:latin typeface="Calibri" pitchFamily="34" charset="0"/>
                <a:ea typeface="Calibri" pitchFamily="34" charset="-122"/>
                <a:cs typeface="Calibri" pitchFamily="34" charset="-120"/>
              </a:rPr>
              <a:t>Populated on the full audience (two) and one legacy variable ported as a new recipe.</a:t>
            </a:r>
            <a:endParaRPr lang="en-US" sz="900" dirty="0"/>
          </a:p>
        </p:txBody>
      </p:sp>
      <p:sp>
        <p:nvSpPr>
          <p:cNvPr id="61" name="Shape 59"/>
          <p:cNvSpPr/>
          <p:nvPr/>
        </p:nvSpPr>
        <p:spPr>
          <a:xfrm>
            <a:off x="237744" y="5422392"/>
            <a:ext cx="11713464" cy="758952"/>
          </a:xfrm>
          <a:prstGeom prst="rect">
            <a:avLst/>
          </a:prstGeom>
          <a:solidFill>
            <a:srgbClr val="1A288E"/>
          </a:solidFill>
          <a:ln/>
        </p:spPr>
      </p:sp>
      <p:sp>
        <p:nvSpPr>
          <p:cNvPr id="62" name="Text 60"/>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READINESS</a:t>
            </a:r>
            <a:endParaRPr lang="en-US" sz="900" dirty="0"/>
          </a:p>
        </p:txBody>
      </p:sp>
      <p:sp>
        <p:nvSpPr>
          <p:cNvPr id="63" name="Text 61"/>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The pipeline runs clean end-to-end on the CDP with every one of 475 variables populating, each closure evidenced at source, reconciled against legacy and signed off by the business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ARCHITECTURE · CURRENT STATE</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Current Architecture — Seven Files, Two of Them New</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The same flow as the original, with two bridge files loaded between the SQL engine and the variable recipes. Nothing upstream or downstream was rewritten — the new files translate, they do not replace</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980944" y="1792224"/>
            <a:ext cx="6126480" cy="786384"/>
          </a:xfrm>
          <a:prstGeom prst="rect">
            <a:avLst/>
          </a:prstGeom>
          <a:solidFill>
            <a:srgbClr val="F7F9FE"/>
          </a:solidFill>
          <a:ln w="12700">
            <a:solidFill>
              <a:srgbClr val="DCE4F5"/>
            </a:solidFill>
            <a:prstDash val="solid"/>
          </a:ln>
        </p:spPr>
      </p:sp>
      <p:sp>
        <p:nvSpPr>
          <p:cNvPr id="8" name="Text 6"/>
          <p:cNvSpPr/>
          <p:nvPr/>
        </p:nvSpPr>
        <p:spPr>
          <a:xfrm>
            <a:off x="3127248" y="1856232"/>
            <a:ext cx="5833872" cy="201168"/>
          </a:xfrm>
          <a:prstGeom prst="rect">
            <a:avLst/>
          </a:prstGeom>
          <a:noFill/>
          <a:ln/>
        </p:spPr>
        <p:txBody>
          <a:bodyPr wrap="square" rtlCol="0" anchor="ctr"/>
          <a:lstStyle/>
          <a:p>
            <a:pPr indent="0" marL="0">
              <a:buNone/>
            </a:pPr>
            <a:r>
              <a:rPr lang="en-US" sz="850" b="1" spc="110" kern="0" dirty="0">
                <a:solidFill>
                  <a:srgbClr val="F96806"/>
                </a:solidFill>
                <a:latin typeface="Calibri" pitchFamily="34" charset="0"/>
                <a:ea typeface="Calibri" pitchFamily="34" charset="-122"/>
                <a:cs typeface="Calibri" pitchFamily="34" charset="-120"/>
              </a:rPr>
              <a:t>CALLER LAYER  ·  unchanged</a:t>
            </a:r>
            <a:endParaRPr lang="en-US" sz="850" dirty="0"/>
          </a:p>
        </p:txBody>
      </p:sp>
      <p:sp>
        <p:nvSpPr>
          <p:cNvPr id="9" name="Shape 7"/>
          <p:cNvSpPr/>
          <p:nvPr/>
        </p:nvSpPr>
        <p:spPr>
          <a:xfrm>
            <a:off x="4636008" y="2011680"/>
            <a:ext cx="2816352" cy="493776"/>
          </a:xfrm>
          <a:prstGeom prst="roundRect">
            <a:avLst>
              <a:gd name="adj" fmla="val 9259"/>
            </a:avLst>
          </a:prstGeom>
          <a:solidFill>
            <a:srgbClr val="1A288E"/>
          </a:solidFill>
          <a:ln w="12700">
            <a:solidFill>
              <a:srgbClr val="C3CFE8"/>
            </a:solidFill>
            <a:prstDash val="solid"/>
          </a:ln>
        </p:spPr>
      </p:sp>
      <p:sp>
        <p:nvSpPr>
          <p:cNvPr id="10" name="Text 8"/>
          <p:cNvSpPr/>
          <p:nvPr/>
        </p:nvSpPr>
        <p:spPr>
          <a:xfrm>
            <a:off x="4745736" y="2066544"/>
            <a:ext cx="2596896" cy="201168"/>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driver.sas</a:t>
            </a:r>
            <a:endParaRPr lang="en-US" sz="950" dirty="0"/>
          </a:p>
        </p:txBody>
      </p:sp>
      <p:sp>
        <p:nvSpPr>
          <p:cNvPr id="11" name="Text 9"/>
          <p:cNvSpPr/>
          <p:nvPr/>
        </p:nvSpPr>
        <p:spPr>
          <a:xfrm>
            <a:off x="4745736" y="2267712"/>
            <a:ext cx="2596896" cy="182880"/>
          </a:xfrm>
          <a:prstGeom prst="rect">
            <a:avLst/>
          </a:prstGeom>
          <a:noFill/>
          <a:ln/>
        </p:spPr>
        <p:txBody>
          <a:bodyPr wrap="square" rtlCol="0" anchor="t"/>
          <a:lstStyle/>
          <a:p>
            <a:pPr indent="0" marL="0">
              <a:lnSpc>
                <a:spcPts val="950"/>
              </a:lnSpc>
              <a:buNone/>
            </a:pPr>
            <a:r>
              <a:rPr lang="en-US" sz="750" dirty="0">
                <a:solidFill>
                  <a:srgbClr val="C9D2F0"/>
                </a:solidFill>
                <a:latin typeface="Calibri" pitchFamily="34" charset="0"/>
                <a:ea typeface="Calibri" pitchFamily="34" charset="-122"/>
                <a:cs typeface="Calibri" pitchFamily="34" charset="-120"/>
              </a:rPr>
              <a:t>Build date · audience keycode · source ID · variable list</a:t>
            </a:r>
            <a:endParaRPr lang="en-US" sz="750" dirty="0"/>
          </a:p>
        </p:txBody>
      </p:sp>
      <p:sp>
        <p:nvSpPr>
          <p:cNvPr id="12" name="Shape 10"/>
          <p:cNvSpPr/>
          <p:nvPr/>
        </p:nvSpPr>
        <p:spPr>
          <a:xfrm>
            <a:off x="6033211" y="2578608"/>
            <a:ext cx="21946" cy="146304"/>
          </a:xfrm>
          <a:prstGeom prst="rect">
            <a:avLst/>
          </a:prstGeom>
          <a:solidFill>
            <a:srgbClr val="8FA6D9"/>
          </a:solidFill>
          <a:ln/>
        </p:spPr>
      </p:sp>
      <p:sp>
        <p:nvSpPr>
          <p:cNvPr id="13" name="Text 11"/>
          <p:cNvSpPr/>
          <p:nvPr/>
        </p:nvSpPr>
        <p:spPr>
          <a:xfrm>
            <a:off x="5943600" y="2670048"/>
            <a:ext cx="201168" cy="164592"/>
          </a:xfrm>
          <a:prstGeom prst="rect">
            <a:avLst/>
          </a:prstGeom>
          <a:noFill/>
          <a:ln/>
        </p:spPr>
        <p:txBody>
          <a:bodyPr wrap="square" rtlCol="0" anchor="ctr"/>
          <a:lstStyle/>
          <a:p>
            <a:pPr algn="ctr" indent="0" marL="0">
              <a:buNone/>
            </a:pPr>
            <a:r>
              <a:rPr lang="en-US" sz="900" b="1" dirty="0">
                <a:solidFill>
                  <a:srgbClr val="8FA6D9"/>
                </a:solidFill>
                <a:latin typeface="Calibri" pitchFamily="34" charset="0"/>
                <a:ea typeface="Calibri" pitchFamily="34" charset="-122"/>
                <a:cs typeface="Calibri" pitchFamily="34" charset="-120"/>
              </a:rPr>
              <a:t>▼</a:t>
            </a:r>
            <a:endParaRPr lang="en-US" sz="900" dirty="0"/>
          </a:p>
        </p:txBody>
      </p:sp>
      <p:sp>
        <p:nvSpPr>
          <p:cNvPr id="14" name="Shape 12"/>
          <p:cNvSpPr/>
          <p:nvPr/>
        </p:nvSpPr>
        <p:spPr>
          <a:xfrm>
            <a:off x="2980944" y="2871216"/>
            <a:ext cx="6126480" cy="731520"/>
          </a:xfrm>
          <a:prstGeom prst="rect">
            <a:avLst/>
          </a:prstGeom>
          <a:solidFill>
            <a:srgbClr val="F7F9FE"/>
          </a:solidFill>
          <a:ln w="12700">
            <a:solidFill>
              <a:srgbClr val="DCE4F5"/>
            </a:solidFill>
            <a:prstDash val="solid"/>
          </a:ln>
        </p:spPr>
      </p:sp>
      <p:sp>
        <p:nvSpPr>
          <p:cNvPr id="15" name="Text 13"/>
          <p:cNvSpPr/>
          <p:nvPr/>
        </p:nvSpPr>
        <p:spPr>
          <a:xfrm>
            <a:off x="3127248" y="2935224"/>
            <a:ext cx="5833872" cy="201168"/>
          </a:xfrm>
          <a:prstGeom prst="rect">
            <a:avLst/>
          </a:prstGeom>
          <a:noFill/>
          <a:ln/>
        </p:spPr>
        <p:txBody>
          <a:bodyPr wrap="square" rtlCol="0" anchor="ctr"/>
          <a:lstStyle/>
          <a:p>
            <a:pPr indent="0" marL="0">
              <a:buNone/>
            </a:pPr>
            <a:r>
              <a:rPr lang="en-US" sz="850" b="1" spc="110" kern="0" dirty="0">
                <a:solidFill>
                  <a:srgbClr val="F96806"/>
                </a:solidFill>
                <a:latin typeface="Calibri" pitchFamily="34" charset="0"/>
                <a:ea typeface="Calibri" pitchFamily="34" charset="-122"/>
                <a:cs typeface="Calibri" pitchFamily="34" charset="-120"/>
              </a:rPr>
              <a:t>ORCHESTRATION  ·  ODBC connections + stale-table guard</a:t>
            </a:r>
            <a:endParaRPr lang="en-US" sz="850" dirty="0"/>
          </a:p>
        </p:txBody>
      </p:sp>
      <p:sp>
        <p:nvSpPr>
          <p:cNvPr id="16" name="Shape 14"/>
          <p:cNvSpPr/>
          <p:nvPr/>
        </p:nvSpPr>
        <p:spPr>
          <a:xfrm>
            <a:off x="3127248" y="3090672"/>
            <a:ext cx="5833872" cy="420624"/>
          </a:xfrm>
          <a:prstGeom prst="roundRect">
            <a:avLst>
              <a:gd name="adj" fmla="val 10870"/>
            </a:avLst>
          </a:prstGeom>
          <a:solidFill>
            <a:srgbClr val="1A288E"/>
          </a:solidFill>
          <a:ln w="12700">
            <a:solidFill>
              <a:srgbClr val="C3CFE8"/>
            </a:solidFill>
            <a:prstDash val="solid"/>
          </a:ln>
        </p:spPr>
      </p:sp>
      <p:sp>
        <p:nvSpPr>
          <p:cNvPr id="17" name="Text 15"/>
          <p:cNvSpPr/>
          <p:nvPr/>
        </p:nvSpPr>
        <p:spPr>
          <a:xfrm>
            <a:off x="3236976" y="3145536"/>
            <a:ext cx="5614416" cy="201168"/>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orchestrator.sas</a:t>
            </a:r>
            <a:endParaRPr lang="en-US" sz="950" dirty="0"/>
          </a:p>
        </p:txBody>
      </p:sp>
      <p:sp>
        <p:nvSpPr>
          <p:cNvPr id="18" name="Text 16"/>
          <p:cNvSpPr/>
          <p:nvPr/>
        </p:nvSpPr>
        <p:spPr>
          <a:xfrm>
            <a:off x="3236976" y="3346704"/>
            <a:ext cx="5614416" cy="109728"/>
          </a:xfrm>
          <a:prstGeom prst="rect">
            <a:avLst/>
          </a:prstGeom>
          <a:noFill/>
          <a:ln/>
        </p:spPr>
        <p:txBody>
          <a:bodyPr wrap="square" rtlCol="0" anchor="t"/>
          <a:lstStyle/>
          <a:p>
            <a:pPr indent="0" marL="0">
              <a:lnSpc>
                <a:spcPts val="950"/>
              </a:lnSpc>
              <a:buNone/>
            </a:pPr>
            <a:r>
              <a:rPr lang="en-US" sz="750" dirty="0">
                <a:solidFill>
                  <a:srgbClr val="C9D2F0"/>
                </a:solidFill>
                <a:latin typeface="Calibri" pitchFamily="34" charset="0"/>
                <a:ea typeface="Calibri" pitchFamily="34" charset="-122"/>
                <a:cs typeface="Calibri" pitchFamily="34" charset="-120"/>
              </a:rPr>
              <a:t>Two CDP connections · include chain now loads five library files</a:t>
            </a:r>
            <a:endParaRPr lang="en-US" sz="750" dirty="0"/>
          </a:p>
        </p:txBody>
      </p:sp>
      <p:sp>
        <p:nvSpPr>
          <p:cNvPr id="19" name="Shape 17"/>
          <p:cNvSpPr/>
          <p:nvPr/>
        </p:nvSpPr>
        <p:spPr>
          <a:xfrm>
            <a:off x="6033211" y="3602736"/>
            <a:ext cx="21946" cy="146304"/>
          </a:xfrm>
          <a:prstGeom prst="rect">
            <a:avLst/>
          </a:prstGeom>
          <a:solidFill>
            <a:srgbClr val="8FA6D9"/>
          </a:solidFill>
          <a:ln/>
        </p:spPr>
      </p:sp>
      <p:sp>
        <p:nvSpPr>
          <p:cNvPr id="20" name="Text 18"/>
          <p:cNvSpPr/>
          <p:nvPr/>
        </p:nvSpPr>
        <p:spPr>
          <a:xfrm>
            <a:off x="5943600" y="3694176"/>
            <a:ext cx="201168" cy="164592"/>
          </a:xfrm>
          <a:prstGeom prst="rect">
            <a:avLst/>
          </a:prstGeom>
          <a:noFill/>
          <a:ln/>
        </p:spPr>
        <p:txBody>
          <a:bodyPr wrap="square" rtlCol="0" anchor="ctr"/>
          <a:lstStyle/>
          <a:p>
            <a:pPr algn="ctr" indent="0" marL="0">
              <a:buNone/>
            </a:pPr>
            <a:r>
              <a:rPr lang="en-US" sz="900" b="1" dirty="0">
                <a:solidFill>
                  <a:srgbClr val="8FA6D9"/>
                </a:solidFill>
                <a:latin typeface="Calibri" pitchFamily="34" charset="0"/>
                <a:ea typeface="Calibri" pitchFamily="34" charset="-122"/>
                <a:cs typeface="Calibri" pitchFamily="34" charset="-120"/>
              </a:rPr>
              <a:t>▼</a:t>
            </a:r>
            <a:endParaRPr lang="en-US" sz="900" dirty="0"/>
          </a:p>
        </p:txBody>
      </p:sp>
      <p:sp>
        <p:nvSpPr>
          <p:cNvPr id="21" name="Shape 19"/>
          <p:cNvSpPr/>
          <p:nvPr/>
        </p:nvSpPr>
        <p:spPr>
          <a:xfrm>
            <a:off x="2980944" y="3895344"/>
            <a:ext cx="6126480" cy="1389888"/>
          </a:xfrm>
          <a:prstGeom prst="rect">
            <a:avLst/>
          </a:prstGeom>
          <a:solidFill>
            <a:srgbClr val="F7F9FE"/>
          </a:solidFill>
          <a:ln w="12700">
            <a:solidFill>
              <a:srgbClr val="DCE4F5"/>
            </a:solidFill>
            <a:prstDash val="solid"/>
          </a:ln>
        </p:spPr>
      </p:sp>
      <p:sp>
        <p:nvSpPr>
          <p:cNvPr id="22" name="Text 20"/>
          <p:cNvSpPr/>
          <p:nvPr/>
        </p:nvSpPr>
        <p:spPr>
          <a:xfrm>
            <a:off x="3127248" y="3959352"/>
            <a:ext cx="5833872" cy="201168"/>
          </a:xfrm>
          <a:prstGeom prst="rect">
            <a:avLst/>
          </a:prstGeom>
          <a:noFill/>
          <a:ln/>
        </p:spPr>
        <p:txBody>
          <a:bodyPr wrap="square" rtlCol="0" anchor="ctr"/>
          <a:lstStyle/>
          <a:p>
            <a:pPr indent="0" marL="0">
              <a:buNone/>
            </a:pPr>
            <a:r>
              <a:rPr lang="en-US" sz="850" b="1" spc="110" kern="0" dirty="0">
                <a:solidFill>
                  <a:srgbClr val="F96806"/>
                </a:solidFill>
                <a:latin typeface="Calibri" pitchFamily="34" charset="0"/>
                <a:ea typeface="Calibri" pitchFamily="34" charset="-122"/>
                <a:cs typeface="Calibri" pitchFamily="34" charset="-120"/>
              </a:rPr>
              <a:t>LIBRARY  ·  original three + two bridges</a:t>
            </a:r>
            <a:endParaRPr lang="en-US" sz="850" dirty="0"/>
          </a:p>
        </p:txBody>
      </p:sp>
      <p:sp>
        <p:nvSpPr>
          <p:cNvPr id="23" name="Shape 21"/>
          <p:cNvSpPr/>
          <p:nvPr/>
        </p:nvSpPr>
        <p:spPr>
          <a:xfrm>
            <a:off x="3127248" y="4114800"/>
            <a:ext cx="1847088" cy="475488"/>
          </a:xfrm>
          <a:prstGeom prst="roundRect">
            <a:avLst>
              <a:gd name="adj" fmla="val 9615"/>
            </a:avLst>
          </a:prstGeom>
          <a:solidFill>
            <a:srgbClr val="FFFFFF"/>
          </a:solidFill>
          <a:ln w="12700">
            <a:solidFill>
              <a:srgbClr val="C3CFE8"/>
            </a:solidFill>
            <a:prstDash val="solid"/>
          </a:ln>
        </p:spPr>
      </p:sp>
      <p:sp>
        <p:nvSpPr>
          <p:cNvPr id="24" name="Text 22"/>
          <p:cNvSpPr/>
          <p:nvPr/>
        </p:nvSpPr>
        <p:spPr>
          <a:xfrm>
            <a:off x="3236976" y="4169664"/>
            <a:ext cx="1627632"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definitions.sas</a:t>
            </a:r>
            <a:endParaRPr lang="en-US" sz="950" dirty="0"/>
          </a:p>
        </p:txBody>
      </p:sp>
      <p:sp>
        <p:nvSpPr>
          <p:cNvPr id="25" name="Text 23"/>
          <p:cNvSpPr/>
          <p:nvPr/>
        </p:nvSpPr>
        <p:spPr>
          <a:xfrm>
            <a:off x="3236976" y="4370832"/>
            <a:ext cx="1627632" cy="164592"/>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Lookups · reference codes</a:t>
            </a:r>
            <a:endParaRPr lang="en-US" sz="750" dirty="0"/>
          </a:p>
        </p:txBody>
      </p:sp>
      <p:sp>
        <p:nvSpPr>
          <p:cNvPr id="26" name="Shape 24"/>
          <p:cNvSpPr/>
          <p:nvPr/>
        </p:nvSpPr>
        <p:spPr>
          <a:xfrm>
            <a:off x="5047488" y="4114800"/>
            <a:ext cx="1847088" cy="475488"/>
          </a:xfrm>
          <a:prstGeom prst="roundRect">
            <a:avLst>
              <a:gd name="adj" fmla="val 9615"/>
            </a:avLst>
          </a:prstGeom>
          <a:solidFill>
            <a:srgbClr val="FFFFFF"/>
          </a:solidFill>
          <a:ln w="12700">
            <a:solidFill>
              <a:srgbClr val="C3CFE8"/>
            </a:solidFill>
            <a:prstDash val="solid"/>
          </a:ln>
        </p:spPr>
      </p:sp>
      <p:sp>
        <p:nvSpPr>
          <p:cNvPr id="27" name="Text 25"/>
          <p:cNvSpPr/>
          <p:nvPr/>
        </p:nvSpPr>
        <p:spPr>
          <a:xfrm>
            <a:off x="5157216" y="4169664"/>
            <a:ext cx="1627632"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sql_engine.sas</a:t>
            </a:r>
            <a:endParaRPr lang="en-US" sz="950" dirty="0"/>
          </a:p>
        </p:txBody>
      </p:sp>
      <p:sp>
        <p:nvSpPr>
          <p:cNvPr id="28" name="Text 26"/>
          <p:cNvSpPr/>
          <p:nvPr/>
        </p:nvSpPr>
        <p:spPr>
          <a:xfrm>
            <a:off x="5157216" y="4370832"/>
            <a:ext cx="1627632" cy="164592"/>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21 builders · NULL-safe filters</a:t>
            </a:r>
            <a:endParaRPr lang="en-US" sz="750" dirty="0"/>
          </a:p>
        </p:txBody>
      </p:sp>
      <p:sp>
        <p:nvSpPr>
          <p:cNvPr id="29" name="Shape 27"/>
          <p:cNvSpPr/>
          <p:nvPr/>
        </p:nvSpPr>
        <p:spPr>
          <a:xfrm>
            <a:off x="6967728" y="4114800"/>
            <a:ext cx="1847088" cy="475488"/>
          </a:xfrm>
          <a:prstGeom prst="roundRect">
            <a:avLst>
              <a:gd name="adj" fmla="val 9615"/>
            </a:avLst>
          </a:prstGeom>
          <a:solidFill>
            <a:srgbClr val="FFFFFF"/>
          </a:solidFill>
          <a:ln w="12700">
            <a:solidFill>
              <a:srgbClr val="C3CFE8"/>
            </a:solidFill>
            <a:prstDash val="solid"/>
          </a:ln>
        </p:spPr>
      </p:sp>
      <p:sp>
        <p:nvSpPr>
          <p:cNvPr id="30" name="Text 28"/>
          <p:cNvSpPr/>
          <p:nvPr/>
        </p:nvSpPr>
        <p:spPr>
          <a:xfrm>
            <a:off x="7077456" y="4169664"/>
            <a:ext cx="1627632"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variables.sas</a:t>
            </a:r>
            <a:endParaRPr lang="en-US" sz="950" dirty="0"/>
          </a:p>
        </p:txBody>
      </p:sp>
      <p:sp>
        <p:nvSpPr>
          <p:cNvPr id="31" name="Text 29"/>
          <p:cNvSpPr/>
          <p:nvPr/>
        </p:nvSpPr>
        <p:spPr>
          <a:xfrm>
            <a:off x="7077456" y="4370832"/>
            <a:ext cx="1627632" cy="164592"/>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16 categories · 475 outputs</a:t>
            </a:r>
            <a:endParaRPr lang="en-US" sz="750" dirty="0"/>
          </a:p>
        </p:txBody>
      </p:sp>
      <p:sp>
        <p:nvSpPr>
          <p:cNvPr id="32" name="Text 30"/>
          <p:cNvSpPr/>
          <p:nvPr/>
        </p:nvSpPr>
        <p:spPr>
          <a:xfrm>
            <a:off x="3127248" y="4608576"/>
            <a:ext cx="5833872" cy="146304"/>
          </a:xfrm>
          <a:prstGeom prst="rect">
            <a:avLst/>
          </a:prstGeom>
          <a:noFill/>
          <a:ln/>
        </p:spPr>
        <p:txBody>
          <a:bodyPr wrap="square" rtlCol="0" anchor="ctr"/>
          <a:lstStyle/>
          <a:p>
            <a:pPr algn="ctr" indent="0" marL="0">
              <a:buNone/>
            </a:pPr>
            <a:r>
              <a:rPr lang="en-US" sz="700" i="1" dirty="0">
                <a:solidFill>
                  <a:srgbClr val="F96806"/>
                </a:solidFill>
                <a:latin typeface="Calibri" pitchFamily="34" charset="0"/>
                <a:ea typeface="Calibri" pitchFamily="34" charset="-122"/>
                <a:cs typeface="Calibri" pitchFamily="34" charset="-120"/>
              </a:rPr>
              <a:t>▼  loaded after the SQL engine, before the recipes  ▼</a:t>
            </a:r>
            <a:endParaRPr lang="en-US" sz="700" dirty="0"/>
          </a:p>
        </p:txBody>
      </p:sp>
      <p:sp>
        <p:nvSpPr>
          <p:cNvPr id="33" name="Shape 31"/>
          <p:cNvSpPr/>
          <p:nvPr/>
        </p:nvSpPr>
        <p:spPr>
          <a:xfrm>
            <a:off x="3127248" y="4773168"/>
            <a:ext cx="2852928" cy="420624"/>
          </a:xfrm>
          <a:prstGeom prst="roundRect">
            <a:avLst>
              <a:gd name="adj" fmla="val 10870"/>
            </a:avLst>
          </a:prstGeom>
          <a:solidFill>
            <a:srgbClr val="FDE3D2"/>
          </a:solidFill>
          <a:ln w="25400">
            <a:solidFill>
              <a:srgbClr val="F96806"/>
            </a:solidFill>
            <a:prstDash val="solid"/>
          </a:ln>
        </p:spPr>
      </p:sp>
      <p:sp>
        <p:nvSpPr>
          <p:cNvPr id="34" name="Text 32"/>
          <p:cNvSpPr/>
          <p:nvPr/>
        </p:nvSpPr>
        <p:spPr>
          <a:xfrm>
            <a:off x="3236976" y="4828032"/>
            <a:ext cx="2633472"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compat_bridge.sas   NEW</a:t>
            </a:r>
            <a:endParaRPr lang="en-US" sz="950" dirty="0"/>
          </a:p>
        </p:txBody>
      </p:sp>
      <p:sp>
        <p:nvSpPr>
          <p:cNvPr id="35" name="Text 33"/>
          <p:cNvSpPr/>
          <p:nvPr/>
        </p:nvSpPr>
        <p:spPr>
          <a:xfrm>
            <a:off x="3236976" y="5029200"/>
            <a:ext cx="2633472" cy="109728"/>
          </a:xfrm>
          <a:prstGeom prst="rect">
            <a:avLst/>
          </a:prstGeom>
          <a:noFill/>
          <a:ln/>
        </p:spPr>
        <p:txBody>
          <a:bodyPr wrap="square" rtlCol="0" anchor="t"/>
          <a:lstStyle/>
          <a:p>
            <a:pPr indent="0" marL="0">
              <a:lnSpc>
                <a:spcPts val="950"/>
              </a:lnSpc>
              <a:buNone/>
            </a:pPr>
            <a:r>
              <a:rPr lang="en-US" sz="750" dirty="0">
                <a:solidFill>
                  <a:srgbClr val="8A3A0A"/>
                </a:solidFill>
                <a:latin typeface="Calibri" pitchFamily="34" charset="0"/>
                <a:ea typeface="Calibri" pitchFamily="34" charset="-122"/>
                <a:cs typeface="Calibri" pitchFamily="34" charset="-120"/>
              </a:rPr>
              <a:t>Name mapping · join wrappers · value quoting</a:t>
            </a:r>
            <a:endParaRPr lang="en-US" sz="750" dirty="0"/>
          </a:p>
        </p:txBody>
      </p:sp>
      <p:sp>
        <p:nvSpPr>
          <p:cNvPr id="36" name="Shape 34"/>
          <p:cNvSpPr/>
          <p:nvPr/>
        </p:nvSpPr>
        <p:spPr>
          <a:xfrm>
            <a:off x="6108192" y="4773168"/>
            <a:ext cx="2852928" cy="420624"/>
          </a:xfrm>
          <a:prstGeom prst="roundRect">
            <a:avLst>
              <a:gd name="adj" fmla="val 10870"/>
            </a:avLst>
          </a:prstGeom>
          <a:solidFill>
            <a:srgbClr val="FDE3D2"/>
          </a:solidFill>
          <a:ln w="25400">
            <a:solidFill>
              <a:srgbClr val="F96806"/>
            </a:solidFill>
            <a:prstDash val="solid"/>
          </a:ln>
        </p:spPr>
      </p:sp>
      <p:sp>
        <p:nvSpPr>
          <p:cNvPr id="37" name="Text 35"/>
          <p:cNvSpPr/>
          <p:nvPr/>
        </p:nvSpPr>
        <p:spPr>
          <a:xfrm>
            <a:off x="6217920" y="4828032"/>
            <a:ext cx="2633472"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date_bridge.sas   NEW</a:t>
            </a:r>
            <a:endParaRPr lang="en-US" sz="950" dirty="0"/>
          </a:p>
        </p:txBody>
      </p:sp>
      <p:sp>
        <p:nvSpPr>
          <p:cNvPr id="38" name="Text 36"/>
          <p:cNvSpPr/>
          <p:nvPr/>
        </p:nvSpPr>
        <p:spPr>
          <a:xfrm>
            <a:off x="6217920" y="5029200"/>
            <a:ext cx="2633472" cy="109728"/>
          </a:xfrm>
          <a:prstGeom prst="rect">
            <a:avLst/>
          </a:prstGeom>
          <a:noFill/>
          <a:ln/>
        </p:spPr>
        <p:txBody>
          <a:bodyPr wrap="square" rtlCol="0" anchor="t"/>
          <a:lstStyle/>
          <a:p>
            <a:pPr indent="0" marL="0">
              <a:lnSpc>
                <a:spcPts val="950"/>
              </a:lnSpc>
              <a:buNone/>
            </a:pPr>
            <a:r>
              <a:rPr lang="en-US" sz="750" dirty="0">
                <a:solidFill>
                  <a:srgbClr val="8A3A0A"/>
                </a:solidFill>
                <a:latin typeface="Calibri" pitchFamily="34" charset="0"/>
                <a:ea typeface="Calibri" pitchFamily="34" charset="-122"/>
                <a:cs typeface="Calibri" pitchFamily="34" charset="-120"/>
              </a:rPr>
              <a:t>Date-type detection before conversion</a:t>
            </a:r>
            <a:endParaRPr lang="en-US" sz="750" dirty="0"/>
          </a:p>
        </p:txBody>
      </p:sp>
      <p:sp>
        <p:nvSpPr>
          <p:cNvPr id="39" name="Shape 37"/>
          <p:cNvSpPr/>
          <p:nvPr/>
        </p:nvSpPr>
        <p:spPr>
          <a:xfrm>
            <a:off x="237744" y="2871216"/>
            <a:ext cx="2468880" cy="2414016"/>
          </a:xfrm>
          <a:prstGeom prst="rect">
            <a:avLst/>
          </a:prstGeom>
          <a:solidFill>
            <a:srgbClr val="F7F9FE"/>
          </a:solidFill>
          <a:ln w="12700">
            <a:solidFill>
              <a:srgbClr val="DCE4F5"/>
            </a:solidFill>
            <a:prstDash val="solid"/>
          </a:ln>
        </p:spPr>
      </p:sp>
      <p:sp>
        <p:nvSpPr>
          <p:cNvPr id="40" name="Text 38"/>
          <p:cNvSpPr/>
          <p:nvPr/>
        </p:nvSpPr>
        <p:spPr>
          <a:xfrm>
            <a:off x="384048" y="2935224"/>
            <a:ext cx="2176272" cy="201168"/>
          </a:xfrm>
          <a:prstGeom prst="rect">
            <a:avLst/>
          </a:prstGeom>
          <a:noFill/>
          <a:ln/>
        </p:spPr>
        <p:txBody>
          <a:bodyPr wrap="square" rtlCol="0" anchor="ctr"/>
          <a:lstStyle/>
          <a:p>
            <a:pPr indent="0" marL="0">
              <a:buNone/>
            </a:pPr>
            <a:r>
              <a:rPr lang="en-US" sz="850" b="1" spc="110" kern="0" dirty="0">
                <a:solidFill>
                  <a:srgbClr val="F96806"/>
                </a:solidFill>
                <a:latin typeface="Calibri" pitchFamily="34" charset="0"/>
                <a:ea typeface="Calibri" pitchFamily="34" charset="-122"/>
                <a:cs typeface="Calibri" pitchFamily="34" charset="-120"/>
              </a:rPr>
              <a:t>OUTPUTS</a:t>
            </a:r>
            <a:endParaRPr lang="en-US" sz="850" dirty="0"/>
          </a:p>
        </p:txBody>
      </p:sp>
      <p:sp>
        <p:nvSpPr>
          <p:cNvPr id="41" name="Shape 39"/>
          <p:cNvSpPr/>
          <p:nvPr/>
        </p:nvSpPr>
        <p:spPr>
          <a:xfrm>
            <a:off x="365760" y="3145536"/>
            <a:ext cx="2212848" cy="475488"/>
          </a:xfrm>
          <a:prstGeom prst="roundRect">
            <a:avLst>
              <a:gd name="adj" fmla="val 9615"/>
            </a:avLst>
          </a:prstGeom>
          <a:solidFill>
            <a:srgbClr val="FFFFFF"/>
          </a:solidFill>
          <a:ln w="12700">
            <a:solidFill>
              <a:srgbClr val="C3CFE8"/>
            </a:solidFill>
            <a:prstDash val="solid"/>
          </a:ln>
        </p:spPr>
      </p:sp>
      <p:sp>
        <p:nvSpPr>
          <p:cNvPr id="42" name="Text 40"/>
          <p:cNvSpPr/>
          <p:nvPr/>
        </p:nvSpPr>
        <p:spPr>
          <a:xfrm>
            <a:off x="475488" y="3200400"/>
            <a:ext cx="1993392"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Modelling dataset</a:t>
            </a:r>
            <a:endParaRPr lang="en-US" sz="950" dirty="0"/>
          </a:p>
        </p:txBody>
      </p:sp>
      <p:sp>
        <p:nvSpPr>
          <p:cNvPr id="43" name="Text 41"/>
          <p:cNvSpPr/>
          <p:nvPr/>
        </p:nvSpPr>
        <p:spPr>
          <a:xfrm>
            <a:off x="475488" y="3401568"/>
            <a:ext cx="1993392" cy="164592"/>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one row per customer · 475 columns</a:t>
            </a:r>
            <a:endParaRPr lang="en-US" sz="750" dirty="0"/>
          </a:p>
        </p:txBody>
      </p:sp>
      <p:sp>
        <p:nvSpPr>
          <p:cNvPr id="44" name="Shape 42"/>
          <p:cNvSpPr/>
          <p:nvPr/>
        </p:nvSpPr>
        <p:spPr>
          <a:xfrm>
            <a:off x="365760" y="3675888"/>
            <a:ext cx="2212848" cy="475488"/>
          </a:xfrm>
          <a:prstGeom prst="roundRect">
            <a:avLst>
              <a:gd name="adj" fmla="val 9615"/>
            </a:avLst>
          </a:prstGeom>
          <a:solidFill>
            <a:srgbClr val="FFFFFF"/>
          </a:solidFill>
          <a:ln w="12700">
            <a:solidFill>
              <a:srgbClr val="C3CFE8"/>
            </a:solidFill>
            <a:prstDash val="solid"/>
          </a:ln>
        </p:spPr>
      </p:sp>
      <p:sp>
        <p:nvSpPr>
          <p:cNvPr id="45" name="Text 43"/>
          <p:cNvSpPr/>
          <p:nvPr/>
        </p:nvSpPr>
        <p:spPr>
          <a:xfrm>
            <a:off x="475488" y="3730752"/>
            <a:ext cx="1993392"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QC census</a:t>
            </a:r>
            <a:endParaRPr lang="en-US" sz="950" dirty="0"/>
          </a:p>
        </p:txBody>
      </p:sp>
      <p:sp>
        <p:nvSpPr>
          <p:cNvPr id="46" name="Text 44"/>
          <p:cNvSpPr/>
          <p:nvPr/>
        </p:nvSpPr>
        <p:spPr>
          <a:xfrm>
            <a:off x="475488" y="3931920"/>
            <a:ext cx="1993392" cy="164592"/>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populating / zero / blank per variable</a:t>
            </a:r>
            <a:endParaRPr lang="en-US" sz="750" dirty="0"/>
          </a:p>
        </p:txBody>
      </p:sp>
      <p:sp>
        <p:nvSpPr>
          <p:cNvPr id="47" name="Shape 45"/>
          <p:cNvSpPr/>
          <p:nvPr/>
        </p:nvSpPr>
        <p:spPr>
          <a:xfrm>
            <a:off x="365760" y="4206240"/>
            <a:ext cx="2212848" cy="475488"/>
          </a:xfrm>
          <a:prstGeom prst="roundRect">
            <a:avLst>
              <a:gd name="adj" fmla="val 9615"/>
            </a:avLst>
          </a:prstGeom>
          <a:solidFill>
            <a:srgbClr val="FFFFFF"/>
          </a:solidFill>
          <a:ln w="12700">
            <a:solidFill>
              <a:srgbClr val="C3CFE8"/>
            </a:solidFill>
            <a:prstDash val="solid"/>
          </a:ln>
        </p:spPr>
      </p:sp>
      <p:sp>
        <p:nvSpPr>
          <p:cNvPr id="48" name="Text 46"/>
          <p:cNvSpPr/>
          <p:nvPr/>
        </p:nvSpPr>
        <p:spPr>
          <a:xfrm>
            <a:off x="475488" y="4261104"/>
            <a:ext cx="1993392"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Legacy reconciliation</a:t>
            </a:r>
            <a:endParaRPr lang="en-US" sz="950" dirty="0"/>
          </a:p>
        </p:txBody>
      </p:sp>
      <p:sp>
        <p:nvSpPr>
          <p:cNvPr id="49" name="Text 47"/>
          <p:cNvSpPr/>
          <p:nvPr/>
        </p:nvSpPr>
        <p:spPr>
          <a:xfrm>
            <a:off x="475488" y="4462272"/>
            <a:ext cx="1993392" cy="164592"/>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banded match rates vs 90% bar</a:t>
            </a:r>
            <a:endParaRPr lang="en-US" sz="750" dirty="0"/>
          </a:p>
        </p:txBody>
      </p:sp>
      <p:sp>
        <p:nvSpPr>
          <p:cNvPr id="50" name="Shape 48"/>
          <p:cNvSpPr/>
          <p:nvPr/>
        </p:nvSpPr>
        <p:spPr>
          <a:xfrm>
            <a:off x="365760" y="4736592"/>
            <a:ext cx="2212848" cy="475488"/>
          </a:xfrm>
          <a:prstGeom prst="roundRect">
            <a:avLst>
              <a:gd name="adj" fmla="val 9615"/>
            </a:avLst>
          </a:prstGeom>
          <a:solidFill>
            <a:srgbClr val="FFFFFF"/>
          </a:solidFill>
          <a:ln w="12700">
            <a:solidFill>
              <a:srgbClr val="C3CFE8"/>
            </a:solidFill>
            <a:prstDash val="solid"/>
          </a:ln>
        </p:spPr>
      </p:sp>
      <p:sp>
        <p:nvSpPr>
          <p:cNvPr id="51" name="Text 49"/>
          <p:cNvSpPr/>
          <p:nvPr/>
        </p:nvSpPr>
        <p:spPr>
          <a:xfrm>
            <a:off x="475488" y="4791456"/>
            <a:ext cx="1993392"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Fix &amp; decision register</a:t>
            </a:r>
            <a:endParaRPr lang="en-US" sz="950" dirty="0"/>
          </a:p>
        </p:txBody>
      </p:sp>
      <p:sp>
        <p:nvSpPr>
          <p:cNvPr id="52" name="Text 50"/>
          <p:cNvSpPr/>
          <p:nvPr/>
        </p:nvSpPr>
        <p:spPr>
          <a:xfrm>
            <a:off x="475488" y="4992624"/>
            <a:ext cx="1993392" cy="164592"/>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evidence for every change</a:t>
            </a:r>
            <a:endParaRPr lang="en-US" sz="750" dirty="0"/>
          </a:p>
        </p:txBody>
      </p:sp>
      <p:sp>
        <p:nvSpPr>
          <p:cNvPr id="53" name="Shape 51"/>
          <p:cNvSpPr/>
          <p:nvPr/>
        </p:nvSpPr>
        <p:spPr>
          <a:xfrm>
            <a:off x="2706624" y="3290011"/>
            <a:ext cx="274320" cy="21946"/>
          </a:xfrm>
          <a:prstGeom prst="rect">
            <a:avLst/>
          </a:prstGeom>
          <a:solidFill>
            <a:srgbClr val="8FA6D9"/>
          </a:solidFill>
          <a:ln/>
        </p:spPr>
      </p:sp>
      <p:sp>
        <p:nvSpPr>
          <p:cNvPr id="54" name="Text 52"/>
          <p:cNvSpPr/>
          <p:nvPr/>
        </p:nvSpPr>
        <p:spPr>
          <a:xfrm>
            <a:off x="2679192" y="3227832"/>
            <a:ext cx="201168" cy="164592"/>
          </a:xfrm>
          <a:prstGeom prst="rect">
            <a:avLst/>
          </a:prstGeom>
          <a:noFill/>
          <a:ln/>
        </p:spPr>
        <p:txBody>
          <a:bodyPr wrap="square" rtlCol="0" anchor="ctr"/>
          <a:lstStyle/>
          <a:p>
            <a:pPr algn="ctr" indent="0" marL="0">
              <a:buNone/>
            </a:pPr>
            <a:r>
              <a:rPr lang="en-US" sz="900" b="1" dirty="0">
                <a:solidFill>
                  <a:srgbClr val="8FA6D9"/>
                </a:solidFill>
                <a:latin typeface="Calibri" pitchFamily="34" charset="0"/>
                <a:ea typeface="Calibri" pitchFamily="34" charset="-122"/>
                <a:cs typeface="Calibri" pitchFamily="34" charset="-120"/>
              </a:rPr>
              <a:t>◀</a:t>
            </a:r>
            <a:endParaRPr lang="en-US" sz="900" dirty="0"/>
          </a:p>
        </p:txBody>
      </p:sp>
      <p:sp>
        <p:nvSpPr>
          <p:cNvPr id="55" name="Shape 53"/>
          <p:cNvSpPr/>
          <p:nvPr/>
        </p:nvSpPr>
        <p:spPr>
          <a:xfrm>
            <a:off x="9381744" y="2871216"/>
            <a:ext cx="2569464" cy="2414016"/>
          </a:xfrm>
          <a:prstGeom prst="rect">
            <a:avLst/>
          </a:prstGeom>
          <a:solidFill>
            <a:srgbClr val="F7F9FE"/>
          </a:solidFill>
          <a:ln w="12700">
            <a:solidFill>
              <a:srgbClr val="DCE4F5"/>
            </a:solidFill>
            <a:prstDash val="solid"/>
          </a:ln>
        </p:spPr>
      </p:sp>
      <p:sp>
        <p:nvSpPr>
          <p:cNvPr id="56" name="Text 54"/>
          <p:cNvSpPr/>
          <p:nvPr/>
        </p:nvSpPr>
        <p:spPr>
          <a:xfrm>
            <a:off x="9528048" y="2935224"/>
            <a:ext cx="2276856" cy="201168"/>
          </a:xfrm>
          <a:prstGeom prst="rect">
            <a:avLst/>
          </a:prstGeom>
          <a:noFill/>
          <a:ln/>
        </p:spPr>
        <p:txBody>
          <a:bodyPr wrap="square" rtlCol="0" anchor="ctr"/>
          <a:lstStyle/>
          <a:p>
            <a:pPr indent="0" marL="0">
              <a:buNone/>
            </a:pPr>
            <a:r>
              <a:rPr lang="en-US" sz="850" b="1" spc="110" kern="0" dirty="0">
                <a:solidFill>
                  <a:srgbClr val="F96806"/>
                </a:solidFill>
                <a:latin typeface="Calibri" pitchFamily="34" charset="0"/>
                <a:ea typeface="Calibri" pitchFamily="34" charset="-122"/>
                <a:cs typeface="Calibri" pitchFamily="34" charset="-120"/>
              </a:rPr>
              <a:t>DATA SOURCE  ·  CDP</a:t>
            </a:r>
            <a:endParaRPr lang="en-US" sz="850" dirty="0"/>
          </a:p>
        </p:txBody>
      </p:sp>
      <p:sp>
        <p:nvSpPr>
          <p:cNvPr id="57" name="Shape 55"/>
          <p:cNvSpPr/>
          <p:nvPr/>
        </p:nvSpPr>
        <p:spPr>
          <a:xfrm>
            <a:off x="9509760" y="3145536"/>
            <a:ext cx="2313432" cy="1042416"/>
          </a:xfrm>
          <a:prstGeom prst="roundRect">
            <a:avLst>
              <a:gd name="adj" fmla="val 4386"/>
            </a:avLst>
          </a:prstGeom>
          <a:solidFill>
            <a:srgbClr val="1861F5"/>
          </a:solidFill>
          <a:ln w="12700">
            <a:solidFill>
              <a:srgbClr val="C3CFE8"/>
            </a:solidFill>
            <a:prstDash val="solid"/>
          </a:ln>
        </p:spPr>
      </p:sp>
      <p:sp>
        <p:nvSpPr>
          <p:cNvPr id="58" name="Text 56"/>
          <p:cNvSpPr/>
          <p:nvPr/>
        </p:nvSpPr>
        <p:spPr>
          <a:xfrm>
            <a:off x="9619488" y="3200400"/>
            <a:ext cx="2093976" cy="201168"/>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Spark CDP over ODBC</a:t>
            </a:r>
            <a:endParaRPr lang="en-US" sz="950" dirty="0"/>
          </a:p>
        </p:txBody>
      </p:sp>
      <p:sp>
        <p:nvSpPr>
          <p:cNvPr id="59" name="Text 57"/>
          <p:cNvSpPr/>
          <p:nvPr/>
        </p:nvSpPr>
        <p:spPr>
          <a:xfrm>
            <a:off x="9619488" y="3401568"/>
            <a:ext cx="2093976" cy="731520"/>
          </a:xfrm>
          <a:prstGeom prst="rect">
            <a:avLst/>
          </a:prstGeom>
          <a:noFill/>
          <a:ln/>
        </p:spPr>
        <p:txBody>
          <a:bodyPr wrap="square" rtlCol="0" anchor="t"/>
          <a:lstStyle/>
          <a:p>
            <a:pPr indent="0" marL="0">
              <a:lnSpc>
                <a:spcPts val="950"/>
              </a:lnSpc>
              <a:buNone/>
            </a:pPr>
            <a:r>
              <a:rPr lang="en-US" sz="750" dirty="0">
                <a:solidFill>
                  <a:srgbClr val="D6E2FB"/>
                </a:solidFill>
                <a:latin typeface="Calibri" pitchFamily="34" charset="0"/>
                <a:ea typeface="Calibri" pitchFamily="34" charset="-122"/>
                <a:cs typeface="Calibri" pitchFamily="34" charset="-120"/>
              </a:rPr>
              <a:t>analytic · core schemas</a:t>
            </a:r>
            <a:endParaRPr lang="en-US" sz="750" dirty="0"/>
          </a:p>
          <a:p>
            <a:pPr indent="0" marL="0">
              <a:lnSpc>
                <a:spcPts val="950"/>
              </a:lnSpc>
              <a:buNone/>
            </a:pPr>
            <a:endParaRPr lang="en-US" sz="750" dirty="0"/>
          </a:p>
          <a:p>
            <a:pPr indent="0" marL="0">
              <a:lnSpc>
                <a:spcPts val="950"/>
              </a:lnSpc>
              <a:buNone/>
            </a:pPr>
            <a:r>
              <a:rPr lang="en-US" sz="750" dirty="0">
                <a:solidFill>
                  <a:srgbClr val="D6E2FB"/>
                </a:solidFill>
                <a:latin typeface="Calibri" pitchFamily="34" charset="0"/>
                <a:ea typeface="Calibri" pitchFamily="34" charset="-122"/>
                <a:cs typeface="Calibri" pitchFamily="34" charset="-120"/>
              </a:rPr>
              <a:t>orders · order lines</a:t>
            </a:r>
            <a:endParaRPr lang="en-US" sz="750" dirty="0"/>
          </a:p>
          <a:p>
            <a:pPr indent="0" marL="0">
              <a:lnSpc>
                <a:spcPts val="950"/>
              </a:lnSpc>
              <a:buNone/>
            </a:pPr>
            <a:r>
              <a:rPr lang="en-US" sz="750" dirty="0">
                <a:solidFill>
                  <a:srgbClr val="D6E2FB"/>
                </a:solidFill>
                <a:latin typeface="Calibri" pitchFamily="34" charset="0"/>
                <a:ea typeface="Calibri" pitchFamily="34" charset="-122"/>
                <a:cs typeface="Calibri" pitchFamily="34" charset="-120"/>
              </a:rPr>
              <a:t>subscriptions · marketing activity</a:t>
            </a:r>
            <a:endParaRPr lang="en-US" sz="750" dirty="0"/>
          </a:p>
          <a:p>
            <a:pPr indent="0" marL="0">
              <a:lnSpc>
                <a:spcPts val="950"/>
              </a:lnSpc>
              <a:buNone/>
            </a:pPr>
            <a:r>
              <a:rPr lang="en-US" sz="750" dirty="0">
                <a:solidFill>
                  <a:srgbClr val="D6E2FB"/>
                </a:solidFill>
                <a:latin typeface="Calibri" pitchFamily="34" charset="0"/>
                <a:ea typeface="Calibri" pitchFamily="34" charset="-122"/>
                <a:cs typeface="Calibri" pitchFamily="34" charset="-120"/>
              </a:rPr>
              <a:t>product · promotion cross-ref</a:t>
            </a:r>
            <a:endParaRPr lang="en-US" sz="750" dirty="0"/>
          </a:p>
        </p:txBody>
      </p:sp>
      <p:sp>
        <p:nvSpPr>
          <p:cNvPr id="60" name="Shape 58"/>
          <p:cNvSpPr/>
          <p:nvPr/>
        </p:nvSpPr>
        <p:spPr>
          <a:xfrm>
            <a:off x="9509760" y="4315968"/>
            <a:ext cx="2313432" cy="420624"/>
          </a:xfrm>
          <a:prstGeom prst="roundRect">
            <a:avLst>
              <a:gd name="adj" fmla="val 10870"/>
            </a:avLst>
          </a:prstGeom>
          <a:solidFill>
            <a:srgbClr val="FFFFFF"/>
          </a:solidFill>
          <a:ln w="12700">
            <a:solidFill>
              <a:srgbClr val="C3CFE8"/>
            </a:solidFill>
            <a:prstDash val="solid"/>
          </a:ln>
        </p:spPr>
      </p:sp>
      <p:sp>
        <p:nvSpPr>
          <p:cNvPr id="61" name="Text 59"/>
          <p:cNvSpPr/>
          <p:nvPr/>
        </p:nvSpPr>
        <p:spPr>
          <a:xfrm>
            <a:off x="9619488" y="4370832"/>
            <a:ext cx="2093976"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staging tables</a:t>
            </a:r>
            <a:endParaRPr lang="en-US" sz="950" dirty="0"/>
          </a:p>
        </p:txBody>
      </p:sp>
      <p:sp>
        <p:nvSpPr>
          <p:cNvPr id="62" name="Text 60"/>
          <p:cNvSpPr/>
          <p:nvPr/>
        </p:nvSpPr>
        <p:spPr>
          <a:xfrm>
            <a:off x="9619488" y="4572000"/>
            <a:ext cx="2093976" cy="109728"/>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server-side, one per variable</a:t>
            </a:r>
            <a:endParaRPr lang="en-US" sz="750" dirty="0"/>
          </a:p>
        </p:txBody>
      </p:sp>
      <p:sp>
        <p:nvSpPr>
          <p:cNvPr id="63" name="Shape 61"/>
          <p:cNvSpPr/>
          <p:nvPr/>
        </p:nvSpPr>
        <p:spPr>
          <a:xfrm>
            <a:off x="9509760" y="4809744"/>
            <a:ext cx="2313432" cy="420624"/>
          </a:xfrm>
          <a:prstGeom prst="roundRect">
            <a:avLst>
              <a:gd name="adj" fmla="val 10870"/>
            </a:avLst>
          </a:prstGeom>
          <a:solidFill>
            <a:srgbClr val="FFFFFF"/>
          </a:solidFill>
          <a:ln w="12700">
            <a:solidFill>
              <a:srgbClr val="C3CFE8"/>
            </a:solidFill>
            <a:prstDash val="solid"/>
          </a:ln>
        </p:spPr>
      </p:sp>
      <p:sp>
        <p:nvSpPr>
          <p:cNvPr id="64" name="Text 62"/>
          <p:cNvSpPr/>
          <p:nvPr/>
        </p:nvSpPr>
        <p:spPr>
          <a:xfrm>
            <a:off x="9619488" y="4864608"/>
            <a:ext cx="2093976" cy="201168"/>
          </a:xfrm>
          <a:prstGeom prst="rect">
            <a:avLst/>
          </a:prstGeom>
          <a:noFill/>
          <a:ln/>
        </p:spPr>
        <p:txBody>
          <a:bodyPr wrap="square" rtlCol="0" anchor="ctr"/>
          <a:lstStyle/>
          <a:p>
            <a:pPr indent="0" marL="0">
              <a:buNone/>
            </a:pPr>
            <a:r>
              <a:rPr lang="en-US" sz="950" b="1" dirty="0">
                <a:solidFill>
                  <a:srgbClr val="1A288E"/>
                </a:solidFill>
                <a:latin typeface="Calibri" pitchFamily="34" charset="0"/>
                <a:ea typeface="Calibri" pitchFamily="34" charset="-122"/>
                <a:cs typeface="Calibri" pitchFamily="34" charset="-120"/>
              </a:rPr>
              <a:t>audience log</a:t>
            </a:r>
            <a:endParaRPr lang="en-US" sz="950" dirty="0"/>
          </a:p>
        </p:txBody>
      </p:sp>
      <p:sp>
        <p:nvSpPr>
          <p:cNvPr id="65" name="Text 63"/>
          <p:cNvSpPr/>
          <p:nvPr/>
        </p:nvSpPr>
        <p:spPr>
          <a:xfrm>
            <a:off x="9619488" y="5065776"/>
            <a:ext cx="2093976" cy="109728"/>
          </a:xfrm>
          <a:prstGeom prst="rect">
            <a:avLst/>
          </a:prstGeom>
          <a:noFill/>
          <a:ln/>
        </p:spPr>
        <p:txBody>
          <a:bodyPr wrap="square" rtlCol="0" anchor="t"/>
          <a:lstStyle/>
          <a:p>
            <a:pPr indent="0" marL="0">
              <a:lnSpc>
                <a:spcPts val="950"/>
              </a:lnSpc>
              <a:buNone/>
            </a:pPr>
            <a:r>
              <a:rPr lang="en-US" sz="750" dirty="0">
                <a:solidFill>
                  <a:srgbClr val="5B6577"/>
                </a:solidFill>
                <a:latin typeface="Calibri" pitchFamily="34" charset="0"/>
                <a:ea typeface="Calibri" pitchFamily="34" charset="-122"/>
                <a:cs typeface="Calibri" pitchFamily="34" charset="-120"/>
              </a:rPr>
              <a:t>keycode + source-ID filter</a:t>
            </a:r>
            <a:endParaRPr lang="en-US" sz="750" dirty="0"/>
          </a:p>
        </p:txBody>
      </p:sp>
      <p:sp>
        <p:nvSpPr>
          <p:cNvPr id="66" name="Shape 64"/>
          <p:cNvSpPr/>
          <p:nvPr/>
        </p:nvSpPr>
        <p:spPr>
          <a:xfrm>
            <a:off x="9107424" y="3664915"/>
            <a:ext cx="274320" cy="21946"/>
          </a:xfrm>
          <a:prstGeom prst="rect">
            <a:avLst/>
          </a:prstGeom>
          <a:solidFill>
            <a:srgbClr val="8FA6D9"/>
          </a:solidFill>
          <a:ln/>
        </p:spPr>
      </p:sp>
      <p:sp>
        <p:nvSpPr>
          <p:cNvPr id="67" name="Text 65"/>
          <p:cNvSpPr/>
          <p:nvPr/>
        </p:nvSpPr>
        <p:spPr>
          <a:xfrm>
            <a:off x="9208008" y="3602736"/>
            <a:ext cx="201168" cy="164592"/>
          </a:xfrm>
          <a:prstGeom prst="rect">
            <a:avLst/>
          </a:prstGeom>
          <a:noFill/>
          <a:ln/>
        </p:spPr>
        <p:txBody>
          <a:bodyPr wrap="square" rtlCol="0" anchor="ctr"/>
          <a:lstStyle/>
          <a:p>
            <a:pPr algn="ctr" indent="0" marL="0">
              <a:buNone/>
            </a:pPr>
            <a:r>
              <a:rPr lang="en-US" sz="900" b="1" dirty="0">
                <a:solidFill>
                  <a:srgbClr val="8FA6D9"/>
                </a:solidFill>
                <a:latin typeface="Calibri" pitchFamily="34" charset="0"/>
                <a:ea typeface="Calibri" pitchFamily="34" charset="-122"/>
                <a:cs typeface="Calibri" pitchFamily="34" charset="-120"/>
              </a:rPr>
              <a:t>▶</a:t>
            </a:r>
            <a:endParaRPr lang="en-US" sz="900" dirty="0"/>
          </a:p>
        </p:txBody>
      </p:sp>
      <p:sp>
        <p:nvSpPr>
          <p:cNvPr id="68" name="Shape 66"/>
          <p:cNvSpPr/>
          <p:nvPr/>
        </p:nvSpPr>
        <p:spPr>
          <a:xfrm>
            <a:off x="9107424" y="3920947"/>
            <a:ext cx="274320" cy="21946"/>
          </a:xfrm>
          <a:prstGeom prst="rect">
            <a:avLst/>
          </a:prstGeom>
          <a:solidFill>
            <a:srgbClr val="8FA6D9"/>
          </a:solidFill>
          <a:ln/>
        </p:spPr>
      </p:sp>
      <p:sp>
        <p:nvSpPr>
          <p:cNvPr id="69" name="Text 67"/>
          <p:cNvSpPr/>
          <p:nvPr/>
        </p:nvSpPr>
        <p:spPr>
          <a:xfrm>
            <a:off x="9079992" y="3858768"/>
            <a:ext cx="201168" cy="164592"/>
          </a:xfrm>
          <a:prstGeom prst="rect">
            <a:avLst/>
          </a:prstGeom>
          <a:noFill/>
          <a:ln/>
        </p:spPr>
        <p:txBody>
          <a:bodyPr wrap="square" rtlCol="0" anchor="ctr"/>
          <a:lstStyle/>
          <a:p>
            <a:pPr algn="ctr" indent="0" marL="0">
              <a:buNone/>
            </a:pPr>
            <a:r>
              <a:rPr lang="en-US" sz="900" b="1" dirty="0">
                <a:solidFill>
                  <a:srgbClr val="8FA6D9"/>
                </a:solidFill>
                <a:latin typeface="Calibri" pitchFamily="34" charset="0"/>
                <a:ea typeface="Calibri" pitchFamily="34" charset="-122"/>
                <a:cs typeface="Calibri" pitchFamily="34" charset="-120"/>
              </a:rPr>
              <a:t>◀</a:t>
            </a:r>
            <a:endParaRPr lang="en-US" sz="900" dirty="0"/>
          </a:p>
        </p:txBody>
      </p:sp>
      <p:sp>
        <p:nvSpPr>
          <p:cNvPr id="70" name="Shape 68"/>
          <p:cNvSpPr/>
          <p:nvPr/>
        </p:nvSpPr>
        <p:spPr>
          <a:xfrm>
            <a:off x="237744" y="5422392"/>
            <a:ext cx="11713464" cy="758952"/>
          </a:xfrm>
          <a:prstGeom prst="rect">
            <a:avLst/>
          </a:prstGeom>
          <a:solidFill>
            <a:srgbClr val="1A288E"/>
          </a:solidFill>
          <a:ln/>
        </p:spPr>
      </p:sp>
      <p:sp>
        <p:nvSpPr>
          <p:cNvPr id="71" name="Text 69"/>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WHY TWO NEW FILES RATHER THAN EDITS TO FIVE</a:t>
            </a:r>
            <a:endParaRPr lang="en-US" sz="900" dirty="0"/>
          </a:p>
        </p:txBody>
      </p:sp>
      <p:sp>
        <p:nvSpPr>
          <p:cNvPr id="72" name="Text 70"/>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Every platform difference lives in the bridges. The original library stays legacy logic — the client's code remains recognisably theirs, and every CDP accommodation sits in one reviewable place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BRIDGE FILE 1 OF 2</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compat_bridge.sas — The Name and Join Translator</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Legacy recipes reference column names that no longer exist on the CDP. Rather than rewrite 500+ recipe calls, this file intercepts every name at run time and returns the CDP equivalent</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38528"/>
            <a:ext cx="3749040" cy="54864"/>
          </a:xfrm>
          <a:prstGeom prst="rect">
            <a:avLst/>
          </a:prstGeom>
          <a:solidFill>
            <a:srgbClr val="F96806"/>
          </a:solidFill>
          <a:ln/>
        </p:spPr>
      </p:sp>
      <p:sp>
        <p:nvSpPr>
          <p:cNvPr id="8" name="Shape 6"/>
          <p:cNvSpPr/>
          <p:nvPr/>
        </p:nvSpPr>
        <p:spPr>
          <a:xfrm>
            <a:off x="237744" y="1993392"/>
            <a:ext cx="3749040" cy="3163824"/>
          </a:xfrm>
          <a:prstGeom prst="rect">
            <a:avLst/>
          </a:prstGeom>
          <a:solidFill>
            <a:srgbClr val="F2F5FC"/>
          </a:solidFill>
          <a:ln/>
        </p:spPr>
      </p:sp>
      <p:sp>
        <p:nvSpPr>
          <p:cNvPr id="9" name="Text 7"/>
          <p:cNvSpPr/>
          <p:nvPr/>
        </p:nvSpPr>
        <p:spPr>
          <a:xfrm>
            <a:off x="420624" y="2103120"/>
            <a:ext cx="3383280" cy="201168"/>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WHY IT WAS CREATED</a:t>
            </a:r>
            <a:endParaRPr lang="en-US" sz="900" dirty="0"/>
          </a:p>
        </p:txBody>
      </p:sp>
      <p:sp>
        <p:nvSpPr>
          <p:cNvPr id="10" name="Text 8"/>
          <p:cNvSpPr/>
          <p:nvPr/>
        </p:nvSpPr>
        <p:spPr>
          <a:xfrm>
            <a:off x="420624" y="2359152"/>
            <a:ext cx="338328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The problem</a:t>
            </a:r>
            <a:endParaRPr lang="en-US" sz="1050" dirty="0"/>
          </a:p>
        </p:txBody>
      </p:sp>
      <p:sp>
        <p:nvSpPr>
          <p:cNvPr id="11" name="Text 9"/>
          <p:cNvSpPr/>
          <p:nvPr/>
        </p:nvSpPr>
        <p:spPr>
          <a:xfrm>
            <a:off x="420624" y="2569464"/>
            <a:ext cx="3383280" cy="694944"/>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The CDP renamed core columns and re-typed others. Recipes sent legacy names that did not exist, and joins failed to resolve — the source of most of the ~5K errors.</a:t>
            </a:r>
            <a:endParaRPr lang="en-US" sz="950" dirty="0"/>
          </a:p>
        </p:txBody>
      </p:sp>
      <p:sp>
        <p:nvSpPr>
          <p:cNvPr id="12" name="Text 10"/>
          <p:cNvSpPr/>
          <p:nvPr/>
        </p:nvSpPr>
        <p:spPr>
          <a:xfrm>
            <a:off x="420624" y="3291840"/>
            <a:ext cx="338328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The alternative rejected</a:t>
            </a:r>
            <a:endParaRPr lang="en-US" sz="1050" dirty="0"/>
          </a:p>
        </p:txBody>
      </p:sp>
      <p:sp>
        <p:nvSpPr>
          <p:cNvPr id="13" name="Text 11"/>
          <p:cNvSpPr/>
          <p:nvPr/>
        </p:nvSpPr>
        <p:spPr>
          <a:xfrm>
            <a:off x="420624" y="3502152"/>
            <a:ext cx="3383280" cy="694944"/>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Editing every recipe would have made the client's code unrecognisable and put each working variable at risk.</a:t>
            </a:r>
            <a:endParaRPr lang="en-US" sz="950" dirty="0"/>
          </a:p>
        </p:txBody>
      </p:sp>
      <p:sp>
        <p:nvSpPr>
          <p:cNvPr id="14" name="Text 12"/>
          <p:cNvSpPr/>
          <p:nvPr/>
        </p:nvSpPr>
        <p:spPr>
          <a:xfrm>
            <a:off x="420624" y="4224528"/>
            <a:ext cx="338328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How we found it</a:t>
            </a:r>
            <a:endParaRPr lang="en-US" sz="1050" dirty="0"/>
          </a:p>
        </p:txBody>
      </p:sp>
      <p:sp>
        <p:nvSpPr>
          <p:cNvPr id="15" name="Text 13"/>
          <p:cNvSpPr/>
          <p:nvPr/>
        </p:nvSpPr>
        <p:spPr>
          <a:xfrm>
            <a:off x="420624" y="4434840"/>
            <a:ext cx="3383280" cy="694944"/>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The emitted SQL in the run log showed literal legacy names reaching the CDP, where no such columns existed.</a:t>
            </a:r>
            <a:endParaRPr lang="en-US" sz="950" dirty="0"/>
          </a:p>
        </p:txBody>
      </p:sp>
      <p:sp>
        <p:nvSpPr>
          <p:cNvPr id="16" name="Shape 14"/>
          <p:cNvSpPr/>
          <p:nvPr/>
        </p:nvSpPr>
        <p:spPr>
          <a:xfrm>
            <a:off x="4224528" y="1938528"/>
            <a:ext cx="3749040" cy="54864"/>
          </a:xfrm>
          <a:prstGeom prst="rect">
            <a:avLst/>
          </a:prstGeom>
          <a:solidFill>
            <a:srgbClr val="1861F5"/>
          </a:solidFill>
          <a:ln/>
        </p:spPr>
      </p:sp>
      <p:sp>
        <p:nvSpPr>
          <p:cNvPr id="17" name="Shape 15"/>
          <p:cNvSpPr/>
          <p:nvPr/>
        </p:nvSpPr>
        <p:spPr>
          <a:xfrm>
            <a:off x="4224528" y="1993392"/>
            <a:ext cx="3749040" cy="3163824"/>
          </a:xfrm>
          <a:prstGeom prst="rect">
            <a:avLst/>
          </a:prstGeom>
          <a:solidFill>
            <a:srgbClr val="F2F5FC"/>
          </a:solidFill>
          <a:ln/>
        </p:spPr>
      </p:sp>
      <p:sp>
        <p:nvSpPr>
          <p:cNvPr id="18" name="Text 16"/>
          <p:cNvSpPr/>
          <p:nvPr/>
        </p:nvSpPr>
        <p:spPr>
          <a:xfrm>
            <a:off x="4407408" y="2103120"/>
            <a:ext cx="3383280" cy="201168"/>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WHAT IT CONTAINS</a:t>
            </a:r>
            <a:endParaRPr lang="en-US" sz="900" dirty="0"/>
          </a:p>
        </p:txBody>
      </p:sp>
      <p:sp>
        <p:nvSpPr>
          <p:cNvPr id="19" name="Shape 17"/>
          <p:cNvSpPr/>
          <p:nvPr/>
        </p:nvSpPr>
        <p:spPr>
          <a:xfrm>
            <a:off x="4407408" y="2340864"/>
            <a:ext cx="1783080" cy="219456"/>
          </a:xfrm>
          <a:prstGeom prst="rect">
            <a:avLst/>
          </a:prstGeom>
          <a:solidFill>
            <a:srgbClr val="E3EAFB"/>
          </a:solidFill>
          <a:ln/>
        </p:spPr>
      </p:sp>
      <p:sp>
        <p:nvSpPr>
          <p:cNvPr id="20" name="Text 18"/>
          <p:cNvSpPr/>
          <p:nvPr/>
        </p:nvSpPr>
        <p:spPr>
          <a:xfrm>
            <a:off x="4462272" y="2359152"/>
            <a:ext cx="1691640" cy="182880"/>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Column mapper</a:t>
            </a:r>
            <a:endParaRPr lang="en-US" sz="850" dirty="0"/>
          </a:p>
        </p:txBody>
      </p:sp>
      <p:sp>
        <p:nvSpPr>
          <p:cNvPr id="21" name="Text 19"/>
          <p:cNvSpPr/>
          <p:nvPr/>
        </p:nvSpPr>
        <p:spPr>
          <a:xfrm>
            <a:off x="4407408" y="2596896"/>
            <a:ext cx="3383280" cy="457200"/>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Per-table legacy→CDP name lookup. Unknown names pass through unchanged — zero risk to anything not listed.</a:t>
            </a:r>
            <a:endParaRPr lang="en-US" sz="900" dirty="0"/>
          </a:p>
        </p:txBody>
      </p:sp>
      <p:sp>
        <p:nvSpPr>
          <p:cNvPr id="22" name="Shape 20"/>
          <p:cNvSpPr/>
          <p:nvPr/>
        </p:nvSpPr>
        <p:spPr>
          <a:xfrm>
            <a:off x="4407408" y="3054096"/>
            <a:ext cx="1783080" cy="219456"/>
          </a:xfrm>
          <a:prstGeom prst="rect">
            <a:avLst/>
          </a:prstGeom>
          <a:solidFill>
            <a:srgbClr val="E3EAFB"/>
          </a:solidFill>
          <a:ln/>
        </p:spPr>
      </p:sp>
      <p:sp>
        <p:nvSpPr>
          <p:cNvPr id="23" name="Text 21"/>
          <p:cNvSpPr/>
          <p:nvPr/>
        </p:nvSpPr>
        <p:spPr>
          <a:xfrm>
            <a:off x="4462272" y="3072384"/>
            <a:ext cx="1691640" cy="182880"/>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Join wrappers</a:t>
            </a:r>
            <a:endParaRPr lang="en-US" sz="850" dirty="0"/>
          </a:p>
        </p:txBody>
      </p:sp>
      <p:sp>
        <p:nvSpPr>
          <p:cNvPr id="24" name="Text 22"/>
          <p:cNvSpPr/>
          <p:nvPr/>
        </p:nvSpPr>
        <p:spPr>
          <a:xfrm>
            <a:off x="4407408" y="3310128"/>
            <a:ext cx="3383280" cy="457200"/>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Override the engine's join builders so both sides of every join resolve through the mapper.</a:t>
            </a:r>
            <a:endParaRPr lang="en-US" sz="900" dirty="0"/>
          </a:p>
        </p:txBody>
      </p:sp>
      <p:sp>
        <p:nvSpPr>
          <p:cNvPr id="25" name="Shape 23"/>
          <p:cNvSpPr/>
          <p:nvPr/>
        </p:nvSpPr>
        <p:spPr>
          <a:xfrm>
            <a:off x="4407408" y="3767328"/>
            <a:ext cx="1783080" cy="219456"/>
          </a:xfrm>
          <a:prstGeom prst="rect">
            <a:avLst/>
          </a:prstGeom>
          <a:solidFill>
            <a:srgbClr val="E3EAFB"/>
          </a:solidFill>
          <a:ln/>
        </p:spPr>
      </p:sp>
      <p:sp>
        <p:nvSpPr>
          <p:cNvPr id="26" name="Text 24"/>
          <p:cNvSpPr/>
          <p:nvPr/>
        </p:nvSpPr>
        <p:spPr>
          <a:xfrm>
            <a:off x="4462272" y="3785616"/>
            <a:ext cx="1691640" cy="182880"/>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Value quoting</a:t>
            </a:r>
            <a:endParaRPr lang="en-US" sz="850" dirty="0"/>
          </a:p>
        </p:txBody>
      </p:sp>
      <p:sp>
        <p:nvSpPr>
          <p:cNvPr id="27" name="Text 25"/>
          <p:cNvSpPr/>
          <p:nvPr/>
        </p:nvSpPr>
        <p:spPr>
          <a:xfrm>
            <a:off x="4407408" y="4023360"/>
            <a:ext cx="3383280" cy="457200"/>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Numeric-looking values compared with character columns are quoted automatically.</a:t>
            </a:r>
            <a:endParaRPr lang="en-US" sz="900" dirty="0"/>
          </a:p>
        </p:txBody>
      </p:sp>
      <p:sp>
        <p:nvSpPr>
          <p:cNvPr id="28" name="Shape 26"/>
          <p:cNvSpPr/>
          <p:nvPr/>
        </p:nvSpPr>
        <p:spPr>
          <a:xfrm>
            <a:off x="4407408" y="4480560"/>
            <a:ext cx="1783080" cy="219456"/>
          </a:xfrm>
          <a:prstGeom prst="rect">
            <a:avLst/>
          </a:prstGeom>
          <a:solidFill>
            <a:srgbClr val="E3EAFB"/>
          </a:solidFill>
          <a:ln/>
        </p:spPr>
      </p:sp>
      <p:sp>
        <p:nvSpPr>
          <p:cNvPr id="29" name="Text 27"/>
          <p:cNvSpPr/>
          <p:nvPr/>
        </p:nvSpPr>
        <p:spPr>
          <a:xfrm>
            <a:off x="4462272" y="4498848"/>
            <a:ext cx="1691640" cy="182880"/>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Lookups &amp; recipes</a:t>
            </a:r>
            <a:endParaRPr lang="en-US" sz="850" dirty="0"/>
          </a:p>
        </p:txBody>
      </p:sp>
      <p:sp>
        <p:nvSpPr>
          <p:cNvPr id="30" name="Text 28"/>
          <p:cNvSpPr/>
          <p:nvPr/>
        </p:nvSpPr>
        <p:spPr>
          <a:xfrm>
            <a:off x="4407408" y="4736592"/>
            <a:ext cx="3383280" cy="457200"/>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Product-key refresh lookup and a dedicated two-field date recipe live here too.</a:t>
            </a:r>
            <a:endParaRPr lang="en-US" sz="900" dirty="0"/>
          </a:p>
        </p:txBody>
      </p:sp>
      <p:sp>
        <p:nvSpPr>
          <p:cNvPr id="31" name="Shape 29"/>
          <p:cNvSpPr/>
          <p:nvPr/>
        </p:nvSpPr>
        <p:spPr>
          <a:xfrm>
            <a:off x="8211312" y="1938528"/>
            <a:ext cx="3739896" cy="54864"/>
          </a:xfrm>
          <a:prstGeom prst="rect">
            <a:avLst/>
          </a:prstGeom>
          <a:solidFill>
            <a:srgbClr val="2C8A4B"/>
          </a:solidFill>
          <a:ln/>
        </p:spPr>
      </p:sp>
      <p:sp>
        <p:nvSpPr>
          <p:cNvPr id="32" name="Shape 30"/>
          <p:cNvSpPr/>
          <p:nvPr/>
        </p:nvSpPr>
        <p:spPr>
          <a:xfrm>
            <a:off x="8211312" y="1993392"/>
            <a:ext cx="3739896" cy="3163824"/>
          </a:xfrm>
          <a:prstGeom prst="rect">
            <a:avLst/>
          </a:prstGeom>
          <a:solidFill>
            <a:srgbClr val="1A288E"/>
          </a:solidFill>
          <a:ln/>
        </p:spPr>
      </p:sp>
      <p:sp>
        <p:nvSpPr>
          <p:cNvPr id="33" name="Text 31"/>
          <p:cNvSpPr/>
          <p:nvPr/>
        </p:nvSpPr>
        <p:spPr>
          <a:xfrm>
            <a:off x="8394192" y="2103120"/>
            <a:ext cx="3383280" cy="201168"/>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POST-IMPLEMENTATION EFFECT</a:t>
            </a:r>
            <a:endParaRPr lang="en-US" sz="900" dirty="0"/>
          </a:p>
        </p:txBody>
      </p:sp>
      <p:sp>
        <p:nvSpPr>
          <p:cNvPr id="34" name="Text 32"/>
          <p:cNvSpPr/>
          <p:nvPr/>
        </p:nvSpPr>
        <p:spPr>
          <a:xfrm>
            <a:off x="8394192" y="2377440"/>
            <a:ext cx="685800" cy="292608"/>
          </a:xfrm>
          <a:prstGeom prst="rect">
            <a:avLst/>
          </a:prstGeom>
          <a:noFill/>
          <a:ln/>
        </p:spPr>
        <p:txBody>
          <a:bodyPr wrap="square" rtlCol="0" anchor="ctr"/>
          <a:lstStyle/>
          <a:p>
            <a:pPr indent="0" marL="0">
              <a:buNone/>
            </a:pPr>
            <a:r>
              <a:rPr lang="en-US" sz="1700" b="1" dirty="0">
                <a:solidFill>
                  <a:srgbClr val="F96806"/>
                </a:solidFill>
                <a:latin typeface="Calibri" pitchFamily="34" charset="0"/>
                <a:ea typeface="Calibri" pitchFamily="34" charset="-122"/>
                <a:cs typeface="Calibri" pitchFamily="34" charset="-120"/>
              </a:rPr>
              <a:t>+79</a:t>
            </a:r>
            <a:endParaRPr lang="en-US" sz="1700" dirty="0"/>
          </a:p>
        </p:txBody>
      </p:sp>
      <p:sp>
        <p:nvSpPr>
          <p:cNvPr id="35" name="Text 33"/>
          <p:cNvSpPr/>
          <p:nvPr/>
        </p:nvSpPr>
        <p:spPr>
          <a:xfrm>
            <a:off x="9125712" y="2395728"/>
            <a:ext cx="2697480" cy="603504"/>
          </a:xfrm>
          <a:prstGeom prst="rect">
            <a:avLst/>
          </a:prstGeom>
          <a:noFill/>
          <a:ln/>
        </p:spPr>
        <p:txBody>
          <a:bodyPr wrap="square"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promotion variables restored when an incorrect key rewrite was removed</a:t>
            </a:r>
            <a:endParaRPr lang="en-US" sz="950" dirty="0"/>
          </a:p>
        </p:txBody>
      </p:sp>
      <p:sp>
        <p:nvSpPr>
          <p:cNvPr id="36" name="Text 34"/>
          <p:cNvSpPr/>
          <p:nvPr/>
        </p:nvSpPr>
        <p:spPr>
          <a:xfrm>
            <a:off x="8394192" y="3054096"/>
            <a:ext cx="685800" cy="292608"/>
          </a:xfrm>
          <a:prstGeom prst="rect">
            <a:avLst/>
          </a:prstGeom>
          <a:noFill/>
          <a:ln/>
        </p:spPr>
        <p:txBody>
          <a:bodyPr wrap="square" rtlCol="0" anchor="ctr"/>
          <a:lstStyle/>
          <a:p>
            <a:pPr indent="0" marL="0">
              <a:buNone/>
            </a:pPr>
            <a:r>
              <a:rPr lang="en-US" sz="1700" b="1" dirty="0">
                <a:solidFill>
                  <a:srgbClr val="F96806"/>
                </a:solidFill>
                <a:latin typeface="Calibri" pitchFamily="34" charset="0"/>
                <a:ea typeface="Calibri" pitchFamily="34" charset="-122"/>
                <a:cs typeface="Calibri" pitchFamily="34" charset="-120"/>
              </a:rPr>
              <a:t>+27</a:t>
            </a:r>
            <a:endParaRPr lang="en-US" sz="1700" dirty="0"/>
          </a:p>
        </p:txBody>
      </p:sp>
      <p:sp>
        <p:nvSpPr>
          <p:cNvPr id="37" name="Text 35"/>
          <p:cNvSpPr/>
          <p:nvPr/>
        </p:nvSpPr>
        <p:spPr>
          <a:xfrm>
            <a:off x="9125712" y="3072384"/>
            <a:ext cx="2697480" cy="603504"/>
          </a:xfrm>
          <a:prstGeom prst="rect">
            <a:avLst/>
          </a:prstGeom>
          <a:noFill/>
          <a:ln/>
        </p:spPr>
        <p:txBody>
          <a:bodyPr wrap="square"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affinity variables recovered when one product-code mapping was corrected</a:t>
            </a:r>
            <a:endParaRPr lang="en-US" sz="950" dirty="0"/>
          </a:p>
        </p:txBody>
      </p:sp>
      <p:sp>
        <p:nvSpPr>
          <p:cNvPr id="38" name="Text 36"/>
          <p:cNvSpPr/>
          <p:nvPr/>
        </p:nvSpPr>
        <p:spPr>
          <a:xfrm>
            <a:off x="8394192" y="3730752"/>
            <a:ext cx="685800" cy="292608"/>
          </a:xfrm>
          <a:prstGeom prst="rect">
            <a:avLst/>
          </a:prstGeom>
          <a:noFill/>
          <a:ln/>
        </p:spPr>
        <p:txBody>
          <a:bodyPr wrap="square" rtlCol="0" anchor="ctr"/>
          <a:lstStyle/>
          <a:p>
            <a:pPr indent="0" marL="0">
              <a:buNone/>
            </a:pPr>
            <a:r>
              <a:rPr lang="en-US" sz="1700" b="1" dirty="0">
                <a:solidFill>
                  <a:srgbClr val="F96806"/>
                </a:solidFill>
                <a:latin typeface="Calibri" pitchFamily="34" charset="0"/>
                <a:ea typeface="Calibri" pitchFamily="34" charset="-122"/>
                <a:cs typeface="Calibri" pitchFamily="34" charset="-120"/>
              </a:rPr>
              <a:t>+2</a:t>
            </a:r>
            <a:endParaRPr lang="en-US" sz="1700" dirty="0"/>
          </a:p>
        </p:txBody>
      </p:sp>
      <p:sp>
        <p:nvSpPr>
          <p:cNvPr id="39" name="Text 37"/>
          <p:cNvSpPr/>
          <p:nvPr/>
        </p:nvSpPr>
        <p:spPr>
          <a:xfrm>
            <a:off x="9125712" y="3749040"/>
            <a:ext cx="2697480" cy="603504"/>
          </a:xfrm>
          <a:prstGeom prst="rect">
            <a:avLst/>
          </a:prstGeom>
          <a:noFill/>
          <a:ln/>
        </p:spPr>
        <p:txBody>
          <a:bodyPr wrap="square"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promotion variables closed via a refreshed product-key lookup</a:t>
            </a:r>
            <a:endParaRPr lang="en-US" sz="950" dirty="0"/>
          </a:p>
        </p:txBody>
      </p:sp>
      <p:sp>
        <p:nvSpPr>
          <p:cNvPr id="40" name="Text 38"/>
          <p:cNvSpPr/>
          <p:nvPr/>
        </p:nvSpPr>
        <p:spPr>
          <a:xfrm>
            <a:off x="8394192" y="4407408"/>
            <a:ext cx="685800" cy="292608"/>
          </a:xfrm>
          <a:prstGeom prst="rect">
            <a:avLst/>
          </a:prstGeom>
          <a:noFill/>
          <a:ln/>
        </p:spPr>
        <p:txBody>
          <a:bodyPr wrap="square" rtlCol="0" anchor="ctr"/>
          <a:lstStyle/>
          <a:p>
            <a:pPr indent="0" marL="0">
              <a:buNone/>
            </a:pPr>
            <a:r>
              <a:rPr lang="en-US" sz="1700" b="1" dirty="0">
                <a:solidFill>
                  <a:srgbClr val="F96806"/>
                </a:solidFill>
                <a:latin typeface="Calibri" pitchFamily="34" charset="0"/>
                <a:ea typeface="Calibri" pitchFamily="34" charset="-122"/>
                <a:cs typeface="Calibri" pitchFamily="34" charset="-120"/>
              </a:rPr>
              <a:t>0</a:t>
            </a:r>
            <a:endParaRPr lang="en-US" sz="1700" dirty="0"/>
          </a:p>
        </p:txBody>
      </p:sp>
      <p:sp>
        <p:nvSpPr>
          <p:cNvPr id="41" name="Text 39"/>
          <p:cNvSpPr/>
          <p:nvPr/>
        </p:nvSpPr>
        <p:spPr>
          <a:xfrm>
            <a:off x="9125712" y="4425696"/>
            <a:ext cx="2697480" cy="603504"/>
          </a:xfrm>
          <a:prstGeom prst="rect">
            <a:avLst/>
          </a:prstGeom>
          <a:noFill/>
          <a:ln/>
        </p:spPr>
        <p:txBody>
          <a:bodyPr wrap="square"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recipes rewritten to accommodate the platform</a:t>
            </a:r>
            <a:endParaRPr lang="en-US" sz="950" dirty="0"/>
          </a:p>
        </p:txBody>
      </p:sp>
      <p:sp>
        <p:nvSpPr>
          <p:cNvPr id="42" name="Shape 40"/>
          <p:cNvSpPr/>
          <p:nvPr/>
        </p:nvSpPr>
        <p:spPr>
          <a:xfrm>
            <a:off x="237744" y="5422392"/>
            <a:ext cx="11713464" cy="758952"/>
          </a:xfrm>
          <a:prstGeom prst="rect">
            <a:avLst/>
          </a:prstGeom>
          <a:solidFill>
            <a:srgbClr val="1A288E"/>
          </a:solidFill>
          <a:ln/>
        </p:spPr>
      </p:sp>
      <p:sp>
        <p:nvSpPr>
          <p:cNvPr id="43" name="Text 41"/>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BRIDGE PRINCIPLE</a:t>
            </a:r>
            <a:endParaRPr lang="en-US" sz="900" dirty="0"/>
          </a:p>
        </p:txBody>
      </p:sp>
      <p:sp>
        <p:nvSpPr>
          <p:cNvPr id="44" name="Text 42"/>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One file holds every naming difference between the platforms. Correcting a mapping there is a one-line, reviewable change that reaches every variable that depends on it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BRIDGE FILE 2 OF 2</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date_bridge.sas — The Date Semantics Guard</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The engine's date arithmetic assumed Oracle DATETIME values. The CDP returns several date types across the same columns, so conversion had to become type-aware before it could be trusted</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38528"/>
            <a:ext cx="3749040" cy="54864"/>
          </a:xfrm>
          <a:prstGeom prst="rect">
            <a:avLst/>
          </a:prstGeom>
          <a:solidFill>
            <a:srgbClr val="F96806"/>
          </a:solidFill>
          <a:ln/>
        </p:spPr>
      </p:sp>
      <p:sp>
        <p:nvSpPr>
          <p:cNvPr id="8" name="Shape 6"/>
          <p:cNvSpPr/>
          <p:nvPr/>
        </p:nvSpPr>
        <p:spPr>
          <a:xfrm>
            <a:off x="237744" y="1993392"/>
            <a:ext cx="3749040" cy="3163824"/>
          </a:xfrm>
          <a:prstGeom prst="rect">
            <a:avLst/>
          </a:prstGeom>
          <a:solidFill>
            <a:srgbClr val="F2F5FC"/>
          </a:solidFill>
          <a:ln/>
        </p:spPr>
      </p:sp>
      <p:sp>
        <p:nvSpPr>
          <p:cNvPr id="9" name="Text 7"/>
          <p:cNvSpPr/>
          <p:nvPr/>
        </p:nvSpPr>
        <p:spPr>
          <a:xfrm>
            <a:off x="420624" y="2103120"/>
            <a:ext cx="3383280" cy="201168"/>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WHY IT WAS CREATED</a:t>
            </a:r>
            <a:endParaRPr lang="en-US" sz="900" dirty="0"/>
          </a:p>
        </p:txBody>
      </p:sp>
      <p:sp>
        <p:nvSpPr>
          <p:cNvPr id="10" name="Text 8"/>
          <p:cNvSpPr/>
          <p:nvPr/>
        </p:nvSpPr>
        <p:spPr>
          <a:xfrm>
            <a:off x="420624" y="2359152"/>
            <a:ext cx="338328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The problem</a:t>
            </a:r>
            <a:endParaRPr lang="en-US" sz="1050" dirty="0"/>
          </a:p>
        </p:txBody>
      </p:sp>
      <p:sp>
        <p:nvSpPr>
          <p:cNvPr id="11" name="Text 9"/>
          <p:cNvSpPr/>
          <p:nvPr/>
        </p:nvSpPr>
        <p:spPr>
          <a:xfrm>
            <a:off x="420624" y="2569464"/>
            <a:ext cx="3383280" cy="694944"/>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Every date variable is computed as build date minus the date part of the value. On the CDP some columns return DATE, so the conversion silently produced a wrong offset.</a:t>
            </a:r>
            <a:endParaRPr lang="en-US" sz="950" dirty="0"/>
          </a:p>
        </p:txBody>
      </p:sp>
      <p:sp>
        <p:nvSpPr>
          <p:cNvPr id="12" name="Text 10"/>
          <p:cNvSpPr/>
          <p:nvPr/>
        </p:nvSpPr>
        <p:spPr>
          <a:xfrm>
            <a:off x="420624" y="3291840"/>
            <a:ext cx="338328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Why it was invisible</a:t>
            </a:r>
            <a:endParaRPr lang="en-US" sz="1050" dirty="0"/>
          </a:p>
        </p:txBody>
      </p:sp>
      <p:sp>
        <p:nvSpPr>
          <p:cNvPr id="13" name="Text 11"/>
          <p:cNvSpPr/>
          <p:nvPr/>
        </p:nvSpPr>
        <p:spPr>
          <a:xfrm>
            <a:off x="420624" y="3502152"/>
            <a:ext cx="3383280" cy="694944"/>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No error is raised. The variable populates with a plausible number — just the wrong one, which only a legacy comparison exposes.</a:t>
            </a:r>
            <a:endParaRPr lang="en-US" sz="950" dirty="0"/>
          </a:p>
        </p:txBody>
      </p:sp>
      <p:sp>
        <p:nvSpPr>
          <p:cNvPr id="14" name="Text 12"/>
          <p:cNvSpPr/>
          <p:nvPr/>
        </p:nvSpPr>
        <p:spPr>
          <a:xfrm>
            <a:off x="420624" y="4224528"/>
            <a:ext cx="3383280" cy="201168"/>
          </a:xfrm>
          <a:prstGeom prst="rect">
            <a:avLst/>
          </a:prstGeom>
          <a:noFill/>
          <a:ln/>
        </p:spPr>
        <p:txBody>
          <a:bodyPr wrap="square" rtlCol="0" anchor="ctr"/>
          <a:lstStyle/>
          <a:p>
            <a:pPr indent="0" marL="0">
              <a:buNone/>
            </a:pPr>
            <a:r>
              <a:rPr lang="en-US" sz="1050" b="1" dirty="0">
                <a:solidFill>
                  <a:srgbClr val="1A288E"/>
                </a:solidFill>
                <a:latin typeface="Calibri" pitchFamily="34" charset="0"/>
                <a:ea typeface="Calibri" pitchFamily="34" charset="-122"/>
                <a:cs typeface="Calibri" pitchFamily="34" charset="-120"/>
              </a:rPr>
              <a:t>How we found it</a:t>
            </a:r>
            <a:endParaRPr lang="en-US" sz="1050" dirty="0"/>
          </a:p>
        </p:txBody>
      </p:sp>
      <p:sp>
        <p:nvSpPr>
          <p:cNvPr id="15" name="Text 13"/>
          <p:cNvSpPr/>
          <p:nvPr/>
        </p:nvSpPr>
        <p:spPr>
          <a:xfrm>
            <a:off x="420624" y="4434840"/>
            <a:ext cx="3383280" cy="694944"/>
          </a:xfrm>
          <a:prstGeom prst="rect">
            <a:avLst/>
          </a:prstGeom>
          <a:noFill/>
          <a:ln/>
        </p:spPr>
        <p:txBody>
          <a:bodyPr wrap="square" rtlCol="0" anchor="t"/>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A days-since-shipment variable came back carrying the build date itself. The client spotted it in the output before any log did.</a:t>
            </a:r>
            <a:endParaRPr lang="en-US" sz="950" dirty="0"/>
          </a:p>
        </p:txBody>
      </p:sp>
      <p:sp>
        <p:nvSpPr>
          <p:cNvPr id="16" name="Shape 14"/>
          <p:cNvSpPr/>
          <p:nvPr/>
        </p:nvSpPr>
        <p:spPr>
          <a:xfrm>
            <a:off x="4224528" y="1938528"/>
            <a:ext cx="3749040" cy="54864"/>
          </a:xfrm>
          <a:prstGeom prst="rect">
            <a:avLst/>
          </a:prstGeom>
          <a:solidFill>
            <a:srgbClr val="1861F5"/>
          </a:solidFill>
          <a:ln/>
        </p:spPr>
      </p:sp>
      <p:sp>
        <p:nvSpPr>
          <p:cNvPr id="17" name="Shape 15"/>
          <p:cNvSpPr/>
          <p:nvPr/>
        </p:nvSpPr>
        <p:spPr>
          <a:xfrm>
            <a:off x="4224528" y="1993392"/>
            <a:ext cx="3749040" cy="3163824"/>
          </a:xfrm>
          <a:prstGeom prst="rect">
            <a:avLst/>
          </a:prstGeom>
          <a:solidFill>
            <a:srgbClr val="F2F5FC"/>
          </a:solidFill>
          <a:ln/>
        </p:spPr>
      </p:sp>
      <p:sp>
        <p:nvSpPr>
          <p:cNvPr id="18" name="Text 16"/>
          <p:cNvSpPr/>
          <p:nvPr/>
        </p:nvSpPr>
        <p:spPr>
          <a:xfrm>
            <a:off x="4407408" y="2103120"/>
            <a:ext cx="3383280" cy="201168"/>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WHAT IT CONTAINS</a:t>
            </a:r>
            <a:endParaRPr lang="en-US" sz="900" dirty="0"/>
          </a:p>
        </p:txBody>
      </p:sp>
      <p:sp>
        <p:nvSpPr>
          <p:cNvPr id="19" name="Shape 17"/>
          <p:cNvSpPr/>
          <p:nvPr/>
        </p:nvSpPr>
        <p:spPr>
          <a:xfrm>
            <a:off x="4407408" y="2340864"/>
            <a:ext cx="1783080" cy="219456"/>
          </a:xfrm>
          <a:prstGeom prst="rect">
            <a:avLst/>
          </a:prstGeom>
          <a:solidFill>
            <a:srgbClr val="E3EAFB"/>
          </a:solidFill>
          <a:ln/>
        </p:spPr>
      </p:sp>
      <p:sp>
        <p:nvSpPr>
          <p:cNvPr id="20" name="Text 18"/>
          <p:cNvSpPr/>
          <p:nvPr/>
        </p:nvSpPr>
        <p:spPr>
          <a:xfrm>
            <a:off x="4462272" y="2359152"/>
            <a:ext cx="1691640" cy="182880"/>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Type detection</a:t>
            </a:r>
            <a:endParaRPr lang="en-US" sz="850" dirty="0"/>
          </a:p>
        </p:txBody>
      </p:sp>
      <p:sp>
        <p:nvSpPr>
          <p:cNvPr id="21" name="Text 19"/>
          <p:cNvSpPr/>
          <p:nvPr/>
        </p:nvSpPr>
        <p:spPr>
          <a:xfrm>
            <a:off x="4407408" y="2596896"/>
            <a:ext cx="3383280" cy="457200"/>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Reads the returned type at run time instead of assuming DATETIME, choosing the right conversion per column.</a:t>
            </a:r>
            <a:endParaRPr lang="en-US" sz="900" dirty="0"/>
          </a:p>
        </p:txBody>
      </p:sp>
      <p:sp>
        <p:nvSpPr>
          <p:cNvPr id="22" name="Shape 20"/>
          <p:cNvSpPr/>
          <p:nvPr/>
        </p:nvSpPr>
        <p:spPr>
          <a:xfrm>
            <a:off x="4407408" y="3054096"/>
            <a:ext cx="1783080" cy="219456"/>
          </a:xfrm>
          <a:prstGeom prst="rect">
            <a:avLst/>
          </a:prstGeom>
          <a:solidFill>
            <a:srgbClr val="E3EAFB"/>
          </a:solidFill>
          <a:ln/>
        </p:spPr>
      </p:sp>
      <p:sp>
        <p:nvSpPr>
          <p:cNvPr id="23" name="Text 21"/>
          <p:cNvSpPr/>
          <p:nvPr/>
        </p:nvSpPr>
        <p:spPr>
          <a:xfrm>
            <a:off x="4462272" y="3072384"/>
            <a:ext cx="1691640" cy="182880"/>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Guarded conversion</a:t>
            </a:r>
            <a:endParaRPr lang="en-US" sz="850" dirty="0"/>
          </a:p>
        </p:txBody>
      </p:sp>
      <p:sp>
        <p:nvSpPr>
          <p:cNvPr id="24" name="Text 22"/>
          <p:cNvSpPr/>
          <p:nvPr/>
        </p:nvSpPr>
        <p:spPr>
          <a:xfrm>
            <a:off x="4407408" y="3310128"/>
            <a:ext cx="3383280" cy="457200"/>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Date-part extraction only where valid; DATE columns are differenced directly against the build date.</a:t>
            </a:r>
            <a:endParaRPr lang="en-US" sz="900" dirty="0"/>
          </a:p>
        </p:txBody>
      </p:sp>
      <p:sp>
        <p:nvSpPr>
          <p:cNvPr id="25" name="Shape 23"/>
          <p:cNvSpPr/>
          <p:nvPr/>
        </p:nvSpPr>
        <p:spPr>
          <a:xfrm>
            <a:off x="4407408" y="3767328"/>
            <a:ext cx="1783080" cy="219456"/>
          </a:xfrm>
          <a:prstGeom prst="rect">
            <a:avLst/>
          </a:prstGeom>
          <a:solidFill>
            <a:srgbClr val="E3EAFB"/>
          </a:solidFill>
          <a:ln/>
        </p:spPr>
      </p:sp>
      <p:sp>
        <p:nvSpPr>
          <p:cNvPr id="26" name="Text 24"/>
          <p:cNvSpPr/>
          <p:nvPr/>
        </p:nvSpPr>
        <p:spPr>
          <a:xfrm>
            <a:off x="4462272" y="3785616"/>
            <a:ext cx="1691640" cy="182880"/>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Override, not edit</a:t>
            </a:r>
            <a:endParaRPr lang="en-US" sz="850" dirty="0"/>
          </a:p>
        </p:txBody>
      </p:sp>
      <p:sp>
        <p:nvSpPr>
          <p:cNvPr id="27" name="Text 25"/>
          <p:cNvSpPr/>
          <p:nvPr/>
        </p:nvSpPr>
        <p:spPr>
          <a:xfrm>
            <a:off x="4407408" y="4023360"/>
            <a:ext cx="3383280" cy="457200"/>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Loaded after the engine, it replaces the date branch by redefinition — the original file is never modified.</a:t>
            </a:r>
            <a:endParaRPr lang="en-US" sz="900" dirty="0"/>
          </a:p>
        </p:txBody>
      </p:sp>
      <p:sp>
        <p:nvSpPr>
          <p:cNvPr id="28" name="Shape 26"/>
          <p:cNvSpPr/>
          <p:nvPr/>
        </p:nvSpPr>
        <p:spPr>
          <a:xfrm>
            <a:off x="4407408" y="4480560"/>
            <a:ext cx="1783080" cy="219456"/>
          </a:xfrm>
          <a:prstGeom prst="rect">
            <a:avLst/>
          </a:prstGeom>
          <a:solidFill>
            <a:srgbClr val="E3EAFB"/>
          </a:solidFill>
          <a:ln/>
        </p:spPr>
      </p:sp>
      <p:sp>
        <p:nvSpPr>
          <p:cNvPr id="29" name="Text 27"/>
          <p:cNvSpPr/>
          <p:nvPr/>
        </p:nvSpPr>
        <p:spPr>
          <a:xfrm>
            <a:off x="4462272" y="4498848"/>
            <a:ext cx="1691640" cy="182880"/>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Single point of change</a:t>
            </a:r>
            <a:endParaRPr lang="en-US" sz="850" dirty="0"/>
          </a:p>
        </p:txBody>
      </p:sp>
      <p:sp>
        <p:nvSpPr>
          <p:cNvPr id="30" name="Text 28"/>
          <p:cNvSpPr/>
          <p:nvPr/>
        </p:nvSpPr>
        <p:spPr>
          <a:xfrm>
            <a:off x="4407408" y="4736592"/>
            <a:ext cx="3383280" cy="457200"/>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Any future platform date-type change is handled here, not across every date recipe.</a:t>
            </a:r>
            <a:endParaRPr lang="en-US" sz="900" dirty="0"/>
          </a:p>
        </p:txBody>
      </p:sp>
      <p:sp>
        <p:nvSpPr>
          <p:cNvPr id="31" name="Shape 29"/>
          <p:cNvSpPr/>
          <p:nvPr/>
        </p:nvSpPr>
        <p:spPr>
          <a:xfrm>
            <a:off x="8211312" y="1938528"/>
            <a:ext cx="3739896" cy="54864"/>
          </a:xfrm>
          <a:prstGeom prst="rect">
            <a:avLst/>
          </a:prstGeom>
          <a:solidFill>
            <a:srgbClr val="2C8A4B"/>
          </a:solidFill>
          <a:ln/>
        </p:spPr>
      </p:sp>
      <p:sp>
        <p:nvSpPr>
          <p:cNvPr id="32" name="Shape 30"/>
          <p:cNvSpPr/>
          <p:nvPr/>
        </p:nvSpPr>
        <p:spPr>
          <a:xfrm>
            <a:off x="8211312" y="1993392"/>
            <a:ext cx="3739896" cy="3163824"/>
          </a:xfrm>
          <a:prstGeom prst="rect">
            <a:avLst/>
          </a:prstGeom>
          <a:solidFill>
            <a:srgbClr val="1A288E"/>
          </a:solidFill>
          <a:ln/>
        </p:spPr>
      </p:sp>
      <p:sp>
        <p:nvSpPr>
          <p:cNvPr id="33" name="Text 31"/>
          <p:cNvSpPr/>
          <p:nvPr/>
        </p:nvSpPr>
        <p:spPr>
          <a:xfrm>
            <a:off x="8394192" y="2103120"/>
            <a:ext cx="3383280" cy="201168"/>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POST-IMPLEMENTATION EFFECT</a:t>
            </a:r>
            <a:endParaRPr lang="en-US" sz="900" dirty="0"/>
          </a:p>
        </p:txBody>
      </p:sp>
      <p:sp>
        <p:nvSpPr>
          <p:cNvPr id="34" name="Text 32"/>
          <p:cNvSpPr/>
          <p:nvPr/>
        </p:nvSpPr>
        <p:spPr>
          <a:xfrm>
            <a:off x="8394192" y="2377440"/>
            <a:ext cx="685800" cy="292608"/>
          </a:xfrm>
          <a:prstGeom prst="rect">
            <a:avLst/>
          </a:prstGeom>
          <a:noFill/>
          <a:ln/>
        </p:spPr>
        <p:txBody>
          <a:bodyPr wrap="square" rtlCol="0" anchor="ctr"/>
          <a:lstStyle/>
          <a:p>
            <a:pPr indent="0" marL="0">
              <a:buNone/>
            </a:pPr>
            <a:r>
              <a:rPr lang="en-US" sz="1300" b="1" dirty="0">
                <a:solidFill>
                  <a:srgbClr val="7FD39A"/>
                </a:solidFill>
                <a:latin typeface="Calibri" pitchFamily="34" charset="0"/>
                <a:ea typeface="Calibri" pitchFamily="34" charset="-122"/>
                <a:cs typeface="Calibri" pitchFamily="34" charset="-120"/>
              </a:rPr>
              <a:t>✓</a:t>
            </a:r>
            <a:endParaRPr lang="en-US" sz="1300" dirty="0"/>
          </a:p>
        </p:txBody>
      </p:sp>
      <p:sp>
        <p:nvSpPr>
          <p:cNvPr id="35" name="Text 33"/>
          <p:cNvSpPr/>
          <p:nvPr/>
        </p:nvSpPr>
        <p:spPr>
          <a:xfrm>
            <a:off x="9125712" y="2395728"/>
            <a:ext cx="2697480" cy="603504"/>
          </a:xfrm>
          <a:prstGeom prst="rect">
            <a:avLst/>
          </a:prstGeom>
          <a:noFill/>
          <a:ln/>
        </p:spPr>
        <p:txBody>
          <a:bodyPr wrap="square"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Recency variables return days since the event, matching legacy behaviour</a:t>
            </a:r>
            <a:endParaRPr lang="en-US" sz="950" dirty="0"/>
          </a:p>
        </p:txBody>
      </p:sp>
      <p:sp>
        <p:nvSpPr>
          <p:cNvPr id="36" name="Text 34"/>
          <p:cNvSpPr/>
          <p:nvPr/>
        </p:nvSpPr>
        <p:spPr>
          <a:xfrm>
            <a:off x="8394192" y="3054096"/>
            <a:ext cx="685800" cy="292608"/>
          </a:xfrm>
          <a:prstGeom prst="rect">
            <a:avLst/>
          </a:prstGeom>
          <a:noFill/>
          <a:ln/>
        </p:spPr>
        <p:txBody>
          <a:bodyPr wrap="square" rtlCol="0" anchor="ctr"/>
          <a:lstStyle/>
          <a:p>
            <a:pPr indent="0" marL="0">
              <a:buNone/>
            </a:pPr>
            <a:r>
              <a:rPr lang="en-US" sz="1300" b="1" dirty="0">
                <a:solidFill>
                  <a:srgbClr val="7FD39A"/>
                </a:solidFill>
                <a:latin typeface="Calibri" pitchFamily="34" charset="0"/>
                <a:ea typeface="Calibri" pitchFamily="34" charset="-122"/>
                <a:cs typeface="Calibri" pitchFamily="34" charset="-120"/>
              </a:rPr>
              <a:t>✓</a:t>
            </a:r>
            <a:endParaRPr lang="en-US" sz="1300" dirty="0"/>
          </a:p>
        </p:txBody>
      </p:sp>
      <p:sp>
        <p:nvSpPr>
          <p:cNvPr id="37" name="Text 35"/>
          <p:cNvSpPr/>
          <p:nvPr/>
        </p:nvSpPr>
        <p:spPr>
          <a:xfrm>
            <a:off x="9125712" y="3072384"/>
            <a:ext cx="2697480" cy="603504"/>
          </a:xfrm>
          <a:prstGeom prst="rect">
            <a:avLst/>
          </a:prstGeom>
          <a:noFill/>
          <a:ln/>
        </p:spPr>
        <p:txBody>
          <a:bodyPr wrap="square"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Every date variable carries a consistent, verifiable offset — no silent drift</a:t>
            </a:r>
            <a:endParaRPr lang="en-US" sz="950" dirty="0"/>
          </a:p>
        </p:txBody>
      </p:sp>
      <p:sp>
        <p:nvSpPr>
          <p:cNvPr id="38" name="Text 36"/>
          <p:cNvSpPr/>
          <p:nvPr/>
        </p:nvSpPr>
        <p:spPr>
          <a:xfrm>
            <a:off x="8394192" y="3730752"/>
            <a:ext cx="685800" cy="292608"/>
          </a:xfrm>
          <a:prstGeom prst="rect">
            <a:avLst/>
          </a:prstGeom>
          <a:noFill/>
          <a:ln/>
        </p:spPr>
        <p:txBody>
          <a:bodyPr wrap="square" rtlCol="0" anchor="ctr"/>
          <a:lstStyle/>
          <a:p>
            <a:pPr indent="0" marL="0">
              <a:buNone/>
            </a:pPr>
            <a:r>
              <a:rPr lang="en-US" sz="1300" b="1" dirty="0">
                <a:solidFill>
                  <a:srgbClr val="7FD39A"/>
                </a:solidFill>
                <a:latin typeface="Calibri" pitchFamily="34" charset="0"/>
                <a:ea typeface="Calibri" pitchFamily="34" charset="-122"/>
                <a:cs typeface="Calibri" pitchFamily="34" charset="-120"/>
              </a:rPr>
              <a:t>✓</a:t>
            </a:r>
            <a:endParaRPr lang="en-US" sz="1300" dirty="0"/>
          </a:p>
        </p:txBody>
      </p:sp>
      <p:sp>
        <p:nvSpPr>
          <p:cNvPr id="39" name="Text 37"/>
          <p:cNvSpPr/>
          <p:nvPr/>
        </p:nvSpPr>
        <p:spPr>
          <a:xfrm>
            <a:off x="9125712" y="3749040"/>
            <a:ext cx="2697480" cy="603504"/>
          </a:xfrm>
          <a:prstGeom prst="rect">
            <a:avLst/>
          </a:prstGeom>
          <a:noFill/>
          <a:ln/>
        </p:spPr>
        <p:txBody>
          <a:bodyPr wrap="square"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Legacy comparison became possible: both sides convert to calendar dates from a known basis</a:t>
            </a:r>
            <a:endParaRPr lang="en-US" sz="950" dirty="0"/>
          </a:p>
        </p:txBody>
      </p:sp>
      <p:sp>
        <p:nvSpPr>
          <p:cNvPr id="40" name="Text 38"/>
          <p:cNvSpPr/>
          <p:nvPr/>
        </p:nvSpPr>
        <p:spPr>
          <a:xfrm>
            <a:off x="8394192" y="4407408"/>
            <a:ext cx="685800" cy="292608"/>
          </a:xfrm>
          <a:prstGeom prst="rect">
            <a:avLst/>
          </a:prstGeom>
          <a:noFill/>
          <a:ln/>
        </p:spPr>
        <p:txBody>
          <a:bodyPr wrap="square" rtlCol="0" anchor="ctr"/>
          <a:lstStyle/>
          <a:p>
            <a:pPr indent="0" marL="0">
              <a:buNone/>
            </a:pPr>
            <a:r>
              <a:rPr lang="en-US" sz="1300" b="1" dirty="0">
                <a:solidFill>
                  <a:srgbClr val="7FD39A"/>
                </a:solidFill>
                <a:latin typeface="Calibri" pitchFamily="34" charset="0"/>
                <a:ea typeface="Calibri" pitchFamily="34" charset="-122"/>
                <a:cs typeface="Calibri" pitchFamily="34" charset="-120"/>
              </a:rPr>
              <a:t>✓</a:t>
            </a:r>
            <a:endParaRPr lang="en-US" sz="1300" dirty="0"/>
          </a:p>
        </p:txBody>
      </p:sp>
      <p:sp>
        <p:nvSpPr>
          <p:cNvPr id="41" name="Text 39"/>
          <p:cNvSpPr/>
          <p:nvPr/>
        </p:nvSpPr>
        <p:spPr>
          <a:xfrm>
            <a:off x="9125712" y="4425696"/>
            <a:ext cx="2697480" cy="603504"/>
          </a:xfrm>
          <a:prstGeom prst="rect">
            <a:avLst/>
          </a:prstGeom>
          <a:noFill/>
          <a:ln/>
        </p:spPr>
        <p:txBody>
          <a:bodyPr wrap="square"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The build-date gap between platforms is now a documented adjustment</a:t>
            </a:r>
            <a:endParaRPr lang="en-US" sz="950" dirty="0"/>
          </a:p>
        </p:txBody>
      </p:sp>
      <p:sp>
        <p:nvSpPr>
          <p:cNvPr id="42" name="Shape 40"/>
          <p:cNvSpPr/>
          <p:nvPr/>
        </p:nvSpPr>
        <p:spPr>
          <a:xfrm>
            <a:off x="237744" y="5422392"/>
            <a:ext cx="11713464" cy="758952"/>
          </a:xfrm>
          <a:prstGeom prst="rect">
            <a:avLst/>
          </a:prstGeom>
          <a:solidFill>
            <a:srgbClr val="1A288E"/>
          </a:solidFill>
          <a:ln/>
        </p:spPr>
      </p:sp>
      <p:sp>
        <p:nvSpPr>
          <p:cNvPr id="43" name="Text 41"/>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WHAT BOTH BRIDGES HAVE IN COMMON</a:t>
            </a:r>
            <a:endParaRPr lang="en-US" sz="900" dirty="0"/>
          </a:p>
        </p:txBody>
      </p:sp>
      <p:sp>
        <p:nvSpPr>
          <p:cNvPr id="44" name="Text 42"/>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Neither changes a line of the original files. Both load after the code they adjust and override by redefinition — the legacy engine stays intact and every CDP accommodation is visible in one place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FINDING · BUILD DATE</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Recent Build Dates Populate More Than Older Ones</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A late observation that changed the remaining defect list. The build date is not just a cut-off for date arithmetic — it decides how much of the CDP's history a run can actually reach</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38528"/>
            <a:ext cx="4937760" cy="54864"/>
          </a:xfrm>
          <a:prstGeom prst="rect">
            <a:avLst/>
          </a:prstGeom>
          <a:solidFill>
            <a:srgbClr val="F96806"/>
          </a:solidFill>
          <a:ln/>
        </p:spPr>
      </p:sp>
      <p:sp>
        <p:nvSpPr>
          <p:cNvPr id="8" name="Shape 6"/>
          <p:cNvSpPr/>
          <p:nvPr/>
        </p:nvSpPr>
        <p:spPr>
          <a:xfrm>
            <a:off x="237744" y="1993392"/>
            <a:ext cx="4937760" cy="3163824"/>
          </a:xfrm>
          <a:prstGeom prst="rect">
            <a:avLst/>
          </a:prstGeom>
          <a:solidFill>
            <a:srgbClr val="F2F5FC"/>
          </a:solidFill>
          <a:ln/>
        </p:spPr>
      </p:sp>
      <p:sp>
        <p:nvSpPr>
          <p:cNvPr id="9" name="Text 7"/>
          <p:cNvSpPr/>
          <p:nvPr/>
        </p:nvSpPr>
        <p:spPr>
          <a:xfrm>
            <a:off x="438912" y="2121408"/>
            <a:ext cx="4572000" cy="201168"/>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WHY THE BUILD DATE CHANGES THE OUTCOME</a:t>
            </a:r>
            <a:endParaRPr lang="en-US" sz="900" dirty="0"/>
          </a:p>
        </p:txBody>
      </p:sp>
      <p:sp>
        <p:nvSpPr>
          <p:cNvPr id="10" name="Text 8"/>
          <p:cNvSpPr/>
          <p:nvPr/>
        </p:nvSpPr>
        <p:spPr>
          <a:xfrm>
            <a:off x="438912" y="2395728"/>
            <a:ext cx="4572000" cy="201168"/>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Every filter is anchored to it</a:t>
            </a:r>
            <a:endParaRPr lang="en-US" sz="1100" dirty="0"/>
          </a:p>
        </p:txBody>
      </p:sp>
      <p:sp>
        <p:nvSpPr>
          <p:cNvPr id="11" name="Text 9"/>
          <p:cNvSpPr/>
          <p:nvPr/>
        </p:nvSpPr>
        <p:spPr>
          <a:xfrm>
            <a:off x="438912" y="2615184"/>
            <a:ext cx="4572000" cy="420624"/>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Each recipe looks backwards from the build date. An older date excludes everything loaded since.</a:t>
            </a:r>
            <a:endParaRPr lang="en-US" sz="950" dirty="0"/>
          </a:p>
        </p:txBody>
      </p:sp>
      <p:sp>
        <p:nvSpPr>
          <p:cNvPr id="12" name="Text 10"/>
          <p:cNvSpPr/>
          <p:nvPr/>
        </p:nvSpPr>
        <p:spPr>
          <a:xfrm>
            <a:off x="438912" y="3090672"/>
            <a:ext cx="4572000" cy="201168"/>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The CDP is still being populated</a:t>
            </a:r>
            <a:endParaRPr lang="en-US" sz="1100" dirty="0"/>
          </a:p>
        </p:txBody>
      </p:sp>
      <p:sp>
        <p:nvSpPr>
          <p:cNvPr id="13" name="Text 11"/>
          <p:cNvSpPr/>
          <p:nvPr/>
        </p:nvSpPr>
        <p:spPr>
          <a:xfrm>
            <a:off x="438912" y="3310128"/>
            <a:ext cx="4572000" cy="420624"/>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Migration and daily feeds keep landing. A run dated before a load cannot see rows that now exist.</a:t>
            </a:r>
            <a:endParaRPr lang="en-US" sz="950" dirty="0"/>
          </a:p>
        </p:txBody>
      </p:sp>
      <p:sp>
        <p:nvSpPr>
          <p:cNvPr id="14" name="Text 12"/>
          <p:cNvSpPr/>
          <p:nvPr/>
        </p:nvSpPr>
        <p:spPr>
          <a:xfrm>
            <a:off x="438912" y="3785616"/>
            <a:ext cx="4572000" cy="201168"/>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Recency variables are most sensitive</a:t>
            </a:r>
            <a:endParaRPr lang="en-US" sz="1100" dirty="0"/>
          </a:p>
        </p:txBody>
      </p:sp>
      <p:sp>
        <p:nvSpPr>
          <p:cNvPr id="15" name="Text 13"/>
          <p:cNvSpPr/>
          <p:nvPr/>
        </p:nvSpPr>
        <p:spPr>
          <a:xfrm>
            <a:off x="438912" y="4005072"/>
            <a:ext cx="4572000" cy="420624"/>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One- and two-year windows sit closest to the boundary and gain most from a newer date.</a:t>
            </a:r>
            <a:endParaRPr lang="en-US" sz="950" dirty="0"/>
          </a:p>
        </p:txBody>
      </p:sp>
      <p:sp>
        <p:nvSpPr>
          <p:cNvPr id="16" name="Text 14"/>
          <p:cNvSpPr/>
          <p:nvPr/>
        </p:nvSpPr>
        <p:spPr>
          <a:xfrm>
            <a:off x="438912" y="4480560"/>
            <a:ext cx="4572000" cy="201168"/>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It is not a code path</a:t>
            </a:r>
            <a:endParaRPr lang="en-US" sz="1100" dirty="0"/>
          </a:p>
        </p:txBody>
      </p:sp>
      <p:sp>
        <p:nvSpPr>
          <p:cNvPr id="17" name="Text 15"/>
          <p:cNvSpPr/>
          <p:nvPr/>
        </p:nvSpPr>
        <p:spPr>
          <a:xfrm>
            <a:off x="438912" y="4700016"/>
            <a:ext cx="4572000" cy="420624"/>
          </a:xfrm>
          <a:prstGeom prst="rect">
            <a:avLst/>
          </a:prstGeom>
          <a:noFill/>
          <a:ln/>
        </p:spPr>
        <p:txBody>
          <a:bodyPr wrap="square" rtlCol="0" anchor="ctr"/>
          <a:lstStyle/>
          <a:p>
            <a:pPr indent="0" marL="0">
              <a:lnSpc>
                <a:spcPts val="1200"/>
              </a:lnSpc>
              <a:buNone/>
            </a:pPr>
            <a:r>
              <a:rPr lang="en-US" sz="950" dirty="0">
                <a:solidFill>
                  <a:srgbClr val="5B6577"/>
                </a:solidFill>
                <a:latin typeface="Calibri" pitchFamily="34" charset="0"/>
                <a:ea typeface="Calibri" pitchFamily="34" charset="-122"/>
                <a:cs typeface="Calibri" pitchFamily="34" charset="-120"/>
              </a:rPr>
              <a:t>Nothing in the engine changes — the same recipes simply reach more history.</a:t>
            </a:r>
            <a:endParaRPr lang="en-US" sz="950" dirty="0"/>
          </a:p>
        </p:txBody>
      </p:sp>
      <p:sp>
        <p:nvSpPr>
          <p:cNvPr id="18" name="Shape 16"/>
          <p:cNvSpPr/>
          <p:nvPr/>
        </p:nvSpPr>
        <p:spPr>
          <a:xfrm>
            <a:off x="5394960" y="1938528"/>
            <a:ext cx="6556248" cy="54864"/>
          </a:xfrm>
          <a:prstGeom prst="rect">
            <a:avLst/>
          </a:prstGeom>
          <a:solidFill>
            <a:srgbClr val="2C8A4B"/>
          </a:solidFill>
          <a:ln/>
        </p:spPr>
      </p:sp>
      <p:sp>
        <p:nvSpPr>
          <p:cNvPr id="19" name="Shape 17"/>
          <p:cNvSpPr/>
          <p:nvPr/>
        </p:nvSpPr>
        <p:spPr>
          <a:xfrm>
            <a:off x="5394960" y="1993392"/>
            <a:ext cx="6556248" cy="3163824"/>
          </a:xfrm>
          <a:prstGeom prst="rect">
            <a:avLst/>
          </a:prstGeom>
          <a:solidFill>
            <a:srgbClr val="1A288E"/>
          </a:solidFill>
          <a:ln/>
        </p:spPr>
      </p:sp>
      <p:sp>
        <p:nvSpPr>
          <p:cNvPr id="20" name="Text 18"/>
          <p:cNvSpPr/>
          <p:nvPr/>
        </p:nvSpPr>
        <p:spPr>
          <a:xfrm>
            <a:off x="5596128" y="2121408"/>
            <a:ext cx="6217920" cy="201168"/>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WHAT WE OBSERVED  ·  THREE STAGES</a:t>
            </a:r>
            <a:endParaRPr lang="en-US" sz="900" dirty="0"/>
          </a:p>
        </p:txBody>
      </p:sp>
      <p:sp>
        <p:nvSpPr>
          <p:cNvPr id="21" name="Shape 19"/>
          <p:cNvSpPr/>
          <p:nvPr/>
        </p:nvSpPr>
        <p:spPr>
          <a:xfrm>
            <a:off x="5596128" y="2395728"/>
            <a:ext cx="1847088" cy="822960"/>
          </a:xfrm>
          <a:prstGeom prst="rect">
            <a:avLst/>
          </a:prstGeom>
          <a:solidFill>
            <a:srgbClr val="22318F"/>
          </a:solidFill>
          <a:ln/>
        </p:spPr>
      </p:sp>
      <p:sp>
        <p:nvSpPr>
          <p:cNvPr id="22" name="Text 20"/>
          <p:cNvSpPr/>
          <p:nvPr/>
        </p:nvSpPr>
        <p:spPr>
          <a:xfrm>
            <a:off x="5705856" y="2468880"/>
            <a:ext cx="1691640" cy="182880"/>
          </a:xfrm>
          <a:prstGeom prst="rect">
            <a:avLst/>
          </a:prstGeom>
          <a:noFill/>
          <a:ln/>
        </p:spPr>
        <p:txBody>
          <a:bodyPr wrap="square" rtlCol="0" anchor="ctr"/>
          <a:lstStyle/>
          <a:p>
            <a:pPr indent="0" marL="0">
              <a:buNone/>
            </a:pPr>
            <a:r>
              <a:rPr lang="en-US" sz="750" b="1" spc="80" kern="0" dirty="0">
                <a:solidFill>
                  <a:srgbClr val="9FBEE8"/>
                </a:solidFill>
                <a:latin typeface="Calibri" pitchFamily="34" charset="0"/>
                <a:ea typeface="Calibri" pitchFamily="34" charset="-122"/>
                <a:cs typeface="Calibri" pitchFamily="34" charset="-120"/>
              </a:rPr>
              <a:t>OLDER BUILD DATE</a:t>
            </a:r>
            <a:endParaRPr lang="en-US" sz="750" dirty="0"/>
          </a:p>
        </p:txBody>
      </p:sp>
      <p:sp>
        <p:nvSpPr>
          <p:cNvPr id="23" name="Text 21"/>
          <p:cNvSpPr/>
          <p:nvPr/>
        </p:nvSpPr>
        <p:spPr>
          <a:xfrm>
            <a:off x="5705856" y="2651760"/>
            <a:ext cx="1691640" cy="310896"/>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464 / 475</a:t>
            </a:r>
            <a:endParaRPr lang="en-US" sz="1700" dirty="0"/>
          </a:p>
        </p:txBody>
      </p:sp>
      <p:sp>
        <p:nvSpPr>
          <p:cNvPr id="24" name="Text 22"/>
          <p:cNvSpPr/>
          <p:nvPr/>
        </p:nvSpPr>
        <p:spPr>
          <a:xfrm>
            <a:off x="5705856" y="2962656"/>
            <a:ext cx="1691640" cy="182880"/>
          </a:xfrm>
          <a:prstGeom prst="rect">
            <a:avLst/>
          </a:prstGeom>
          <a:noFill/>
          <a:ln/>
        </p:spPr>
        <p:txBody>
          <a:bodyPr wrap="square" rtlCol="0" anchor="ctr"/>
          <a:lstStyle/>
          <a:p>
            <a:pPr indent="0" marL="0">
              <a:buNone/>
            </a:pPr>
            <a:r>
              <a:rPr lang="en-US" sz="850" dirty="0">
                <a:solidFill>
                  <a:srgbClr val="9FBEE8"/>
                </a:solidFill>
                <a:latin typeface="Calibri" pitchFamily="34" charset="0"/>
                <a:ea typeface="Calibri" pitchFamily="34" charset="-122"/>
                <a:cs typeface="Calibri" pitchFamily="34" charset="-120"/>
              </a:rPr>
              <a:t>97.7% populating</a:t>
            </a:r>
            <a:endParaRPr lang="en-US" sz="850" dirty="0"/>
          </a:p>
        </p:txBody>
      </p:sp>
      <p:sp>
        <p:nvSpPr>
          <p:cNvPr id="25" name="Text 23"/>
          <p:cNvSpPr/>
          <p:nvPr/>
        </p:nvSpPr>
        <p:spPr>
          <a:xfrm>
            <a:off x="7443216" y="2706624"/>
            <a:ext cx="274320" cy="219456"/>
          </a:xfrm>
          <a:prstGeom prst="rect">
            <a:avLst/>
          </a:prstGeom>
          <a:noFill/>
          <a:ln/>
        </p:spPr>
        <p:txBody>
          <a:bodyPr wrap="square" rtlCol="0" anchor="ctr"/>
          <a:lstStyle/>
          <a:p>
            <a:pPr algn="ctr" indent="0" marL="0">
              <a:buNone/>
            </a:pPr>
            <a:r>
              <a:rPr lang="en-US" sz="1100" b="1" dirty="0">
                <a:solidFill>
                  <a:srgbClr val="F96806"/>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7717536" y="2395728"/>
            <a:ext cx="1847088" cy="822960"/>
          </a:xfrm>
          <a:prstGeom prst="rect">
            <a:avLst/>
          </a:prstGeom>
          <a:solidFill>
            <a:srgbClr val="22318F"/>
          </a:solidFill>
          <a:ln/>
        </p:spPr>
      </p:sp>
      <p:sp>
        <p:nvSpPr>
          <p:cNvPr id="27" name="Text 25"/>
          <p:cNvSpPr/>
          <p:nvPr/>
        </p:nvSpPr>
        <p:spPr>
          <a:xfrm>
            <a:off x="7827264" y="2468880"/>
            <a:ext cx="1691640" cy="182880"/>
          </a:xfrm>
          <a:prstGeom prst="rect">
            <a:avLst/>
          </a:prstGeom>
          <a:noFill/>
          <a:ln/>
        </p:spPr>
        <p:txBody>
          <a:bodyPr wrap="square" rtlCol="0" anchor="ctr"/>
          <a:lstStyle/>
          <a:p>
            <a:pPr indent="0" marL="0">
              <a:buNone/>
            </a:pPr>
            <a:r>
              <a:rPr lang="en-US" sz="750" b="1" spc="80" kern="0" dirty="0">
                <a:solidFill>
                  <a:srgbClr val="9FBEE8"/>
                </a:solidFill>
                <a:latin typeface="Calibri" pitchFamily="34" charset="0"/>
                <a:ea typeface="Calibri" pitchFamily="34" charset="-122"/>
                <a:cs typeface="Calibri" pitchFamily="34" charset="-120"/>
              </a:rPr>
              <a:t>RECENT BUILD DATE</a:t>
            </a:r>
            <a:endParaRPr lang="en-US" sz="750" dirty="0"/>
          </a:p>
        </p:txBody>
      </p:sp>
      <p:sp>
        <p:nvSpPr>
          <p:cNvPr id="28" name="Text 26"/>
          <p:cNvSpPr/>
          <p:nvPr/>
        </p:nvSpPr>
        <p:spPr>
          <a:xfrm>
            <a:off x="7827264" y="2651760"/>
            <a:ext cx="1691640" cy="310896"/>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469 / 475</a:t>
            </a:r>
            <a:endParaRPr lang="en-US" sz="1700" dirty="0"/>
          </a:p>
        </p:txBody>
      </p:sp>
      <p:sp>
        <p:nvSpPr>
          <p:cNvPr id="29" name="Text 27"/>
          <p:cNvSpPr/>
          <p:nvPr/>
        </p:nvSpPr>
        <p:spPr>
          <a:xfrm>
            <a:off x="7827264" y="2962656"/>
            <a:ext cx="1691640" cy="182880"/>
          </a:xfrm>
          <a:prstGeom prst="rect">
            <a:avLst/>
          </a:prstGeom>
          <a:noFill/>
          <a:ln/>
        </p:spPr>
        <p:txBody>
          <a:bodyPr wrap="square" rtlCol="0" anchor="ctr"/>
          <a:lstStyle/>
          <a:p>
            <a:pPr indent="0" marL="0">
              <a:buNone/>
            </a:pPr>
            <a:r>
              <a:rPr lang="en-US" sz="850" dirty="0">
                <a:solidFill>
                  <a:srgbClr val="9FBEE8"/>
                </a:solidFill>
                <a:latin typeface="Calibri" pitchFamily="34" charset="0"/>
                <a:ea typeface="Calibri" pitchFamily="34" charset="-122"/>
                <a:cs typeface="Calibri" pitchFamily="34" charset="-120"/>
              </a:rPr>
              <a:t>98.7% populating</a:t>
            </a:r>
            <a:endParaRPr lang="en-US" sz="850" dirty="0"/>
          </a:p>
        </p:txBody>
      </p:sp>
      <p:sp>
        <p:nvSpPr>
          <p:cNvPr id="30" name="Text 28"/>
          <p:cNvSpPr/>
          <p:nvPr/>
        </p:nvSpPr>
        <p:spPr>
          <a:xfrm>
            <a:off x="9564624" y="2706624"/>
            <a:ext cx="274320" cy="219456"/>
          </a:xfrm>
          <a:prstGeom prst="rect">
            <a:avLst/>
          </a:prstGeom>
          <a:noFill/>
          <a:ln/>
        </p:spPr>
        <p:txBody>
          <a:bodyPr wrap="square" rtlCol="0" anchor="ctr"/>
          <a:lstStyle/>
          <a:p>
            <a:pPr algn="ctr" indent="0" marL="0">
              <a:buNone/>
            </a:pPr>
            <a:r>
              <a:rPr lang="en-US" sz="1100" b="1" dirty="0">
                <a:solidFill>
                  <a:srgbClr val="F96806"/>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9838944" y="2395728"/>
            <a:ext cx="1847088" cy="822960"/>
          </a:xfrm>
          <a:prstGeom prst="rect">
            <a:avLst/>
          </a:prstGeom>
          <a:solidFill>
            <a:srgbClr val="1E5F38"/>
          </a:solidFill>
          <a:ln/>
        </p:spPr>
      </p:sp>
      <p:sp>
        <p:nvSpPr>
          <p:cNvPr id="32" name="Text 30"/>
          <p:cNvSpPr/>
          <p:nvPr/>
        </p:nvSpPr>
        <p:spPr>
          <a:xfrm>
            <a:off x="9948672" y="2468880"/>
            <a:ext cx="1691640" cy="182880"/>
          </a:xfrm>
          <a:prstGeom prst="rect">
            <a:avLst/>
          </a:prstGeom>
          <a:noFill/>
          <a:ln/>
        </p:spPr>
        <p:txBody>
          <a:bodyPr wrap="square" rtlCol="0" anchor="ctr"/>
          <a:lstStyle/>
          <a:p>
            <a:pPr indent="0" marL="0">
              <a:buNone/>
            </a:pPr>
            <a:r>
              <a:rPr lang="en-US" sz="750" b="1" spc="80" kern="0" dirty="0">
                <a:solidFill>
                  <a:srgbClr val="BFE3CB"/>
                </a:solidFill>
                <a:latin typeface="Calibri" pitchFamily="34" charset="0"/>
                <a:ea typeface="Calibri" pitchFamily="34" charset="-122"/>
                <a:cs typeface="Calibri" pitchFamily="34" charset="-120"/>
              </a:rPr>
              <a:t>AFTER FINAL CLOSURE</a:t>
            </a:r>
            <a:endParaRPr lang="en-US" sz="750" dirty="0"/>
          </a:p>
        </p:txBody>
      </p:sp>
      <p:sp>
        <p:nvSpPr>
          <p:cNvPr id="33" name="Text 31"/>
          <p:cNvSpPr/>
          <p:nvPr/>
        </p:nvSpPr>
        <p:spPr>
          <a:xfrm>
            <a:off x="9948672" y="2651760"/>
            <a:ext cx="1691640" cy="310896"/>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475 / 475</a:t>
            </a:r>
            <a:endParaRPr lang="en-US" sz="1700" dirty="0"/>
          </a:p>
        </p:txBody>
      </p:sp>
      <p:sp>
        <p:nvSpPr>
          <p:cNvPr id="34" name="Text 32"/>
          <p:cNvSpPr/>
          <p:nvPr/>
        </p:nvSpPr>
        <p:spPr>
          <a:xfrm>
            <a:off x="9948672" y="2962656"/>
            <a:ext cx="1691640" cy="182880"/>
          </a:xfrm>
          <a:prstGeom prst="rect">
            <a:avLst/>
          </a:prstGeom>
          <a:noFill/>
          <a:ln/>
        </p:spPr>
        <p:txBody>
          <a:bodyPr wrap="square" rtlCol="0" anchor="ctr"/>
          <a:lstStyle/>
          <a:p>
            <a:pPr indent="0" marL="0">
              <a:buNone/>
            </a:pPr>
            <a:r>
              <a:rPr lang="en-US" sz="850" dirty="0">
                <a:solidFill>
                  <a:srgbClr val="BFE3CB"/>
                </a:solidFill>
                <a:latin typeface="Calibri" pitchFamily="34" charset="0"/>
                <a:ea typeface="Calibri" pitchFamily="34" charset="-122"/>
                <a:cs typeface="Calibri" pitchFamily="34" charset="-120"/>
              </a:rPr>
              <a:t>100% populating</a:t>
            </a:r>
            <a:endParaRPr lang="en-US" sz="850" dirty="0"/>
          </a:p>
        </p:txBody>
      </p:sp>
      <p:sp>
        <p:nvSpPr>
          <p:cNvPr id="35" name="Text 33"/>
          <p:cNvSpPr/>
          <p:nvPr/>
        </p:nvSpPr>
        <p:spPr>
          <a:xfrm>
            <a:off x="5596128" y="3346704"/>
            <a:ext cx="182880" cy="201168"/>
          </a:xfrm>
          <a:prstGeom prst="rect">
            <a:avLst/>
          </a:prstGeom>
          <a:noFill/>
          <a:ln/>
        </p:spPr>
        <p:txBody>
          <a:bodyPr wrap="square" rtlCol="0" anchor="ctr"/>
          <a:lstStyle/>
          <a:p>
            <a:pPr indent="0" marL="0">
              <a:buNone/>
            </a:pPr>
            <a:r>
              <a:rPr lang="en-US" sz="1000" dirty="0">
                <a:solidFill>
                  <a:srgbClr val="F96806"/>
                </a:solidFill>
                <a:latin typeface="Calibri" pitchFamily="34" charset="0"/>
                <a:ea typeface="Calibri" pitchFamily="34" charset="-122"/>
                <a:cs typeface="Calibri" pitchFamily="34" charset="-120"/>
              </a:rPr>
              <a:t>▪</a:t>
            </a:r>
            <a:endParaRPr lang="en-US" sz="1000" dirty="0"/>
          </a:p>
        </p:txBody>
      </p:sp>
      <p:sp>
        <p:nvSpPr>
          <p:cNvPr id="36" name="Text 34"/>
          <p:cNvSpPr/>
          <p:nvPr/>
        </p:nvSpPr>
        <p:spPr>
          <a:xfrm>
            <a:off x="5797296" y="3346704"/>
            <a:ext cx="6035040" cy="20116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Five variables populated with no code change</a:t>
            </a:r>
            <a:endParaRPr lang="en-US" sz="1050" dirty="0"/>
          </a:p>
        </p:txBody>
      </p:sp>
      <p:sp>
        <p:nvSpPr>
          <p:cNvPr id="37" name="Text 35"/>
          <p:cNvSpPr/>
          <p:nvPr/>
        </p:nvSpPr>
        <p:spPr>
          <a:xfrm>
            <a:off x="5797296" y="3557016"/>
            <a:ext cx="6035040" cy="347472"/>
          </a:xfrm>
          <a:prstGeom prst="rect">
            <a:avLst/>
          </a:prstGeom>
          <a:noFill/>
          <a:ln/>
        </p:spPr>
        <p:txBody>
          <a:bodyPr wrap="square" rtlCol="0" anchor="ctr"/>
          <a:lstStyle/>
          <a:p>
            <a:pPr indent="0" marL="0">
              <a:lnSpc>
                <a:spcPts val="1100"/>
              </a:lnSpc>
              <a:buNone/>
            </a:pPr>
            <a:r>
              <a:rPr lang="en-US" sz="900" dirty="0">
                <a:solidFill>
                  <a:srgbClr val="CADCFC"/>
                </a:solidFill>
                <a:latin typeface="Calibri" pitchFamily="34" charset="0"/>
                <a:ea typeface="Calibri" pitchFamily="34" charset="-122"/>
                <a:cs typeface="Calibri" pitchFamily="34" charset="-120"/>
              </a:rPr>
              <a:t>The same build reached data loaded after the earlier date.</a:t>
            </a:r>
            <a:endParaRPr lang="en-US" sz="900" dirty="0"/>
          </a:p>
        </p:txBody>
      </p:sp>
      <p:sp>
        <p:nvSpPr>
          <p:cNvPr id="38" name="Text 36"/>
          <p:cNvSpPr/>
          <p:nvPr/>
        </p:nvSpPr>
        <p:spPr>
          <a:xfrm>
            <a:off x="5596128" y="3931920"/>
            <a:ext cx="182880" cy="201168"/>
          </a:xfrm>
          <a:prstGeom prst="rect">
            <a:avLst/>
          </a:prstGeom>
          <a:noFill/>
          <a:ln/>
        </p:spPr>
        <p:txBody>
          <a:bodyPr wrap="square" rtlCol="0" anchor="ctr"/>
          <a:lstStyle/>
          <a:p>
            <a:pPr indent="0" marL="0">
              <a:buNone/>
            </a:pPr>
            <a:r>
              <a:rPr lang="en-US" sz="1000" dirty="0">
                <a:solidFill>
                  <a:srgbClr val="F96806"/>
                </a:solidFill>
                <a:latin typeface="Calibri" pitchFamily="34" charset="0"/>
                <a:ea typeface="Calibri" pitchFamily="34" charset="-122"/>
                <a:cs typeface="Calibri" pitchFamily="34" charset="-120"/>
              </a:rPr>
              <a:t>▪</a:t>
            </a:r>
            <a:endParaRPr lang="en-US" sz="1000" dirty="0"/>
          </a:p>
        </p:txBody>
      </p:sp>
      <p:sp>
        <p:nvSpPr>
          <p:cNvPr id="39" name="Text 37"/>
          <p:cNvSpPr/>
          <p:nvPr/>
        </p:nvSpPr>
        <p:spPr>
          <a:xfrm>
            <a:off x="5797296" y="3931920"/>
            <a:ext cx="6035040" cy="20116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It narrowed the escalation list</a:t>
            </a:r>
            <a:endParaRPr lang="en-US" sz="1050" dirty="0"/>
          </a:p>
        </p:txBody>
      </p:sp>
      <p:sp>
        <p:nvSpPr>
          <p:cNvPr id="40" name="Text 38"/>
          <p:cNvSpPr/>
          <p:nvPr/>
        </p:nvSpPr>
        <p:spPr>
          <a:xfrm>
            <a:off x="5797296" y="4142232"/>
            <a:ext cx="6035040" cy="347472"/>
          </a:xfrm>
          <a:prstGeom prst="rect">
            <a:avLst/>
          </a:prstGeom>
          <a:noFill/>
          <a:ln/>
        </p:spPr>
        <p:txBody>
          <a:bodyPr wrap="square" rtlCol="0" anchor="ctr"/>
          <a:lstStyle/>
          <a:p>
            <a:pPr indent="0" marL="0">
              <a:lnSpc>
                <a:spcPts val="1100"/>
              </a:lnSpc>
              <a:buNone/>
            </a:pPr>
            <a:r>
              <a:rPr lang="en-US" sz="900" dirty="0">
                <a:solidFill>
                  <a:srgbClr val="CADCFC"/>
                </a:solidFill>
                <a:latin typeface="Calibri" pitchFamily="34" charset="0"/>
                <a:ea typeface="Calibri" pitchFamily="34" charset="-122"/>
                <a:cs typeface="Calibri" pitchFamily="34" charset="-120"/>
              </a:rPr>
              <a:t>Part of an apparent data gap was a build-date artefact — so only six genuine items went to the final iteration.</a:t>
            </a:r>
            <a:endParaRPr lang="en-US" sz="900" dirty="0"/>
          </a:p>
        </p:txBody>
      </p:sp>
      <p:sp>
        <p:nvSpPr>
          <p:cNvPr id="41" name="Text 39"/>
          <p:cNvSpPr/>
          <p:nvPr/>
        </p:nvSpPr>
        <p:spPr>
          <a:xfrm>
            <a:off x="5596128" y="4517136"/>
            <a:ext cx="182880" cy="201168"/>
          </a:xfrm>
          <a:prstGeom prst="rect">
            <a:avLst/>
          </a:prstGeom>
          <a:noFill/>
          <a:ln/>
        </p:spPr>
        <p:txBody>
          <a:bodyPr wrap="square" rtlCol="0" anchor="ctr"/>
          <a:lstStyle/>
          <a:p>
            <a:pPr indent="0" marL="0">
              <a:buNone/>
            </a:pPr>
            <a:r>
              <a:rPr lang="en-US" sz="1000" dirty="0">
                <a:solidFill>
                  <a:srgbClr val="F96806"/>
                </a:solidFill>
                <a:latin typeface="Calibri" pitchFamily="34" charset="0"/>
                <a:ea typeface="Calibri" pitchFamily="34" charset="-122"/>
                <a:cs typeface="Calibri" pitchFamily="34" charset="-120"/>
              </a:rPr>
              <a:t>▪</a:t>
            </a:r>
            <a:endParaRPr lang="en-US" sz="1000" dirty="0"/>
          </a:p>
        </p:txBody>
      </p:sp>
      <p:sp>
        <p:nvSpPr>
          <p:cNvPr id="42" name="Text 40"/>
          <p:cNvSpPr/>
          <p:nvPr/>
        </p:nvSpPr>
        <p:spPr>
          <a:xfrm>
            <a:off x="5797296" y="4517136"/>
            <a:ext cx="6035040" cy="20116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Then the last six were closed deliberately</a:t>
            </a:r>
            <a:endParaRPr lang="en-US" sz="1050" dirty="0"/>
          </a:p>
        </p:txBody>
      </p:sp>
      <p:sp>
        <p:nvSpPr>
          <p:cNvPr id="43" name="Text 41"/>
          <p:cNvSpPr/>
          <p:nvPr/>
        </p:nvSpPr>
        <p:spPr>
          <a:xfrm>
            <a:off x="5797296" y="4727448"/>
            <a:ext cx="6035040" cy="347472"/>
          </a:xfrm>
          <a:prstGeom prst="rect">
            <a:avLst/>
          </a:prstGeom>
          <a:noFill/>
          <a:ln/>
        </p:spPr>
        <p:txBody>
          <a:bodyPr wrap="square" rtlCol="0" anchor="ctr"/>
          <a:lstStyle/>
          <a:p>
            <a:pPr indent="0" marL="0">
              <a:lnSpc>
                <a:spcPts val="1100"/>
              </a:lnSpc>
              <a:buNone/>
            </a:pPr>
            <a:r>
              <a:rPr lang="en-US" sz="900" dirty="0">
                <a:solidFill>
                  <a:srgbClr val="CADCFC"/>
                </a:solidFill>
                <a:latin typeface="Calibri" pitchFamily="34" charset="0"/>
                <a:ea typeface="Calibri" pitchFamily="34" charset="-122"/>
                <a:cs typeface="Calibri" pitchFamily="34" charset="-120"/>
              </a:rPr>
              <a:t>Each with its own root cause and business sign-off — next slide.</a:t>
            </a:r>
            <a:endParaRPr lang="en-US" sz="900" dirty="0"/>
          </a:p>
        </p:txBody>
      </p:sp>
      <p:sp>
        <p:nvSpPr>
          <p:cNvPr id="44" name="Shape 42"/>
          <p:cNvSpPr/>
          <p:nvPr/>
        </p:nvSpPr>
        <p:spPr>
          <a:xfrm>
            <a:off x="237744" y="5422392"/>
            <a:ext cx="11713464" cy="758952"/>
          </a:xfrm>
          <a:prstGeom prst="rect">
            <a:avLst/>
          </a:prstGeom>
          <a:solidFill>
            <a:srgbClr val="1A288E"/>
          </a:solidFill>
          <a:ln/>
        </p:spPr>
      </p:sp>
      <p:sp>
        <p:nvSpPr>
          <p:cNvPr id="45" name="Text 43"/>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WHAT THIS CHANGES ABOUT READING A RESULT</a:t>
            </a:r>
            <a:endParaRPr lang="en-US" sz="900" dirty="0"/>
          </a:p>
        </p:txBody>
      </p:sp>
      <p:sp>
        <p:nvSpPr>
          <p:cNvPr id="46" name="Text 44"/>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A variable reported empty is only empty relative to the build date it ran against. Before escalating a gap as missing data, confirm the run can reach the period the data would sit in</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CLOSURE · THE LAST SIX VARIABLES</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From 469 to 475: How the Final Six Were Closed</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The last six looked like data gaps and design limits. Each was taken back through the derivation path, given a reasoned judgement, agreed with the business — and closed. None was waived</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65960"/>
            <a:ext cx="3749040" cy="54864"/>
          </a:xfrm>
          <a:prstGeom prst="rect">
            <a:avLst/>
          </a:prstGeom>
          <a:solidFill>
            <a:srgbClr val="2C8A4B"/>
          </a:solidFill>
          <a:ln/>
        </p:spPr>
      </p:sp>
      <p:sp>
        <p:nvSpPr>
          <p:cNvPr id="8" name="Shape 6"/>
          <p:cNvSpPr/>
          <p:nvPr/>
        </p:nvSpPr>
        <p:spPr>
          <a:xfrm>
            <a:off x="237744" y="2020824"/>
            <a:ext cx="3749040" cy="3182112"/>
          </a:xfrm>
          <a:prstGeom prst="rect">
            <a:avLst/>
          </a:prstGeom>
          <a:solidFill>
            <a:srgbClr val="F2F5FC"/>
          </a:solidFill>
          <a:ln/>
        </p:spPr>
      </p:sp>
      <p:sp>
        <p:nvSpPr>
          <p:cNvPr id="9" name="Text 7"/>
          <p:cNvSpPr/>
          <p:nvPr/>
        </p:nvSpPr>
        <p:spPr>
          <a:xfrm>
            <a:off x="420624" y="2103120"/>
            <a:ext cx="2194560" cy="256032"/>
          </a:xfrm>
          <a:prstGeom prst="rect">
            <a:avLst/>
          </a:prstGeom>
          <a:noFill/>
          <a:ln/>
        </p:spPr>
        <p:txBody>
          <a:bodyPr wrap="square" rtlCol="0" anchor="ctr"/>
          <a:lstStyle/>
          <a:p>
            <a:pPr indent="0" marL="0">
              <a:buNone/>
            </a:pPr>
            <a:r>
              <a:rPr lang="en-US" sz="1250" b="1" dirty="0">
                <a:solidFill>
                  <a:srgbClr val="1A288E"/>
                </a:solidFill>
                <a:latin typeface="Calibri" pitchFamily="34" charset="0"/>
                <a:ea typeface="Calibri" pitchFamily="34" charset="-122"/>
                <a:cs typeface="Calibri" pitchFamily="34" charset="-120"/>
              </a:rPr>
              <a:t>1 · Channel variable</a:t>
            </a:r>
            <a:endParaRPr lang="en-US" sz="1250" dirty="0"/>
          </a:p>
        </p:txBody>
      </p:sp>
      <p:sp>
        <p:nvSpPr>
          <p:cNvPr id="10" name="Shape 8"/>
          <p:cNvSpPr/>
          <p:nvPr/>
        </p:nvSpPr>
        <p:spPr>
          <a:xfrm>
            <a:off x="2505456" y="2130552"/>
            <a:ext cx="1353312" cy="201168"/>
          </a:xfrm>
          <a:prstGeom prst="rect">
            <a:avLst/>
          </a:prstGeom>
          <a:solidFill>
            <a:srgbClr val="E1F0E6"/>
          </a:solidFill>
          <a:ln/>
        </p:spPr>
      </p:sp>
      <p:sp>
        <p:nvSpPr>
          <p:cNvPr id="11" name="Text 9"/>
          <p:cNvSpPr/>
          <p:nvPr/>
        </p:nvSpPr>
        <p:spPr>
          <a:xfrm>
            <a:off x="2505456" y="2148840"/>
            <a:ext cx="1353312" cy="164592"/>
          </a:xfrm>
          <a:prstGeom prst="rect">
            <a:avLst/>
          </a:prstGeom>
          <a:noFill/>
          <a:ln/>
        </p:spPr>
        <p:txBody>
          <a:bodyPr wrap="square" rtlCol="0" anchor="ctr"/>
          <a:lstStyle/>
          <a:p>
            <a:pPr algn="ctr" indent="0" marL="0">
              <a:buNone/>
            </a:pPr>
            <a:r>
              <a:rPr lang="en-US" sz="650" b="1" dirty="0">
                <a:solidFill>
                  <a:srgbClr val="1E6B38"/>
                </a:solidFill>
                <a:latin typeface="Calibri" pitchFamily="34" charset="0"/>
                <a:ea typeface="Calibri" pitchFamily="34" charset="-122"/>
                <a:cs typeface="Calibri" pitchFamily="34" charset="-120"/>
              </a:rPr>
              <a:t>CODE + BUSINESS RULE</a:t>
            </a:r>
            <a:endParaRPr lang="en-US" sz="650" dirty="0"/>
          </a:p>
        </p:txBody>
      </p:sp>
      <p:sp>
        <p:nvSpPr>
          <p:cNvPr id="12" name="Text 10"/>
          <p:cNvSpPr/>
          <p:nvPr/>
        </p:nvSpPr>
        <p:spPr>
          <a:xfrm>
            <a:off x="420624" y="2414016"/>
            <a:ext cx="3383280" cy="164592"/>
          </a:xfrm>
          <a:prstGeom prst="rect">
            <a:avLst/>
          </a:prstGeom>
          <a:noFill/>
          <a:ln/>
        </p:spPr>
        <p:txBody>
          <a:bodyPr wrap="square" rtlCol="0" anchor="ctr"/>
          <a:lstStyle/>
          <a:p>
            <a:pPr indent="0" marL="0">
              <a:buNone/>
            </a:pPr>
            <a:r>
              <a:rPr lang="en-US" sz="750" b="1" spc="100" kern="0" dirty="0">
                <a:solidFill>
                  <a:srgbClr val="64748B"/>
                </a:solidFill>
                <a:latin typeface="Calibri" pitchFamily="34" charset="0"/>
                <a:ea typeface="Calibri" pitchFamily="34" charset="-122"/>
                <a:cs typeface="Calibri" pitchFamily="34" charset="-120"/>
              </a:rPr>
              <a:t>SYMPTOM</a:t>
            </a:r>
            <a:endParaRPr lang="en-US" sz="750" dirty="0"/>
          </a:p>
        </p:txBody>
      </p:sp>
      <p:sp>
        <p:nvSpPr>
          <p:cNvPr id="13" name="Text 11"/>
          <p:cNvSpPr/>
          <p:nvPr/>
        </p:nvSpPr>
        <p:spPr>
          <a:xfrm>
            <a:off x="420624" y="2578608"/>
            <a:ext cx="3383280" cy="329184"/>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Non-web shipment count still zero after the build-date move.</a:t>
            </a:r>
            <a:endParaRPr lang="en-US" sz="900" dirty="0"/>
          </a:p>
        </p:txBody>
      </p:sp>
      <p:sp>
        <p:nvSpPr>
          <p:cNvPr id="14" name="Text 12"/>
          <p:cNvSpPr/>
          <p:nvPr/>
        </p:nvSpPr>
        <p:spPr>
          <a:xfrm>
            <a:off x="420624" y="2798064"/>
            <a:ext cx="3383280" cy="164592"/>
          </a:xfrm>
          <a:prstGeom prst="rect">
            <a:avLst/>
          </a:prstGeom>
          <a:noFill/>
          <a:ln/>
        </p:spPr>
        <p:txBody>
          <a:bodyPr wrap="square" rtlCol="0" anchor="ctr"/>
          <a:lstStyle/>
          <a:p>
            <a:pPr indent="0" marL="0">
              <a:buNone/>
            </a:pPr>
            <a:r>
              <a:rPr lang="en-US" sz="750" b="1" spc="100" kern="0" dirty="0">
                <a:solidFill>
                  <a:srgbClr val="64748B"/>
                </a:solidFill>
                <a:latin typeface="Calibri" pitchFamily="34" charset="0"/>
                <a:ea typeface="Calibri" pitchFamily="34" charset="-122"/>
                <a:cs typeface="Calibri" pitchFamily="34" charset="-120"/>
              </a:rPr>
              <a:t>ROOT CAUSE</a:t>
            </a:r>
            <a:endParaRPr lang="en-US" sz="750" dirty="0"/>
          </a:p>
        </p:txBody>
      </p:sp>
      <p:sp>
        <p:nvSpPr>
          <p:cNvPr id="15" name="Text 13"/>
          <p:cNvSpPr/>
          <p:nvPr/>
        </p:nvSpPr>
        <p:spPr>
          <a:xfrm>
            <a:off x="420624" y="2962656"/>
            <a:ext cx="3383280" cy="749808"/>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Non-web orders carry a blank channel code on the CDP. The not-equal filter sat in a sign slot the first NULL-safe fix never reached, so every blank row was dropped.</a:t>
            </a:r>
            <a:endParaRPr lang="en-US" sz="900" dirty="0"/>
          </a:p>
        </p:txBody>
      </p:sp>
      <p:sp>
        <p:nvSpPr>
          <p:cNvPr id="16" name="Text 14"/>
          <p:cNvSpPr/>
          <p:nvPr/>
        </p:nvSpPr>
        <p:spPr>
          <a:xfrm>
            <a:off x="420624" y="3602736"/>
            <a:ext cx="3383280" cy="164592"/>
          </a:xfrm>
          <a:prstGeom prst="rect">
            <a:avLst/>
          </a:prstGeom>
          <a:noFill/>
          <a:ln/>
        </p:spPr>
        <p:txBody>
          <a:bodyPr wrap="square" rtlCol="0" anchor="ctr"/>
          <a:lstStyle/>
          <a:p>
            <a:pPr indent="0" marL="0">
              <a:buNone/>
            </a:pPr>
            <a:r>
              <a:rPr lang="en-US" sz="750" b="1" spc="100" kern="0" dirty="0">
                <a:solidFill>
                  <a:srgbClr val="64748B"/>
                </a:solidFill>
                <a:latin typeface="Calibri" pitchFamily="34" charset="0"/>
                <a:ea typeface="Calibri" pitchFamily="34" charset="-122"/>
                <a:cs typeface="Calibri" pitchFamily="34" charset="-120"/>
              </a:rPr>
              <a:t>JUDGEMENT &amp; RESOLUTION</a:t>
            </a:r>
            <a:endParaRPr lang="en-US" sz="750" dirty="0"/>
          </a:p>
        </p:txBody>
      </p:sp>
      <p:sp>
        <p:nvSpPr>
          <p:cNvPr id="17" name="Text 15"/>
          <p:cNvSpPr/>
          <p:nvPr/>
        </p:nvSpPr>
        <p:spPr>
          <a:xfrm>
            <a:off x="420624" y="3767328"/>
            <a:ext cx="3383280" cy="749808"/>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NULL-safe comparison extended to all sign slots; client confirmed a blank channel code means non-web; paid-only filter added and signed off.</a:t>
            </a:r>
            <a:endParaRPr lang="en-US" sz="900" dirty="0"/>
          </a:p>
        </p:txBody>
      </p:sp>
      <p:sp>
        <p:nvSpPr>
          <p:cNvPr id="18" name="Shape 16"/>
          <p:cNvSpPr/>
          <p:nvPr/>
        </p:nvSpPr>
        <p:spPr>
          <a:xfrm>
            <a:off x="420624" y="4645152"/>
            <a:ext cx="3383280" cy="438912"/>
          </a:xfrm>
          <a:prstGeom prst="rect">
            <a:avLst/>
          </a:prstGeom>
          <a:solidFill>
            <a:srgbClr val="E3EAFB"/>
          </a:solidFill>
          <a:ln/>
        </p:spPr>
      </p:sp>
      <p:sp>
        <p:nvSpPr>
          <p:cNvPr id="19" name="Text 17"/>
          <p:cNvSpPr/>
          <p:nvPr/>
        </p:nvSpPr>
        <p:spPr>
          <a:xfrm>
            <a:off x="512064" y="4681728"/>
            <a:ext cx="3200400" cy="365760"/>
          </a:xfrm>
          <a:prstGeom prst="rect">
            <a:avLst/>
          </a:prstGeom>
          <a:noFill/>
          <a:ln/>
        </p:spPr>
        <p:txBody>
          <a:bodyPr wrap="square" rtlCol="0" anchor="ctr"/>
          <a:lstStyle/>
          <a:p>
            <a:pPr indent="0" marL="0">
              <a:lnSpc>
                <a:spcPts val="1050"/>
              </a:lnSpc>
              <a:buNone/>
            </a:pPr>
            <a:r>
              <a:rPr lang="en-US" sz="850" b="1" dirty="0">
                <a:solidFill>
                  <a:srgbClr val="113C75"/>
                </a:solidFill>
                <a:latin typeface="Calibri" pitchFamily="34" charset="0"/>
                <a:ea typeface="Calibri" pitchFamily="34" charset="-122"/>
                <a:cs typeface="Calibri" pitchFamily="34" charset="-120"/>
              </a:rPr>
              <a:t>✓  Probe: blank code on &gt;99.9% of paid non-web orders</a:t>
            </a:r>
            <a:endParaRPr lang="en-US" sz="850" dirty="0"/>
          </a:p>
        </p:txBody>
      </p:sp>
      <p:sp>
        <p:nvSpPr>
          <p:cNvPr id="20" name="Shape 18"/>
          <p:cNvSpPr/>
          <p:nvPr/>
        </p:nvSpPr>
        <p:spPr>
          <a:xfrm>
            <a:off x="4224528" y="1965960"/>
            <a:ext cx="3749040" cy="54864"/>
          </a:xfrm>
          <a:prstGeom prst="rect">
            <a:avLst/>
          </a:prstGeom>
          <a:solidFill>
            <a:srgbClr val="2C8A4B"/>
          </a:solidFill>
          <a:ln/>
        </p:spPr>
      </p:sp>
      <p:sp>
        <p:nvSpPr>
          <p:cNvPr id="21" name="Shape 19"/>
          <p:cNvSpPr/>
          <p:nvPr/>
        </p:nvSpPr>
        <p:spPr>
          <a:xfrm>
            <a:off x="4224528" y="2020824"/>
            <a:ext cx="3749040" cy="3182112"/>
          </a:xfrm>
          <a:prstGeom prst="rect">
            <a:avLst/>
          </a:prstGeom>
          <a:solidFill>
            <a:srgbClr val="F2F5FC"/>
          </a:solidFill>
          <a:ln/>
        </p:spPr>
      </p:sp>
      <p:sp>
        <p:nvSpPr>
          <p:cNvPr id="22" name="Text 20"/>
          <p:cNvSpPr/>
          <p:nvPr/>
        </p:nvSpPr>
        <p:spPr>
          <a:xfrm>
            <a:off x="4407408" y="2103120"/>
            <a:ext cx="2194560" cy="256032"/>
          </a:xfrm>
          <a:prstGeom prst="rect">
            <a:avLst/>
          </a:prstGeom>
          <a:noFill/>
          <a:ln/>
        </p:spPr>
        <p:txBody>
          <a:bodyPr wrap="square" rtlCol="0" anchor="ctr"/>
          <a:lstStyle/>
          <a:p>
            <a:pPr indent="0" marL="0">
              <a:buNone/>
            </a:pPr>
            <a:r>
              <a:rPr lang="en-US" sz="1250" b="1" dirty="0">
                <a:solidFill>
                  <a:srgbClr val="1A288E"/>
                </a:solidFill>
                <a:latin typeface="Calibri" pitchFamily="34" charset="0"/>
                <a:ea typeface="Calibri" pitchFamily="34" charset="-122"/>
                <a:cs typeface="Calibri" pitchFamily="34" charset="-120"/>
              </a:rPr>
              <a:t>2 · Promotion variables</a:t>
            </a:r>
            <a:endParaRPr lang="en-US" sz="1250" dirty="0"/>
          </a:p>
        </p:txBody>
      </p:sp>
      <p:sp>
        <p:nvSpPr>
          <p:cNvPr id="23" name="Shape 21"/>
          <p:cNvSpPr/>
          <p:nvPr/>
        </p:nvSpPr>
        <p:spPr>
          <a:xfrm>
            <a:off x="6492240" y="2130552"/>
            <a:ext cx="1353312" cy="201168"/>
          </a:xfrm>
          <a:prstGeom prst="rect">
            <a:avLst/>
          </a:prstGeom>
          <a:solidFill>
            <a:srgbClr val="E1F0E6"/>
          </a:solidFill>
          <a:ln/>
        </p:spPr>
      </p:sp>
      <p:sp>
        <p:nvSpPr>
          <p:cNvPr id="24" name="Text 22"/>
          <p:cNvSpPr/>
          <p:nvPr/>
        </p:nvSpPr>
        <p:spPr>
          <a:xfrm>
            <a:off x="6492240" y="2148840"/>
            <a:ext cx="1353312" cy="164592"/>
          </a:xfrm>
          <a:prstGeom prst="rect">
            <a:avLst/>
          </a:prstGeom>
          <a:noFill/>
          <a:ln/>
        </p:spPr>
        <p:txBody>
          <a:bodyPr wrap="square" rtlCol="0" anchor="ctr"/>
          <a:lstStyle/>
          <a:p>
            <a:pPr algn="ctr" indent="0" marL="0">
              <a:buNone/>
            </a:pPr>
            <a:r>
              <a:rPr lang="en-US" sz="650" b="1" dirty="0">
                <a:solidFill>
                  <a:srgbClr val="1E6B38"/>
                </a:solidFill>
                <a:latin typeface="Calibri" pitchFamily="34" charset="0"/>
                <a:ea typeface="Calibri" pitchFamily="34" charset="-122"/>
                <a:cs typeface="Calibri" pitchFamily="34" charset="-120"/>
              </a:rPr>
              <a:t>REFERENCE DATA</a:t>
            </a:r>
            <a:endParaRPr lang="en-US" sz="650" dirty="0"/>
          </a:p>
        </p:txBody>
      </p:sp>
      <p:sp>
        <p:nvSpPr>
          <p:cNvPr id="25" name="Text 23"/>
          <p:cNvSpPr/>
          <p:nvPr/>
        </p:nvSpPr>
        <p:spPr>
          <a:xfrm>
            <a:off x="4407408" y="2414016"/>
            <a:ext cx="3383280" cy="164592"/>
          </a:xfrm>
          <a:prstGeom prst="rect">
            <a:avLst/>
          </a:prstGeom>
          <a:noFill/>
          <a:ln/>
        </p:spPr>
        <p:txBody>
          <a:bodyPr wrap="square" rtlCol="0" anchor="ctr"/>
          <a:lstStyle/>
          <a:p>
            <a:pPr indent="0" marL="0">
              <a:buNone/>
            </a:pPr>
            <a:r>
              <a:rPr lang="en-US" sz="750" b="1" spc="100" kern="0" dirty="0">
                <a:solidFill>
                  <a:srgbClr val="64748B"/>
                </a:solidFill>
                <a:latin typeface="Calibri" pitchFamily="34" charset="0"/>
                <a:ea typeface="Calibri" pitchFamily="34" charset="-122"/>
                <a:cs typeface="Calibri" pitchFamily="34" charset="-120"/>
              </a:rPr>
              <a:t>SYMPTOM</a:t>
            </a:r>
            <a:endParaRPr lang="en-US" sz="750" dirty="0"/>
          </a:p>
        </p:txBody>
      </p:sp>
      <p:sp>
        <p:nvSpPr>
          <p:cNvPr id="26" name="Text 24"/>
          <p:cNvSpPr/>
          <p:nvPr/>
        </p:nvSpPr>
        <p:spPr>
          <a:xfrm>
            <a:off x="4407408" y="2578608"/>
            <a:ext cx="3383280" cy="329184"/>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Two title-promotion counts zero for every customer.</a:t>
            </a:r>
            <a:endParaRPr lang="en-US" sz="900" dirty="0"/>
          </a:p>
        </p:txBody>
      </p:sp>
      <p:sp>
        <p:nvSpPr>
          <p:cNvPr id="27" name="Text 25"/>
          <p:cNvSpPr/>
          <p:nvPr/>
        </p:nvSpPr>
        <p:spPr>
          <a:xfrm>
            <a:off x="4407408" y="2798064"/>
            <a:ext cx="3383280" cy="164592"/>
          </a:xfrm>
          <a:prstGeom prst="rect">
            <a:avLst/>
          </a:prstGeom>
          <a:noFill/>
          <a:ln/>
        </p:spPr>
        <p:txBody>
          <a:bodyPr wrap="square" rtlCol="0" anchor="ctr"/>
          <a:lstStyle/>
          <a:p>
            <a:pPr indent="0" marL="0">
              <a:buNone/>
            </a:pPr>
            <a:r>
              <a:rPr lang="en-US" sz="750" b="1" spc="100" kern="0" dirty="0">
                <a:solidFill>
                  <a:srgbClr val="64748B"/>
                </a:solidFill>
                <a:latin typeface="Calibri" pitchFamily="34" charset="0"/>
                <a:ea typeface="Calibri" pitchFamily="34" charset="-122"/>
                <a:cs typeface="Calibri" pitchFamily="34" charset="-120"/>
              </a:rPr>
              <a:t>ROOT CAUSE</a:t>
            </a:r>
            <a:endParaRPr lang="en-US" sz="750" dirty="0"/>
          </a:p>
        </p:txBody>
      </p:sp>
      <p:sp>
        <p:nvSpPr>
          <p:cNvPr id="28" name="Text 26"/>
          <p:cNvSpPr/>
          <p:nvPr/>
        </p:nvSpPr>
        <p:spPr>
          <a:xfrm>
            <a:off x="4407408" y="2962656"/>
            <a:ext cx="3383280" cy="749808"/>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The recipes filter on hard-coded legacy product identifiers that were retired in migration — only ~10% of that title family survived in the CDP cross-reference.</a:t>
            </a:r>
            <a:endParaRPr lang="en-US" sz="900" dirty="0"/>
          </a:p>
        </p:txBody>
      </p:sp>
      <p:sp>
        <p:nvSpPr>
          <p:cNvPr id="29" name="Text 27"/>
          <p:cNvSpPr/>
          <p:nvPr/>
        </p:nvSpPr>
        <p:spPr>
          <a:xfrm>
            <a:off x="4407408" y="3602736"/>
            <a:ext cx="3383280" cy="164592"/>
          </a:xfrm>
          <a:prstGeom prst="rect">
            <a:avLst/>
          </a:prstGeom>
          <a:noFill/>
          <a:ln/>
        </p:spPr>
        <p:txBody>
          <a:bodyPr wrap="square" rtlCol="0" anchor="ctr"/>
          <a:lstStyle/>
          <a:p>
            <a:pPr indent="0" marL="0">
              <a:buNone/>
            </a:pPr>
            <a:r>
              <a:rPr lang="en-US" sz="750" b="1" spc="100" kern="0" dirty="0">
                <a:solidFill>
                  <a:srgbClr val="64748B"/>
                </a:solidFill>
                <a:latin typeface="Calibri" pitchFamily="34" charset="0"/>
                <a:ea typeface="Calibri" pitchFamily="34" charset="-122"/>
                <a:cs typeface="Calibri" pitchFamily="34" charset="-120"/>
              </a:rPr>
              <a:t>JUDGEMENT &amp; RESOLUTION</a:t>
            </a:r>
            <a:endParaRPr lang="en-US" sz="750" dirty="0"/>
          </a:p>
        </p:txBody>
      </p:sp>
      <p:sp>
        <p:nvSpPr>
          <p:cNvPr id="30" name="Text 28"/>
          <p:cNvSpPr/>
          <p:nvPr/>
        </p:nvSpPr>
        <p:spPr>
          <a:xfrm>
            <a:off x="4407408" y="3767328"/>
            <a:ext cx="3383280" cy="749808"/>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Client supplied the current identifiers; a legacy→current lookup was added to the bridge, so the recipe text stayed unchanged.</a:t>
            </a:r>
            <a:endParaRPr lang="en-US" sz="900" dirty="0"/>
          </a:p>
        </p:txBody>
      </p:sp>
      <p:sp>
        <p:nvSpPr>
          <p:cNvPr id="31" name="Shape 29"/>
          <p:cNvSpPr/>
          <p:nvPr/>
        </p:nvSpPr>
        <p:spPr>
          <a:xfrm>
            <a:off x="4407408" y="4645152"/>
            <a:ext cx="3383280" cy="438912"/>
          </a:xfrm>
          <a:prstGeom prst="rect">
            <a:avLst/>
          </a:prstGeom>
          <a:solidFill>
            <a:srgbClr val="E3EAFB"/>
          </a:solidFill>
          <a:ln/>
        </p:spPr>
      </p:sp>
      <p:sp>
        <p:nvSpPr>
          <p:cNvPr id="32" name="Text 30"/>
          <p:cNvSpPr/>
          <p:nvPr/>
        </p:nvSpPr>
        <p:spPr>
          <a:xfrm>
            <a:off x="4498848" y="4681728"/>
            <a:ext cx="3200400" cy="365760"/>
          </a:xfrm>
          <a:prstGeom prst="rect">
            <a:avLst/>
          </a:prstGeom>
          <a:noFill/>
          <a:ln/>
        </p:spPr>
        <p:txBody>
          <a:bodyPr wrap="square" rtlCol="0" anchor="ctr"/>
          <a:lstStyle/>
          <a:p>
            <a:pPr indent="0" marL="0">
              <a:lnSpc>
                <a:spcPts val="1050"/>
              </a:lnSpc>
              <a:buNone/>
            </a:pPr>
            <a:r>
              <a:rPr lang="en-US" sz="850" b="1" dirty="0">
                <a:solidFill>
                  <a:srgbClr val="113C75"/>
                </a:solidFill>
                <a:latin typeface="Calibri" pitchFamily="34" charset="0"/>
                <a:ea typeface="Calibri" pitchFamily="34" charset="-122"/>
                <a:cs typeface="Calibri" pitchFamily="34" charset="-120"/>
              </a:rPr>
              <a:t>✓  Match on refreshed keys reconciled to legacy within tolerance</a:t>
            </a:r>
            <a:endParaRPr lang="en-US" sz="850" dirty="0"/>
          </a:p>
        </p:txBody>
      </p:sp>
      <p:sp>
        <p:nvSpPr>
          <p:cNvPr id="33" name="Shape 31"/>
          <p:cNvSpPr/>
          <p:nvPr/>
        </p:nvSpPr>
        <p:spPr>
          <a:xfrm>
            <a:off x="8211312" y="1965960"/>
            <a:ext cx="3749040" cy="54864"/>
          </a:xfrm>
          <a:prstGeom prst="rect">
            <a:avLst/>
          </a:prstGeom>
          <a:solidFill>
            <a:srgbClr val="2C8A4B"/>
          </a:solidFill>
          <a:ln/>
        </p:spPr>
      </p:sp>
      <p:sp>
        <p:nvSpPr>
          <p:cNvPr id="34" name="Shape 32"/>
          <p:cNvSpPr/>
          <p:nvPr/>
        </p:nvSpPr>
        <p:spPr>
          <a:xfrm>
            <a:off x="8211312" y="2020824"/>
            <a:ext cx="3749040" cy="3182112"/>
          </a:xfrm>
          <a:prstGeom prst="rect">
            <a:avLst/>
          </a:prstGeom>
          <a:solidFill>
            <a:srgbClr val="F2F5FC"/>
          </a:solidFill>
          <a:ln/>
        </p:spPr>
      </p:sp>
      <p:sp>
        <p:nvSpPr>
          <p:cNvPr id="35" name="Text 33"/>
          <p:cNvSpPr/>
          <p:nvPr/>
        </p:nvSpPr>
        <p:spPr>
          <a:xfrm>
            <a:off x="8394192" y="2103120"/>
            <a:ext cx="2194560" cy="256032"/>
          </a:xfrm>
          <a:prstGeom prst="rect">
            <a:avLst/>
          </a:prstGeom>
          <a:noFill/>
          <a:ln/>
        </p:spPr>
        <p:txBody>
          <a:bodyPr wrap="square" rtlCol="0" anchor="ctr"/>
          <a:lstStyle/>
          <a:p>
            <a:pPr indent="0" marL="0">
              <a:buNone/>
            </a:pPr>
            <a:r>
              <a:rPr lang="en-US" sz="1250" b="1" dirty="0">
                <a:solidFill>
                  <a:srgbClr val="1A288E"/>
                </a:solidFill>
                <a:latin typeface="Calibri" pitchFamily="34" charset="0"/>
                <a:ea typeface="Calibri" pitchFamily="34" charset="-122"/>
                <a:cs typeface="Calibri" pitchFamily="34" charset="-120"/>
              </a:rPr>
              <a:t>3 · Activity-sparse variables</a:t>
            </a:r>
            <a:endParaRPr lang="en-US" sz="1250" dirty="0"/>
          </a:p>
        </p:txBody>
      </p:sp>
      <p:sp>
        <p:nvSpPr>
          <p:cNvPr id="36" name="Shape 34"/>
          <p:cNvSpPr/>
          <p:nvPr/>
        </p:nvSpPr>
        <p:spPr>
          <a:xfrm>
            <a:off x="10479024" y="2130552"/>
            <a:ext cx="1353312" cy="201168"/>
          </a:xfrm>
          <a:prstGeom prst="rect">
            <a:avLst/>
          </a:prstGeom>
          <a:solidFill>
            <a:srgbClr val="E1F0E6"/>
          </a:solidFill>
          <a:ln/>
        </p:spPr>
      </p:sp>
      <p:sp>
        <p:nvSpPr>
          <p:cNvPr id="37" name="Text 35"/>
          <p:cNvSpPr/>
          <p:nvPr/>
        </p:nvSpPr>
        <p:spPr>
          <a:xfrm>
            <a:off x="10479024" y="2148840"/>
            <a:ext cx="1353312" cy="164592"/>
          </a:xfrm>
          <a:prstGeom prst="rect">
            <a:avLst/>
          </a:prstGeom>
          <a:noFill/>
          <a:ln/>
        </p:spPr>
        <p:txBody>
          <a:bodyPr wrap="square" rtlCol="0" anchor="ctr"/>
          <a:lstStyle/>
          <a:p>
            <a:pPr algn="ctr" indent="0" marL="0">
              <a:buNone/>
            </a:pPr>
            <a:r>
              <a:rPr lang="en-US" sz="650" b="1" dirty="0">
                <a:solidFill>
                  <a:srgbClr val="1E6B38"/>
                </a:solidFill>
                <a:latin typeface="Calibri" pitchFamily="34" charset="0"/>
                <a:ea typeface="Calibri" pitchFamily="34" charset="-122"/>
                <a:cs typeface="Calibri" pitchFamily="34" charset="-120"/>
              </a:rPr>
              <a:t>VALIDATION SCOPE</a:t>
            </a:r>
            <a:endParaRPr lang="en-US" sz="650" dirty="0"/>
          </a:p>
        </p:txBody>
      </p:sp>
      <p:sp>
        <p:nvSpPr>
          <p:cNvPr id="38" name="Text 36"/>
          <p:cNvSpPr/>
          <p:nvPr/>
        </p:nvSpPr>
        <p:spPr>
          <a:xfrm>
            <a:off x="8394192" y="2414016"/>
            <a:ext cx="3383280" cy="164592"/>
          </a:xfrm>
          <a:prstGeom prst="rect">
            <a:avLst/>
          </a:prstGeom>
          <a:noFill/>
          <a:ln/>
        </p:spPr>
        <p:txBody>
          <a:bodyPr wrap="square" rtlCol="0" anchor="ctr"/>
          <a:lstStyle/>
          <a:p>
            <a:pPr indent="0" marL="0">
              <a:buNone/>
            </a:pPr>
            <a:r>
              <a:rPr lang="en-US" sz="750" b="1" spc="100" kern="0" dirty="0">
                <a:solidFill>
                  <a:srgbClr val="64748B"/>
                </a:solidFill>
                <a:latin typeface="Calibri" pitchFamily="34" charset="0"/>
                <a:ea typeface="Calibri" pitchFamily="34" charset="-122"/>
                <a:cs typeface="Calibri" pitchFamily="34" charset="-120"/>
              </a:rPr>
              <a:t>SYMPTOM</a:t>
            </a:r>
            <a:endParaRPr lang="en-US" sz="750" dirty="0"/>
          </a:p>
        </p:txBody>
      </p:sp>
      <p:sp>
        <p:nvSpPr>
          <p:cNvPr id="39" name="Text 37"/>
          <p:cNvSpPr/>
          <p:nvPr/>
        </p:nvSpPr>
        <p:spPr>
          <a:xfrm>
            <a:off x="8394192" y="2578608"/>
            <a:ext cx="3383280" cy="329184"/>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Club count, returner flag and one unported variable empty.</a:t>
            </a:r>
            <a:endParaRPr lang="en-US" sz="900" dirty="0"/>
          </a:p>
        </p:txBody>
      </p:sp>
      <p:sp>
        <p:nvSpPr>
          <p:cNvPr id="40" name="Text 38"/>
          <p:cNvSpPr/>
          <p:nvPr/>
        </p:nvSpPr>
        <p:spPr>
          <a:xfrm>
            <a:off x="8394192" y="2798064"/>
            <a:ext cx="3383280" cy="164592"/>
          </a:xfrm>
          <a:prstGeom prst="rect">
            <a:avLst/>
          </a:prstGeom>
          <a:noFill/>
          <a:ln/>
        </p:spPr>
        <p:txBody>
          <a:bodyPr wrap="square" rtlCol="0" anchor="ctr"/>
          <a:lstStyle/>
          <a:p>
            <a:pPr indent="0" marL="0">
              <a:buNone/>
            </a:pPr>
            <a:r>
              <a:rPr lang="en-US" sz="750" b="1" spc="100" kern="0" dirty="0">
                <a:solidFill>
                  <a:srgbClr val="64748B"/>
                </a:solidFill>
                <a:latin typeface="Calibri" pitchFamily="34" charset="0"/>
                <a:ea typeface="Calibri" pitchFamily="34" charset="-122"/>
                <a:cs typeface="Calibri" pitchFamily="34" charset="-120"/>
              </a:rPr>
              <a:t>ROOT CAUSE</a:t>
            </a:r>
            <a:endParaRPr lang="en-US" sz="750" dirty="0"/>
          </a:p>
        </p:txBody>
      </p:sp>
      <p:sp>
        <p:nvSpPr>
          <p:cNvPr id="41" name="Text 39"/>
          <p:cNvSpPr/>
          <p:nvPr/>
        </p:nvSpPr>
        <p:spPr>
          <a:xfrm>
            <a:off x="8394192" y="2962656"/>
            <a:ext cx="3383280" cy="749808"/>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Two were correct but empty on the test harness — its customers had no recent club orders and no returns above threshold. The third had never been ported.</a:t>
            </a:r>
            <a:endParaRPr lang="en-US" sz="900" dirty="0"/>
          </a:p>
        </p:txBody>
      </p:sp>
      <p:sp>
        <p:nvSpPr>
          <p:cNvPr id="42" name="Text 40"/>
          <p:cNvSpPr/>
          <p:nvPr/>
        </p:nvSpPr>
        <p:spPr>
          <a:xfrm>
            <a:off x="8394192" y="3602736"/>
            <a:ext cx="3383280" cy="164592"/>
          </a:xfrm>
          <a:prstGeom prst="rect">
            <a:avLst/>
          </a:prstGeom>
          <a:noFill/>
          <a:ln/>
        </p:spPr>
        <p:txBody>
          <a:bodyPr wrap="square" rtlCol="0" anchor="ctr"/>
          <a:lstStyle/>
          <a:p>
            <a:pPr indent="0" marL="0">
              <a:buNone/>
            </a:pPr>
            <a:r>
              <a:rPr lang="en-US" sz="750" b="1" spc="100" kern="0" dirty="0">
                <a:solidFill>
                  <a:srgbClr val="64748B"/>
                </a:solidFill>
                <a:latin typeface="Calibri" pitchFamily="34" charset="0"/>
                <a:ea typeface="Calibri" pitchFamily="34" charset="-122"/>
                <a:cs typeface="Calibri" pitchFamily="34" charset="-120"/>
              </a:rPr>
              <a:t>JUDGEMENT &amp; RESOLUTION</a:t>
            </a:r>
            <a:endParaRPr lang="en-US" sz="750" dirty="0"/>
          </a:p>
        </p:txBody>
      </p:sp>
      <p:sp>
        <p:nvSpPr>
          <p:cNvPr id="43" name="Text 41"/>
          <p:cNvSpPr/>
          <p:nvPr/>
        </p:nvSpPr>
        <p:spPr>
          <a:xfrm>
            <a:off x="8394192" y="3767328"/>
            <a:ext cx="3383280" cy="749808"/>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The two were validated on the full ~600K audience, where they populate and match legacy; the missing variable was ported as one new recipe on an existing builder.</a:t>
            </a:r>
            <a:endParaRPr lang="en-US" sz="900" dirty="0"/>
          </a:p>
        </p:txBody>
      </p:sp>
      <p:sp>
        <p:nvSpPr>
          <p:cNvPr id="44" name="Shape 42"/>
          <p:cNvSpPr/>
          <p:nvPr/>
        </p:nvSpPr>
        <p:spPr>
          <a:xfrm>
            <a:off x="8394192" y="4645152"/>
            <a:ext cx="3383280" cy="438912"/>
          </a:xfrm>
          <a:prstGeom prst="rect">
            <a:avLst/>
          </a:prstGeom>
          <a:solidFill>
            <a:srgbClr val="E3EAFB"/>
          </a:solidFill>
          <a:ln/>
        </p:spPr>
      </p:sp>
      <p:sp>
        <p:nvSpPr>
          <p:cNvPr id="45" name="Text 43"/>
          <p:cNvSpPr/>
          <p:nvPr/>
        </p:nvSpPr>
        <p:spPr>
          <a:xfrm>
            <a:off x="8485632" y="4681728"/>
            <a:ext cx="3200400" cy="365760"/>
          </a:xfrm>
          <a:prstGeom prst="rect">
            <a:avLst/>
          </a:prstGeom>
          <a:noFill/>
          <a:ln/>
        </p:spPr>
        <p:txBody>
          <a:bodyPr wrap="square" rtlCol="0" anchor="ctr"/>
          <a:lstStyle/>
          <a:p>
            <a:pPr indent="0" marL="0">
              <a:lnSpc>
                <a:spcPts val="1050"/>
              </a:lnSpc>
              <a:buNone/>
            </a:pPr>
            <a:r>
              <a:rPr lang="en-US" sz="850" b="1" dirty="0">
                <a:solidFill>
                  <a:srgbClr val="113C75"/>
                </a:solidFill>
                <a:latin typeface="Calibri" pitchFamily="34" charset="0"/>
                <a:ea typeface="Calibri" pitchFamily="34" charset="-122"/>
                <a:cs typeface="Calibri" pitchFamily="34" charset="-120"/>
              </a:rPr>
              <a:t>✓  Full-audience census: 475 of 475 populating</a:t>
            </a:r>
            <a:endParaRPr lang="en-US" sz="850" dirty="0"/>
          </a:p>
        </p:txBody>
      </p:sp>
      <p:sp>
        <p:nvSpPr>
          <p:cNvPr id="46" name="Shape 44"/>
          <p:cNvSpPr/>
          <p:nvPr/>
        </p:nvSpPr>
        <p:spPr>
          <a:xfrm>
            <a:off x="237744" y="5422392"/>
            <a:ext cx="11713464" cy="758952"/>
          </a:xfrm>
          <a:prstGeom prst="rect">
            <a:avLst/>
          </a:prstGeom>
          <a:solidFill>
            <a:srgbClr val="1A288E"/>
          </a:solidFill>
          <a:ln/>
        </p:spPr>
      </p:sp>
      <p:sp>
        <p:nvSpPr>
          <p:cNvPr id="47" name="Text 45"/>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PRINCIPLE BEHIND THE LAST MILE</a:t>
            </a:r>
            <a:endParaRPr lang="en-US" sz="900" dirty="0"/>
          </a:p>
        </p:txBody>
      </p:sp>
      <p:sp>
        <p:nvSpPr>
          <p:cNvPr id="48" name="Text 46"/>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A gap is only accepted when every route to close it has been tried. Here, a sign-slot sweep, a reference refresh and a validation on the right population turned three 'won't fix' items into 100%</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GOVERNANCE · DECISIONS AND SIGN-OFF</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What the Code Could Not Decide</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Several fixes were technically clear but changed what a number means. Those were never shipped on engineering judgement alone — each went to the business owner with evidence and was recorded in a decision register</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20240"/>
            <a:ext cx="50292" cy="621792"/>
          </a:xfrm>
          <a:prstGeom prst="rect">
            <a:avLst/>
          </a:prstGeom>
          <a:solidFill>
            <a:srgbClr val="F96806"/>
          </a:solidFill>
          <a:ln/>
        </p:spPr>
      </p:sp>
      <p:sp>
        <p:nvSpPr>
          <p:cNvPr id="8" name="Shape 6"/>
          <p:cNvSpPr/>
          <p:nvPr/>
        </p:nvSpPr>
        <p:spPr>
          <a:xfrm>
            <a:off x="288036" y="1920240"/>
            <a:ext cx="11663172" cy="621792"/>
          </a:xfrm>
          <a:prstGeom prst="rect">
            <a:avLst/>
          </a:prstGeom>
          <a:solidFill>
            <a:srgbClr val="F2F5FC"/>
          </a:solidFill>
          <a:ln/>
        </p:spPr>
      </p:sp>
      <p:sp>
        <p:nvSpPr>
          <p:cNvPr id="9" name="Text 7"/>
          <p:cNvSpPr/>
          <p:nvPr/>
        </p:nvSpPr>
        <p:spPr>
          <a:xfrm>
            <a:off x="466344" y="1975104"/>
            <a:ext cx="2743200" cy="512064"/>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Two-field date logic</a:t>
            </a:r>
            <a:endParaRPr lang="en-US" sz="1100" dirty="0"/>
          </a:p>
        </p:txBody>
      </p:sp>
      <p:sp>
        <p:nvSpPr>
          <p:cNvPr id="10" name="Text 8"/>
          <p:cNvSpPr/>
          <p:nvPr/>
        </p:nvSpPr>
        <p:spPr>
          <a:xfrm>
            <a:off x="3154680" y="1975104"/>
            <a:ext cx="4114800" cy="146304"/>
          </a:xfrm>
          <a:prstGeom prst="rect">
            <a:avLst/>
          </a:prstGeom>
          <a:noFill/>
          <a:ln/>
        </p:spPr>
        <p:txBody>
          <a:bodyPr wrap="square" rtlCol="0" anchor="ctr"/>
          <a:lstStyle/>
          <a:p>
            <a:pPr indent="0" marL="0">
              <a:buNone/>
            </a:pPr>
            <a:r>
              <a:rPr lang="en-US" sz="700" b="1" spc="100" kern="0" dirty="0">
                <a:solidFill>
                  <a:srgbClr val="64748B"/>
                </a:solidFill>
                <a:latin typeface="Calibri" pitchFamily="34" charset="0"/>
                <a:ea typeface="Calibri" pitchFamily="34" charset="-122"/>
                <a:cs typeface="Calibri" pitchFamily="34" charset="-120"/>
              </a:rPr>
              <a:t>THE ISSUE</a:t>
            </a:r>
            <a:endParaRPr lang="en-US" sz="700" dirty="0"/>
          </a:p>
        </p:txBody>
      </p:sp>
      <p:sp>
        <p:nvSpPr>
          <p:cNvPr id="11" name="Text 9"/>
          <p:cNvSpPr/>
          <p:nvPr/>
        </p:nvSpPr>
        <p:spPr>
          <a:xfrm>
            <a:off x="3154680" y="2121408"/>
            <a:ext cx="4206240" cy="384048"/>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Use the original created date where present, otherwise the platform load timestamp.</a:t>
            </a:r>
            <a:endParaRPr lang="en-US" sz="900" dirty="0"/>
          </a:p>
        </p:txBody>
      </p:sp>
      <p:sp>
        <p:nvSpPr>
          <p:cNvPr id="12" name="Text 10"/>
          <p:cNvSpPr/>
          <p:nvPr/>
        </p:nvSpPr>
        <p:spPr>
          <a:xfrm>
            <a:off x="7589520" y="1975104"/>
            <a:ext cx="4114800" cy="146304"/>
          </a:xfrm>
          <a:prstGeom prst="rect">
            <a:avLst/>
          </a:prstGeom>
          <a:noFill/>
          <a:ln/>
        </p:spPr>
        <p:txBody>
          <a:bodyPr wrap="square" rtlCol="0" anchor="ctr"/>
          <a:lstStyle/>
          <a:p>
            <a:pPr indent="0" marL="0">
              <a:buNone/>
            </a:pPr>
            <a:r>
              <a:rPr lang="en-US" sz="700" b="1" spc="100" kern="0" dirty="0">
                <a:solidFill>
                  <a:srgbClr val="2C8A4B"/>
                </a:solidFill>
                <a:latin typeface="Calibri" pitchFamily="34" charset="0"/>
                <a:ea typeface="Calibri" pitchFamily="34" charset="-122"/>
                <a:cs typeface="Calibri" pitchFamily="34" charset="-120"/>
              </a:rPr>
              <a:t>HOW IT WAS GOVERNED</a:t>
            </a:r>
            <a:endParaRPr lang="en-US" sz="700" dirty="0"/>
          </a:p>
        </p:txBody>
      </p:sp>
      <p:sp>
        <p:nvSpPr>
          <p:cNvPr id="13" name="Text 11"/>
          <p:cNvSpPr/>
          <p:nvPr/>
        </p:nvSpPr>
        <p:spPr>
          <a:xfrm>
            <a:off x="7589520" y="2121408"/>
            <a:ext cx="4251960" cy="384048"/>
          </a:xfrm>
          <a:prstGeom prst="rect">
            <a:avLst/>
          </a:prstGeom>
          <a:noFill/>
          <a:ln/>
        </p:spPr>
        <p:txBody>
          <a:bodyPr wrap="square" rtlCol="0" anchor="t"/>
          <a:lstStyle/>
          <a:p>
            <a:pPr indent="0" marL="0">
              <a:lnSpc>
                <a:spcPts val="1100"/>
              </a:lnSpc>
              <a:buNone/>
            </a:pPr>
            <a:r>
              <a:rPr lang="en-US" sz="900" dirty="0">
                <a:solidFill>
                  <a:srgbClr val="1E6B38"/>
                </a:solidFill>
                <a:latin typeface="Calibri" pitchFamily="34" charset="0"/>
                <a:ea typeface="Calibri" pitchFamily="34" charset="-122"/>
                <a:cs typeface="Calibri" pitchFamily="34" charset="-120"/>
              </a:rPr>
              <a:t>Agreed with the platform build team and the client's modelling lead before implementation.</a:t>
            </a:r>
            <a:endParaRPr lang="en-US" sz="900" dirty="0"/>
          </a:p>
        </p:txBody>
      </p:sp>
      <p:sp>
        <p:nvSpPr>
          <p:cNvPr id="14" name="Shape 12"/>
          <p:cNvSpPr/>
          <p:nvPr/>
        </p:nvSpPr>
        <p:spPr>
          <a:xfrm>
            <a:off x="237744" y="2596896"/>
            <a:ext cx="50292" cy="621792"/>
          </a:xfrm>
          <a:prstGeom prst="rect">
            <a:avLst/>
          </a:prstGeom>
          <a:solidFill>
            <a:srgbClr val="F96806"/>
          </a:solidFill>
          <a:ln/>
        </p:spPr>
      </p:sp>
      <p:sp>
        <p:nvSpPr>
          <p:cNvPr id="15" name="Shape 13"/>
          <p:cNvSpPr/>
          <p:nvPr/>
        </p:nvSpPr>
        <p:spPr>
          <a:xfrm>
            <a:off x="288036" y="2596896"/>
            <a:ext cx="11663172" cy="621792"/>
          </a:xfrm>
          <a:prstGeom prst="rect">
            <a:avLst/>
          </a:prstGeom>
          <a:solidFill>
            <a:srgbClr val="F2F5FC"/>
          </a:solidFill>
          <a:ln/>
        </p:spPr>
      </p:sp>
      <p:sp>
        <p:nvSpPr>
          <p:cNvPr id="16" name="Text 14"/>
          <p:cNvSpPr/>
          <p:nvPr/>
        </p:nvSpPr>
        <p:spPr>
          <a:xfrm>
            <a:off x="466344" y="2651760"/>
            <a:ext cx="2743200" cy="512064"/>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Blank channel = non-web</a:t>
            </a:r>
            <a:endParaRPr lang="en-US" sz="1100" dirty="0"/>
          </a:p>
        </p:txBody>
      </p:sp>
      <p:sp>
        <p:nvSpPr>
          <p:cNvPr id="17" name="Text 15"/>
          <p:cNvSpPr/>
          <p:nvPr/>
        </p:nvSpPr>
        <p:spPr>
          <a:xfrm>
            <a:off x="3154680" y="2651760"/>
            <a:ext cx="4114800" cy="146304"/>
          </a:xfrm>
          <a:prstGeom prst="rect">
            <a:avLst/>
          </a:prstGeom>
          <a:noFill/>
          <a:ln/>
        </p:spPr>
        <p:txBody>
          <a:bodyPr wrap="square" rtlCol="0" anchor="ctr"/>
          <a:lstStyle/>
          <a:p>
            <a:pPr indent="0" marL="0">
              <a:buNone/>
            </a:pPr>
            <a:r>
              <a:rPr lang="en-US" sz="700" b="1" spc="100" kern="0" dirty="0">
                <a:solidFill>
                  <a:srgbClr val="64748B"/>
                </a:solidFill>
                <a:latin typeface="Calibri" pitchFamily="34" charset="0"/>
                <a:ea typeface="Calibri" pitchFamily="34" charset="-122"/>
                <a:cs typeface="Calibri" pitchFamily="34" charset="-120"/>
              </a:rPr>
              <a:t>THE ISSUE</a:t>
            </a:r>
            <a:endParaRPr lang="en-US" sz="700" dirty="0"/>
          </a:p>
        </p:txBody>
      </p:sp>
      <p:sp>
        <p:nvSpPr>
          <p:cNvPr id="18" name="Text 16"/>
          <p:cNvSpPr/>
          <p:nvPr/>
        </p:nvSpPr>
        <p:spPr>
          <a:xfrm>
            <a:off x="3154680" y="2798064"/>
            <a:ext cx="4206240" cy="384048"/>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Almost every non-web order arrived with a blank channel code.</a:t>
            </a:r>
            <a:endParaRPr lang="en-US" sz="900" dirty="0"/>
          </a:p>
        </p:txBody>
      </p:sp>
      <p:sp>
        <p:nvSpPr>
          <p:cNvPr id="19" name="Text 17"/>
          <p:cNvSpPr/>
          <p:nvPr/>
        </p:nvSpPr>
        <p:spPr>
          <a:xfrm>
            <a:off x="7589520" y="2651760"/>
            <a:ext cx="4114800" cy="146304"/>
          </a:xfrm>
          <a:prstGeom prst="rect">
            <a:avLst/>
          </a:prstGeom>
          <a:noFill/>
          <a:ln/>
        </p:spPr>
        <p:txBody>
          <a:bodyPr wrap="square" rtlCol="0" anchor="ctr"/>
          <a:lstStyle/>
          <a:p>
            <a:pPr indent="0" marL="0">
              <a:buNone/>
            </a:pPr>
            <a:r>
              <a:rPr lang="en-US" sz="700" b="1" spc="100" kern="0" dirty="0">
                <a:solidFill>
                  <a:srgbClr val="2C8A4B"/>
                </a:solidFill>
                <a:latin typeface="Calibri" pitchFamily="34" charset="0"/>
                <a:ea typeface="Calibri" pitchFamily="34" charset="-122"/>
                <a:cs typeface="Calibri" pitchFamily="34" charset="-120"/>
              </a:rPr>
              <a:t>HOW IT WAS GOVERNED</a:t>
            </a:r>
            <a:endParaRPr lang="en-US" sz="700" dirty="0"/>
          </a:p>
        </p:txBody>
      </p:sp>
      <p:sp>
        <p:nvSpPr>
          <p:cNvPr id="20" name="Text 18"/>
          <p:cNvSpPr/>
          <p:nvPr/>
        </p:nvSpPr>
        <p:spPr>
          <a:xfrm>
            <a:off x="7589520" y="2798064"/>
            <a:ext cx="4251960" cy="384048"/>
          </a:xfrm>
          <a:prstGeom prst="rect">
            <a:avLst/>
          </a:prstGeom>
          <a:noFill/>
          <a:ln/>
        </p:spPr>
        <p:txBody>
          <a:bodyPr wrap="square" rtlCol="0" anchor="t"/>
          <a:lstStyle/>
          <a:p>
            <a:pPr indent="0" marL="0">
              <a:lnSpc>
                <a:spcPts val="1100"/>
              </a:lnSpc>
              <a:buNone/>
            </a:pPr>
            <a:r>
              <a:rPr lang="en-US" sz="900" dirty="0">
                <a:solidFill>
                  <a:srgbClr val="1E6B38"/>
                </a:solidFill>
                <a:latin typeface="Calibri" pitchFamily="34" charset="0"/>
                <a:ea typeface="Calibri" pitchFamily="34" charset="-122"/>
                <a:cs typeface="Calibri" pitchFamily="34" charset="-120"/>
              </a:rPr>
              <a:t>Raised as an assumption with evidence; confirmed by the client before the final run.</a:t>
            </a:r>
            <a:endParaRPr lang="en-US" sz="900" dirty="0"/>
          </a:p>
        </p:txBody>
      </p:sp>
      <p:sp>
        <p:nvSpPr>
          <p:cNvPr id="21" name="Shape 19"/>
          <p:cNvSpPr/>
          <p:nvPr/>
        </p:nvSpPr>
        <p:spPr>
          <a:xfrm>
            <a:off x="237744" y="3273552"/>
            <a:ext cx="50292" cy="621792"/>
          </a:xfrm>
          <a:prstGeom prst="rect">
            <a:avLst/>
          </a:prstGeom>
          <a:solidFill>
            <a:srgbClr val="F96806"/>
          </a:solidFill>
          <a:ln/>
        </p:spPr>
      </p:sp>
      <p:sp>
        <p:nvSpPr>
          <p:cNvPr id="22" name="Shape 20"/>
          <p:cNvSpPr/>
          <p:nvPr/>
        </p:nvSpPr>
        <p:spPr>
          <a:xfrm>
            <a:off x="288036" y="3273552"/>
            <a:ext cx="11663172" cy="621792"/>
          </a:xfrm>
          <a:prstGeom prst="rect">
            <a:avLst/>
          </a:prstGeom>
          <a:solidFill>
            <a:srgbClr val="F2F5FC"/>
          </a:solidFill>
          <a:ln/>
        </p:spPr>
      </p:sp>
      <p:sp>
        <p:nvSpPr>
          <p:cNvPr id="23" name="Text 21"/>
          <p:cNvSpPr/>
          <p:nvPr/>
        </p:nvSpPr>
        <p:spPr>
          <a:xfrm>
            <a:off x="466344" y="3328416"/>
            <a:ext cx="2743200" cy="512064"/>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Paid-only shipment counts</a:t>
            </a:r>
            <a:endParaRPr lang="en-US" sz="1100" dirty="0"/>
          </a:p>
        </p:txBody>
      </p:sp>
      <p:sp>
        <p:nvSpPr>
          <p:cNvPr id="24" name="Text 22"/>
          <p:cNvSpPr/>
          <p:nvPr/>
        </p:nvSpPr>
        <p:spPr>
          <a:xfrm>
            <a:off x="3154680" y="3328416"/>
            <a:ext cx="4114800" cy="146304"/>
          </a:xfrm>
          <a:prstGeom prst="rect">
            <a:avLst/>
          </a:prstGeom>
          <a:noFill/>
          <a:ln/>
        </p:spPr>
        <p:txBody>
          <a:bodyPr wrap="square" rtlCol="0" anchor="ctr"/>
          <a:lstStyle/>
          <a:p>
            <a:pPr indent="0" marL="0">
              <a:buNone/>
            </a:pPr>
            <a:r>
              <a:rPr lang="en-US" sz="700" b="1" spc="100" kern="0" dirty="0">
                <a:solidFill>
                  <a:srgbClr val="64748B"/>
                </a:solidFill>
                <a:latin typeface="Calibri" pitchFamily="34" charset="0"/>
                <a:ea typeface="Calibri" pitchFamily="34" charset="-122"/>
                <a:cs typeface="Calibri" pitchFamily="34" charset="-120"/>
              </a:rPr>
              <a:t>THE ISSUE</a:t>
            </a:r>
            <a:endParaRPr lang="en-US" sz="700" dirty="0"/>
          </a:p>
        </p:txBody>
      </p:sp>
      <p:sp>
        <p:nvSpPr>
          <p:cNvPr id="25" name="Text 23"/>
          <p:cNvSpPr/>
          <p:nvPr/>
        </p:nvSpPr>
        <p:spPr>
          <a:xfrm>
            <a:off x="3154680" y="3474720"/>
            <a:ext cx="4206240" cy="384048"/>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A shipment variable described as 'paid' counted unpaid orders — ~7% too high.</a:t>
            </a:r>
            <a:endParaRPr lang="en-US" sz="900" dirty="0"/>
          </a:p>
        </p:txBody>
      </p:sp>
      <p:sp>
        <p:nvSpPr>
          <p:cNvPr id="26" name="Text 24"/>
          <p:cNvSpPr/>
          <p:nvPr/>
        </p:nvSpPr>
        <p:spPr>
          <a:xfrm>
            <a:off x="7589520" y="3328416"/>
            <a:ext cx="4114800" cy="146304"/>
          </a:xfrm>
          <a:prstGeom prst="rect">
            <a:avLst/>
          </a:prstGeom>
          <a:noFill/>
          <a:ln/>
        </p:spPr>
        <p:txBody>
          <a:bodyPr wrap="square" rtlCol="0" anchor="ctr"/>
          <a:lstStyle/>
          <a:p>
            <a:pPr indent="0" marL="0">
              <a:buNone/>
            </a:pPr>
            <a:r>
              <a:rPr lang="en-US" sz="700" b="1" spc="100" kern="0" dirty="0">
                <a:solidFill>
                  <a:srgbClr val="2C8A4B"/>
                </a:solidFill>
                <a:latin typeface="Calibri" pitchFamily="34" charset="0"/>
                <a:ea typeface="Calibri" pitchFamily="34" charset="-122"/>
                <a:cs typeface="Calibri" pitchFamily="34" charset="-120"/>
              </a:rPr>
              <a:t>HOW IT WAS GOVERNED</a:t>
            </a:r>
            <a:endParaRPr lang="en-US" sz="700" dirty="0"/>
          </a:p>
        </p:txBody>
      </p:sp>
      <p:sp>
        <p:nvSpPr>
          <p:cNvPr id="27" name="Text 25"/>
          <p:cNvSpPr/>
          <p:nvPr/>
        </p:nvSpPr>
        <p:spPr>
          <a:xfrm>
            <a:off x="7589520" y="3474720"/>
            <a:ext cx="4251960" cy="384048"/>
          </a:xfrm>
          <a:prstGeom prst="rect">
            <a:avLst/>
          </a:prstGeom>
          <a:noFill/>
          <a:ln/>
        </p:spPr>
        <p:txBody>
          <a:bodyPr wrap="square" rtlCol="0" anchor="t"/>
          <a:lstStyle/>
          <a:p>
            <a:pPr indent="0" marL="0">
              <a:lnSpc>
                <a:spcPts val="1100"/>
              </a:lnSpc>
              <a:buNone/>
            </a:pPr>
            <a:r>
              <a:rPr lang="en-US" sz="900" dirty="0">
                <a:solidFill>
                  <a:srgbClr val="1E6B38"/>
                </a:solidFill>
                <a:latin typeface="Calibri" pitchFamily="34" charset="0"/>
                <a:ea typeface="Calibri" pitchFamily="34" charset="-122"/>
                <a:cs typeface="Calibri" pitchFamily="34" charset="-120"/>
              </a:rPr>
              <a:t>Lowers a figure the client sees, so released only after business sign-off.</a:t>
            </a:r>
            <a:endParaRPr lang="en-US" sz="900" dirty="0"/>
          </a:p>
        </p:txBody>
      </p:sp>
      <p:sp>
        <p:nvSpPr>
          <p:cNvPr id="28" name="Shape 26"/>
          <p:cNvSpPr/>
          <p:nvPr/>
        </p:nvSpPr>
        <p:spPr>
          <a:xfrm>
            <a:off x="237744" y="3950208"/>
            <a:ext cx="50292" cy="621792"/>
          </a:xfrm>
          <a:prstGeom prst="rect">
            <a:avLst/>
          </a:prstGeom>
          <a:solidFill>
            <a:srgbClr val="F96806"/>
          </a:solidFill>
          <a:ln/>
        </p:spPr>
      </p:sp>
      <p:sp>
        <p:nvSpPr>
          <p:cNvPr id="29" name="Shape 27"/>
          <p:cNvSpPr/>
          <p:nvPr/>
        </p:nvSpPr>
        <p:spPr>
          <a:xfrm>
            <a:off x="288036" y="3950208"/>
            <a:ext cx="11663172" cy="621792"/>
          </a:xfrm>
          <a:prstGeom prst="rect">
            <a:avLst/>
          </a:prstGeom>
          <a:solidFill>
            <a:srgbClr val="F2F5FC"/>
          </a:solidFill>
          <a:ln/>
        </p:spPr>
      </p:sp>
      <p:sp>
        <p:nvSpPr>
          <p:cNvPr id="30" name="Text 28"/>
          <p:cNvSpPr/>
          <p:nvPr/>
        </p:nvSpPr>
        <p:spPr>
          <a:xfrm>
            <a:off x="466344" y="4005072"/>
            <a:ext cx="2743200" cy="512064"/>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Retired product identifiers</a:t>
            </a:r>
            <a:endParaRPr lang="en-US" sz="1100" dirty="0"/>
          </a:p>
        </p:txBody>
      </p:sp>
      <p:sp>
        <p:nvSpPr>
          <p:cNvPr id="31" name="Text 29"/>
          <p:cNvSpPr/>
          <p:nvPr/>
        </p:nvSpPr>
        <p:spPr>
          <a:xfrm>
            <a:off x="3154680" y="4005072"/>
            <a:ext cx="4114800" cy="146304"/>
          </a:xfrm>
          <a:prstGeom prst="rect">
            <a:avLst/>
          </a:prstGeom>
          <a:noFill/>
          <a:ln/>
        </p:spPr>
        <p:txBody>
          <a:bodyPr wrap="square" rtlCol="0" anchor="ctr"/>
          <a:lstStyle/>
          <a:p>
            <a:pPr indent="0" marL="0">
              <a:buNone/>
            </a:pPr>
            <a:r>
              <a:rPr lang="en-US" sz="700" b="1" spc="100" kern="0" dirty="0">
                <a:solidFill>
                  <a:srgbClr val="64748B"/>
                </a:solidFill>
                <a:latin typeface="Calibri" pitchFamily="34" charset="0"/>
                <a:ea typeface="Calibri" pitchFamily="34" charset="-122"/>
                <a:cs typeface="Calibri" pitchFamily="34" charset="-120"/>
              </a:rPr>
              <a:t>THE ISSUE</a:t>
            </a:r>
            <a:endParaRPr lang="en-US" sz="700" dirty="0"/>
          </a:p>
        </p:txBody>
      </p:sp>
      <p:sp>
        <p:nvSpPr>
          <p:cNvPr id="32" name="Text 30"/>
          <p:cNvSpPr/>
          <p:nvPr/>
        </p:nvSpPr>
        <p:spPr>
          <a:xfrm>
            <a:off x="3154680" y="4151376"/>
            <a:ext cx="4206240" cy="384048"/>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Hard-coded legacy identifiers no longer existed in the CDP.</a:t>
            </a:r>
            <a:endParaRPr lang="en-US" sz="900" dirty="0"/>
          </a:p>
        </p:txBody>
      </p:sp>
      <p:sp>
        <p:nvSpPr>
          <p:cNvPr id="33" name="Text 31"/>
          <p:cNvSpPr/>
          <p:nvPr/>
        </p:nvSpPr>
        <p:spPr>
          <a:xfrm>
            <a:off x="7589520" y="4005072"/>
            <a:ext cx="4114800" cy="146304"/>
          </a:xfrm>
          <a:prstGeom prst="rect">
            <a:avLst/>
          </a:prstGeom>
          <a:noFill/>
          <a:ln/>
        </p:spPr>
        <p:txBody>
          <a:bodyPr wrap="square" rtlCol="0" anchor="ctr"/>
          <a:lstStyle/>
          <a:p>
            <a:pPr indent="0" marL="0">
              <a:buNone/>
            </a:pPr>
            <a:r>
              <a:rPr lang="en-US" sz="700" b="1" spc="100" kern="0" dirty="0">
                <a:solidFill>
                  <a:srgbClr val="2C8A4B"/>
                </a:solidFill>
                <a:latin typeface="Calibri" pitchFamily="34" charset="0"/>
                <a:ea typeface="Calibri" pitchFamily="34" charset="-122"/>
                <a:cs typeface="Calibri" pitchFamily="34" charset="-120"/>
              </a:rPr>
              <a:t>HOW IT WAS GOVERNED</a:t>
            </a:r>
            <a:endParaRPr lang="en-US" sz="700" dirty="0"/>
          </a:p>
        </p:txBody>
      </p:sp>
      <p:sp>
        <p:nvSpPr>
          <p:cNvPr id="34" name="Text 32"/>
          <p:cNvSpPr/>
          <p:nvPr/>
        </p:nvSpPr>
        <p:spPr>
          <a:xfrm>
            <a:off x="7589520" y="4151376"/>
            <a:ext cx="4251960" cy="384048"/>
          </a:xfrm>
          <a:prstGeom prst="rect">
            <a:avLst/>
          </a:prstGeom>
          <a:noFill/>
          <a:ln/>
        </p:spPr>
        <p:txBody>
          <a:bodyPr wrap="square" rtlCol="0" anchor="t"/>
          <a:lstStyle/>
          <a:p>
            <a:pPr indent="0" marL="0">
              <a:lnSpc>
                <a:spcPts val="1100"/>
              </a:lnSpc>
              <a:buNone/>
            </a:pPr>
            <a:r>
              <a:rPr lang="en-US" sz="900" dirty="0">
                <a:solidFill>
                  <a:srgbClr val="1E6B38"/>
                </a:solidFill>
                <a:latin typeface="Calibri" pitchFamily="34" charset="0"/>
                <a:ea typeface="Calibri" pitchFamily="34" charset="-122"/>
                <a:cs typeface="Calibri" pitchFamily="34" charset="-120"/>
              </a:rPr>
              <a:t>Client supplied current identifiers; mapping held in the bridge, recipe untouched.</a:t>
            </a:r>
            <a:endParaRPr lang="en-US" sz="900" dirty="0"/>
          </a:p>
        </p:txBody>
      </p:sp>
      <p:sp>
        <p:nvSpPr>
          <p:cNvPr id="35" name="Shape 33"/>
          <p:cNvSpPr/>
          <p:nvPr/>
        </p:nvSpPr>
        <p:spPr>
          <a:xfrm>
            <a:off x="237744" y="4626864"/>
            <a:ext cx="50292" cy="621792"/>
          </a:xfrm>
          <a:prstGeom prst="rect">
            <a:avLst/>
          </a:prstGeom>
          <a:solidFill>
            <a:srgbClr val="F96806"/>
          </a:solidFill>
          <a:ln/>
        </p:spPr>
      </p:sp>
      <p:sp>
        <p:nvSpPr>
          <p:cNvPr id="36" name="Shape 34"/>
          <p:cNvSpPr/>
          <p:nvPr/>
        </p:nvSpPr>
        <p:spPr>
          <a:xfrm>
            <a:off x="288036" y="4626864"/>
            <a:ext cx="11663172" cy="621792"/>
          </a:xfrm>
          <a:prstGeom prst="rect">
            <a:avLst/>
          </a:prstGeom>
          <a:solidFill>
            <a:srgbClr val="F2F5FC"/>
          </a:solidFill>
          <a:ln/>
        </p:spPr>
      </p:sp>
      <p:sp>
        <p:nvSpPr>
          <p:cNvPr id="37" name="Text 35"/>
          <p:cNvSpPr/>
          <p:nvPr/>
        </p:nvSpPr>
        <p:spPr>
          <a:xfrm>
            <a:off x="466344" y="4681728"/>
            <a:ext cx="2743200" cy="512064"/>
          </a:xfrm>
          <a:prstGeom prst="rect">
            <a:avLst/>
          </a:prstGeom>
          <a:noFill/>
          <a:ln/>
        </p:spPr>
        <p:txBody>
          <a:bodyPr wrap="square" rtlCol="0" anchor="ctr"/>
          <a:lstStyle/>
          <a:p>
            <a:pPr indent="0" marL="0">
              <a:buNone/>
            </a:pPr>
            <a:r>
              <a:rPr lang="en-US" sz="1100" b="1" dirty="0">
                <a:solidFill>
                  <a:srgbClr val="1A288E"/>
                </a:solidFill>
                <a:latin typeface="Calibri" pitchFamily="34" charset="0"/>
                <a:ea typeface="Calibri" pitchFamily="34" charset="-122"/>
                <a:cs typeface="Calibri" pitchFamily="34" charset="-120"/>
              </a:rPr>
              <a:t>New reference codes</a:t>
            </a:r>
            <a:endParaRPr lang="en-US" sz="1100" dirty="0"/>
          </a:p>
        </p:txBody>
      </p:sp>
      <p:sp>
        <p:nvSpPr>
          <p:cNvPr id="38" name="Text 36"/>
          <p:cNvSpPr/>
          <p:nvPr/>
        </p:nvSpPr>
        <p:spPr>
          <a:xfrm>
            <a:off x="3154680" y="4681728"/>
            <a:ext cx="4114800" cy="146304"/>
          </a:xfrm>
          <a:prstGeom prst="rect">
            <a:avLst/>
          </a:prstGeom>
          <a:noFill/>
          <a:ln/>
        </p:spPr>
        <p:txBody>
          <a:bodyPr wrap="square" rtlCol="0" anchor="ctr"/>
          <a:lstStyle/>
          <a:p>
            <a:pPr indent="0" marL="0">
              <a:buNone/>
            </a:pPr>
            <a:r>
              <a:rPr lang="en-US" sz="700" b="1" spc="100" kern="0" dirty="0">
                <a:solidFill>
                  <a:srgbClr val="64748B"/>
                </a:solidFill>
                <a:latin typeface="Calibri" pitchFamily="34" charset="0"/>
                <a:ea typeface="Calibri" pitchFamily="34" charset="-122"/>
                <a:cs typeface="Calibri" pitchFamily="34" charset="-120"/>
              </a:rPr>
              <a:t>THE ISSUE</a:t>
            </a:r>
            <a:endParaRPr lang="en-US" sz="700" dirty="0"/>
          </a:p>
        </p:txBody>
      </p:sp>
      <p:sp>
        <p:nvSpPr>
          <p:cNvPr id="39" name="Text 37"/>
          <p:cNvSpPr/>
          <p:nvPr/>
        </p:nvSpPr>
        <p:spPr>
          <a:xfrm>
            <a:off x="3154680" y="4828032"/>
            <a:ext cx="4206240" cy="384048"/>
          </a:xfrm>
          <a:prstGeom prst="rect">
            <a:avLst/>
          </a:prstGeom>
          <a:noFill/>
          <a:ln/>
        </p:spPr>
        <p:txBody>
          <a:bodyPr wrap="square" rtlCol="0" anchor="t"/>
          <a:lstStyle/>
          <a:p>
            <a:pPr indent="0" marL="0">
              <a:lnSpc>
                <a:spcPts val="1100"/>
              </a:lnSpc>
              <a:buNone/>
            </a:pPr>
            <a:r>
              <a:rPr lang="en-US" sz="900" dirty="0">
                <a:solidFill>
                  <a:srgbClr val="5B6577"/>
                </a:solidFill>
                <a:latin typeface="Calibri" pitchFamily="34" charset="0"/>
                <a:ea typeface="Calibri" pitchFamily="34" charset="-122"/>
                <a:cs typeface="Calibri" pitchFamily="34" charset="-120"/>
              </a:rPr>
              <a:t>A product code appeared in the CDP that lookups had never seen.</a:t>
            </a:r>
            <a:endParaRPr lang="en-US" sz="900" dirty="0"/>
          </a:p>
        </p:txBody>
      </p:sp>
      <p:sp>
        <p:nvSpPr>
          <p:cNvPr id="40" name="Text 38"/>
          <p:cNvSpPr/>
          <p:nvPr/>
        </p:nvSpPr>
        <p:spPr>
          <a:xfrm>
            <a:off x="7589520" y="4681728"/>
            <a:ext cx="4114800" cy="146304"/>
          </a:xfrm>
          <a:prstGeom prst="rect">
            <a:avLst/>
          </a:prstGeom>
          <a:noFill/>
          <a:ln/>
        </p:spPr>
        <p:txBody>
          <a:bodyPr wrap="square" rtlCol="0" anchor="ctr"/>
          <a:lstStyle/>
          <a:p>
            <a:pPr indent="0" marL="0">
              <a:buNone/>
            </a:pPr>
            <a:r>
              <a:rPr lang="en-US" sz="700" b="1" spc="100" kern="0" dirty="0">
                <a:solidFill>
                  <a:srgbClr val="2C8A4B"/>
                </a:solidFill>
                <a:latin typeface="Calibri" pitchFamily="34" charset="0"/>
                <a:ea typeface="Calibri" pitchFamily="34" charset="-122"/>
                <a:cs typeface="Calibri" pitchFamily="34" charset="-120"/>
              </a:rPr>
              <a:t>HOW IT WAS GOVERNED</a:t>
            </a:r>
            <a:endParaRPr lang="en-US" sz="700" dirty="0"/>
          </a:p>
        </p:txBody>
      </p:sp>
      <p:sp>
        <p:nvSpPr>
          <p:cNvPr id="41" name="Text 39"/>
          <p:cNvSpPr/>
          <p:nvPr/>
        </p:nvSpPr>
        <p:spPr>
          <a:xfrm>
            <a:off x="7589520" y="4828032"/>
            <a:ext cx="4251960" cy="384048"/>
          </a:xfrm>
          <a:prstGeom prst="rect">
            <a:avLst/>
          </a:prstGeom>
          <a:noFill/>
          <a:ln/>
        </p:spPr>
        <p:txBody>
          <a:bodyPr wrap="square" rtlCol="0" anchor="t"/>
          <a:lstStyle/>
          <a:p>
            <a:pPr indent="0" marL="0">
              <a:lnSpc>
                <a:spcPts val="1100"/>
              </a:lnSpc>
              <a:buNone/>
            </a:pPr>
            <a:r>
              <a:rPr lang="en-US" sz="900" dirty="0">
                <a:solidFill>
                  <a:srgbClr val="1E6B38"/>
                </a:solidFill>
                <a:latin typeface="Calibri" pitchFamily="34" charset="0"/>
                <a:ea typeface="Calibri" pitchFamily="34" charset="-122"/>
                <a:cs typeface="Calibri" pitchFamily="34" charset="-120"/>
              </a:rPr>
              <a:t>Parked in a neutral group, then moved to its family once the client named it.</a:t>
            </a:r>
            <a:endParaRPr lang="en-US" sz="900" dirty="0"/>
          </a:p>
        </p:txBody>
      </p:sp>
      <p:sp>
        <p:nvSpPr>
          <p:cNvPr id="42" name="Shape 40"/>
          <p:cNvSpPr/>
          <p:nvPr/>
        </p:nvSpPr>
        <p:spPr>
          <a:xfrm>
            <a:off x="237744" y="5422392"/>
            <a:ext cx="11713464" cy="758952"/>
          </a:xfrm>
          <a:prstGeom prst="rect">
            <a:avLst/>
          </a:prstGeom>
          <a:solidFill>
            <a:srgbClr val="1A288E"/>
          </a:solidFill>
          <a:ln/>
        </p:spPr>
      </p:sp>
      <p:sp>
        <p:nvSpPr>
          <p:cNvPr id="43" name="Text 41"/>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RULE WE WORKED TO</a:t>
            </a:r>
            <a:endParaRPr lang="en-US" sz="900" dirty="0"/>
          </a:p>
        </p:txBody>
      </p:sp>
      <p:sp>
        <p:nvSpPr>
          <p:cNvPr id="44" name="Text 42"/>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Engineering decides whether the code does what it says. The business decides what it should say. Any fix that changes a number's meaning needs both — and a written record of why</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WHAT WE LEARNED · OVERVIEW 1 OF 2</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Twenty Lessons From the Migration — 01 to 10</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Diagnosis and working with AI. Each lesson has its own slide, with the moment that produced it — tagged by who surfaced it: the team, the model, or both together</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93392"/>
            <a:ext cx="2212848" cy="54864"/>
          </a:xfrm>
          <a:prstGeom prst="rect">
            <a:avLst/>
          </a:prstGeom>
          <a:solidFill>
            <a:srgbClr val="2C8A4B"/>
          </a:solidFill>
          <a:ln/>
        </p:spPr>
      </p:sp>
      <p:sp>
        <p:nvSpPr>
          <p:cNvPr id="8" name="Shape 6"/>
          <p:cNvSpPr/>
          <p:nvPr/>
        </p:nvSpPr>
        <p:spPr>
          <a:xfrm>
            <a:off x="237744" y="2048256"/>
            <a:ext cx="2212848" cy="1481328"/>
          </a:xfrm>
          <a:prstGeom prst="rect">
            <a:avLst/>
          </a:prstGeom>
          <a:solidFill>
            <a:srgbClr val="F2F5FC"/>
          </a:solidFill>
          <a:ln/>
        </p:spPr>
      </p:sp>
      <p:sp>
        <p:nvSpPr>
          <p:cNvPr id="9" name="Text 7"/>
          <p:cNvSpPr/>
          <p:nvPr/>
        </p:nvSpPr>
        <p:spPr>
          <a:xfrm>
            <a:off x="374904" y="2130552"/>
            <a:ext cx="457200" cy="237744"/>
          </a:xfrm>
          <a:prstGeom prst="rect">
            <a:avLst/>
          </a:prstGeom>
          <a:noFill/>
          <a:ln/>
        </p:spPr>
        <p:txBody>
          <a:bodyPr wrap="square" rtlCol="0" anchor="ctr"/>
          <a:lstStyle/>
          <a:p>
            <a:pPr indent="0" marL="0">
              <a:buNone/>
            </a:pPr>
            <a:r>
              <a:rPr lang="en-US" sz="1300" b="1" dirty="0">
                <a:solidFill>
                  <a:srgbClr val="2C8A4B"/>
                </a:solidFill>
                <a:latin typeface="Calibri" pitchFamily="34" charset="0"/>
                <a:ea typeface="Calibri" pitchFamily="34" charset="-122"/>
                <a:cs typeface="Calibri" pitchFamily="34" charset="-120"/>
              </a:rPr>
              <a:t>01</a:t>
            </a:r>
            <a:endParaRPr lang="en-US" sz="1300" dirty="0"/>
          </a:p>
        </p:txBody>
      </p:sp>
      <p:sp>
        <p:nvSpPr>
          <p:cNvPr id="10" name="Shape 8"/>
          <p:cNvSpPr/>
          <p:nvPr/>
        </p:nvSpPr>
        <p:spPr>
          <a:xfrm>
            <a:off x="1490472" y="2157984"/>
            <a:ext cx="841248" cy="201168"/>
          </a:xfrm>
          <a:prstGeom prst="rect">
            <a:avLst/>
          </a:prstGeom>
          <a:solidFill>
            <a:srgbClr val="E1F0E6"/>
          </a:solidFill>
          <a:ln/>
        </p:spPr>
      </p:sp>
      <p:sp>
        <p:nvSpPr>
          <p:cNvPr id="11" name="Text 9"/>
          <p:cNvSpPr/>
          <p:nvPr/>
        </p:nvSpPr>
        <p:spPr>
          <a:xfrm>
            <a:off x="1490472" y="2176272"/>
            <a:ext cx="841248" cy="164592"/>
          </a:xfrm>
          <a:prstGeom prst="rect">
            <a:avLst/>
          </a:prstGeom>
          <a:noFill/>
          <a:ln/>
        </p:spPr>
        <p:txBody>
          <a:bodyPr wrap="square" rtlCol="0" anchor="ctr"/>
          <a:lstStyle/>
          <a:p>
            <a:pPr algn="ctr" indent="0" marL="0">
              <a:buNone/>
            </a:pPr>
            <a:r>
              <a:rPr lang="en-US" sz="650" b="1" dirty="0">
                <a:solidFill>
                  <a:srgbClr val="1E6B38"/>
                </a:solidFill>
                <a:latin typeface="Calibri" pitchFamily="34" charset="0"/>
                <a:ea typeface="Calibri" pitchFamily="34" charset="-122"/>
                <a:cs typeface="Calibri" pitchFamily="34" charset="-120"/>
              </a:rPr>
              <a:t>AI + TEAM</a:t>
            </a:r>
            <a:endParaRPr lang="en-US" sz="650" dirty="0"/>
          </a:p>
        </p:txBody>
      </p:sp>
      <p:sp>
        <p:nvSpPr>
          <p:cNvPr id="12" name="Text 10"/>
          <p:cNvSpPr/>
          <p:nvPr/>
        </p:nvSpPr>
        <p:spPr>
          <a:xfrm>
            <a:off x="374904" y="245059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Give it evidence, not adjectives</a:t>
            </a:r>
            <a:endParaRPr lang="en-US" sz="1050" dirty="0"/>
          </a:p>
        </p:txBody>
      </p:sp>
      <p:sp>
        <p:nvSpPr>
          <p:cNvPr id="13" name="Text 11"/>
          <p:cNvSpPr/>
          <p:nvPr/>
        </p:nvSpPr>
        <p:spPr>
          <a:xfrm>
            <a:off x="374904" y="298094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Counts, log lines and profiles turn a guess into a diagnosis.</a:t>
            </a:r>
            <a:endParaRPr lang="en-US" sz="850" dirty="0"/>
          </a:p>
        </p:txBody>
      </p:sp>
      <p:sp>
        <p:nvSpPr>
          <p:cNvPr id="14" name="Shape 12"/>
          <p:cNvSpPr/>
          <p:nvPr/>
        </p:nvSpPr>
        <p:spPr>
          <a:xfrm>
            <a:off x="2612898" y="1993392"/>
            <a:ext cx="2212848" cy="54864"/>
          </a:xfrm>
          <a:prstGeom prst="rect">
            <a:avLst/>
          </a:prstGeom>
          <a:solidFill>
            <a:srgbClr val="F96806"/>
          </a:solidFill>
          <a:ln/>
        </p:spPr>
      </p:sp>
      <p:sp>
        <p:nvSpPr>
          <p:cNvPr id="15" name="Shape 13"/>
          <p:cNvSpPr/>
          <p:nvPr/>
        </p:nvSpPr>
        <p:spPr>
          <a:xfrm>
            <a:off x="2612898" y="2048256"/>
            <a:ext cx="2212848" cy="1481328"/>
          </a:xfrm>
          <a:prstGeom prst="rect">
            <a:avLst/>
          </a:prstGeom>
          <a:solidFill>
            <a:srgbClr val="F2F5FC"/>
          </a:solidFill>
          <a:ln/>
        </p:spPr>
      </p:sp>
      <p:sp>
        <p:nvSpPr>
          <p:cNvPr id="16" name="Text 14"/>
          <p:cNvSpPr/>
          <p:nvPr/>
        </p:nvSpPr>
        <p:spPr>
          <a:xfrm>
            <a:off x="2750058" y="2130552"/>
            <a:ext cx="457200" cy="237744"/>
          </a:xfrm>
          <a:prstGeom prst="rect">
            <a:avLst/>
          </a:prstGeom>
          <a:noFill/>
          <a:ln/>
        </p:spPr>
        <p:txBody>
          <a:bodyPr wrap="square" rtlCol="0" anchor="ctr"/>
          <a:lstStyle/>
          <a:p>
            <a:pPr indent="0" marL="0">
              <a:buNone/>
            </a:pPr>
            <a:r>
              <a:rPr lang="en-US" sz="1300" b="1" dirty="0">
                <a:solidFill>
                  <a:srgbClr val="F96806"/>
                </a:solidFill>
                <a:latin typeface="Calibri" pitchFamily="34" charset="0"/>
                <a:ea typeface="Calibri" pitchFamily="34" charset="-122"/>
                <a:cs typeface="Calibri" pitchFamily="34" charset="-120"/>
              </a:rPr>
              <a:t>02</a:t>
            </a:r>
            <a:endParaRPr lang="en-US" sz="1300" dirty="0"/>
          </a:p>
        </p:txBody>
      </p:sp>
      <p:sp>
        <p:nvSpPr>
          <p:cNvPr id="17" name="Shape 15"/>
          <p:cNvSpPr/>
          <p:nvPr/>
        </p:nvSpPr>
        <p:spPr>
          <a:xfrm>
            <a:off x="3865626" y="2157984"/>
            <a:ext cx="841248" cy="201168"/>
          </a:xfrm>
          <a:prstGeom prst="rect">
            <a:avLst/>
          </a:prstGeom>
          <a:solidFill>
            <a:srgbClr val="FDE3D2"/>
          </a:solidFill>
          <a:ln/>
        </p:spPr>
      </p:sp>
      <p:sp>
        <p:nvSpPr>
          <p:cNvPr id="18" name="Text 16"/>
          <p:cNvSpPr/>
          <p:nvPr/>
        </p:nvSpPr>
        <p:spPr>
          <a:xfrm>
            <a:off x="3865626" y="2176272"/>
            <a:ext cx="841248" cy="164592"/>
          </a:xfrm>
          <a:prstGeom prst="rect">
            <a:avLst/>
          </a:prstGeom>
          <a:noFill/>
          <a:ln/>
        </p:spPr>
        <p:txBody>
          <a:bodyPr wrap="square" rtlCol="0" anchor="ctr"/>
          <a:lstStyle/>
          <a:p>
            <a:pPr algn="ctr" indent="0" marL="0">
              <a:buNone/>
            </a:pPr>
            <a:r>
              <a:rPr lang="en-US" sz="650" b="1" dirty="0">
                <a:solidFill>
                  <a:srgbClr val="A8430A"/>
                </a:solidFill>
                <a:latin typeface="Calibri" pitchFamily="34" charset="0"/>
                <a:ea typeface="Calibri" pitchFamily="34" charset="-122"/>
                <a:cs typeface="Calibri" pitchFamily="34" charset="-120"/>
              </a:rPr>
              <a:t>TEAM FOUND</a:t>
            </a:r>
            <a:endParaRPr lang="en-US" sz="650" dirty="0"/>
          </a:p>
        </p:txBody>
      </p:sp>
      <p:sp>
        <p:nvSpPr>
          <p:cNvPr id="19" name="Text 17"/>
          <p:cNvSpPr/>
          <p:nvPr/>
        </p:nvSpPr>
        <p:spPr>
          <a:xfrm>
            <a:off x="2750058" y="245059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Push back on the first answer</a:t>
            </a:r>
            <a:endParaRPr lang="en-US" sz="1050" dirty="0"/>
          </a:p>
        </p:txBody>
      </p:sp>
      <p:sp>
        <p:nvSpPr>
          <p:cNvPr id="20" name="Text 18"/>
          <p:cNvSpPr/>
          <p:nvPr/>
        </p:nvSpPr>
        <p:spPr>
          <a:xfrm>
            <a:off x="2750058" y="298094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The first explanation was coherent, confident and wrong — twice.</a:t>
            </a:r>
            <a:endParaRPr lang="en-US" sz="850" dirty="0"/>
          </a:p>
        </p:txBody>
      </p:sp>
      <p:sp>
        <p:nvSpPr>
          <p:cNvPr id="21" name="Shape 19"/>
          <p:cNvSpPr/>
          <p:nvPr/>
        </p:nvSpPr>
        <p:spPr>
          <a:xfrm>
            <a:off x="4988052" y="1993392"/>
            <a:ext cx="2212848" cy="54864"/>
          </a:xfrm>
          <a:prstGeom prst="rect">
            <a:avLst/>
          </a:prstGeom>
          <a:solidFill>
            <a:srgbClr val="1861F5"/>
          </a:solidFill>
          <a:ln/>
        </p:spPr>
      </p:sp>
      <p:sp>
        <p:nvSpPr>
          <p:cNvPr id="22" name="Shape 20"/>
          <p:cNvSpPr/>
          <p:nvPr/>
        </p:nvSpPr>
        <p:spPr>
          <a:xfrm>
            <a:off x="4988052" y="2048256"/>
            <a:ext cx="2212848" cy="1481328"/>
          </a:xfrm>
          <a:prstGeom prst="rect">
            <a:avLst/>
          </a:prstGeom>
          <a:solidFill>
            <a:srgbClr val="F2F5FC"/>
          </a:solidFill>
          <a:ln/>
        </p:spPr>
      </p:sp>
      <p:sp>
        <p:nvSpPr>
          <p:cNvPr id="23" name="Text 21"/>
          <p:cNvSpPr/>
          <p:nvPr/>
        </p:nvSpPr>
        <p:spPr>
          <a:xfrm>
            <a:off x="5125212" y="2130552"/>
            <a:ext cx="457200" cy="237744"/>
          </a:xfrm>
          <a:prstGeom prst="rect">
            <a:avLst/>
          </a:prstGeom>
          <a:noFill/>
          <a:ln/>
        </p:spPr>
        <p:txBody>
          <a:bodyPr wrap="square" rtlCol="0" anchor="ctr"/>
          <a:lstStyle/>
          <a:p>
            <a:pPr indent="0" marL="0">
              <a:buNone/>
            </a:pPr>
            <a:r>
              <a:rPr lang="en-US" sz="1300" b="1" dirty="0">
                <a:solidFill>
                  <a:srgbClr val="1861F5"/>
                </a:solidFill>
                <a:latin typeface="Calibri" pitchFamily="34" charset="0"/>
                <a:ea typeface="Calibri" pitchFamily="34" charset="-122"/>
                <a:cs typeface="Calibri" pitchFamily="34" charset="-120"/>
              </a:rPr>
              <a:t>03</a:t>
            </a:r>
            <a:endParaRPr lang="en-US" sz="1300" dirty="0"/>
          </a:p>
        </p:txBody>
      </p:sp>
      <p:sp>
        <p:nvSpPr>
          <p:cNvPr id="24" name="Shape 22"/>
          <p:cNvSpPr/>
          <p:nvPr/>
        </p:nvSpPr>
        <p:spPr>
          <a:xfrm>
            <a:off x="6240780" y="2157984"/>
            <a:ext cx="841248" cy="201168"/>
          </a:xfrm>
          <a:prstGeom prst="rect">
            <a:avLst/>
          </a:prstGeom>
          <a:solidFill>
            <a:srgbClr val="E3EAFB"/>
          </a:solidFill>
          <a:ln/>
        </p:spPr>
      </p:sp>
      <p:sp>
        <p:nvSpPr>
          <p:cNvPr id="25" name="Text 23"/>
          <p:cNvSpPr/>
          <p:nvPr/>
        </p:nvSpPr>
        <p:spPr>
          <a:xfrm>
            <a:off x="6240780" y="2176272"/>
            <a:ext cx="841248" cy="164592"/>
          </a:xfrm>
          <a:prstGeom prst="rect">
            <a:avLst/>
          </a:prstGeom>
          <a:noFill/>
          <a:ln/>
        </p:spPr>
        <p:txBody>
          <a:bodyPr wrap="square" rtlCol="0" anchor="ctr"/>
          <a:lstStyle/>
          <a:p>
            <a:pPr algn="ctr" indent="0" marL="0">
              <a:buNone/>
            </a:pPr>
            <a:r>
              <a:rPr lang="en-US" sz="650" b="1" dirty="0">
                <a:solidFill>
                  <a:srgbClr val="113C75"/>
                </a:solidFill>
                <a:latin typeface="Calibri" pitchFamily="34" charset="0"/>
                <a:ea typeface="Calibri" pitchFamily="34" charset="-122"/>
                <a:cs typeface="Calibri" pitchFamily="34" charset="-120"/>
              </a:rPr>
              <a:t>AI FOUND</a:t>
            </a:r>
            <a:endParaRPr lang="en-US" sz="650" dirty="0"/>
          </a:p>
        </p:txBody>
      </p:sp>
      <p:sp>
        <p:nvSpPr>
          <p:cNvPr id="26" name="Text 24"/>
          <p:cNvSpPr/>
          <p:nvPr/>
        </p:nvSpPr>
        <p:spPr>
          <a:xfrm>
            <a:off x="5125212" y="245059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Diagnose at the source, not the output</a:t>
            </a:r>
            <a:endParaRPr lang="en-US" sz="1050" dirty="0"/>
          </a:p>
        </p:txBody>
      </p:sp>
      <p:sp>
        <p:nvSpPr>
          <p:cNvPr id="27" name="Text 25"/>
          <p:cNvSpPr/>
          <p:nvPr/>
        </p:nvSpPr>
        <p:spPr>
          <a:xfrm>
            <a:off x="5125212" y="298094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A blank column says nothing about why it is blank.</a:t>
            </a:r>
            <a:endParaRPr lang="en-US" sz="850" dirty="0"/>
          </a:p>
        </p:txBody>
      </p:sp>
      <p:sp>
        <p:nvSpPr>
          <p:cNvPr id="28" name="Shape 26"/>
          <p:cNvSpPr/>
          <p:nvPr/>
        </p:nvSpPr>
        <p:spPr>
          <a:xfrm>
            <a:off x="7363206" y="1993392"/>
            <a:ext cx="2212848" cy="54864"/>
          </a:xfrm>
          <a:prstGeom prst="rect">
            <a:avLst/>
          </a:prstGeom>
          <a:solidFill>
            <a:srgbClr val="1861F5"/>
          </a:solidFill>
          <a:ln/>
        </p:spPr>
      </p:sp>
      <p:sp>
        <p:nvSpPr>
          <p:cNvPr id="29" name="Shape 27"/>
          <p:cNvSpPr/>
          <p:nvPr/>
        </p:nvSpPr>
        <p:spPr>
          <a:xfrm>
            <a:off x="7363206" y="2048256"/>
            <a:ext cx="2212848" cy="1481328"/>
          </a:xfrm>
          <a:prstGeom prst="rect">
            <a:avLst/>
          </a:prstGeom>
          <a:solidFill>
            <a:srgbClr val="F2F5FC"/>
          </a:solidFill>
          <a:ln/>
        </p:spPr>
      </p:sp>
      <p:sp>
        <p:nvSpPr>
          <p:cNvPr id="30" name="Text 28"/>
          <p:cNvSpPr/>
          <p:nvPr/>
        </p:nvSpPr>
        <p:spPr>
          <a:xfrm>
            <a:off x="7500366" y="2130552"/>
            <a:ext cx="457200" cy="237744"/>
          </a:xfrm>
          <a:prstGeom prst="rect">
            <a:avLst/>
          </a:prstGeom>
          <a:noFill/>
          <a:ln/>
        </p:spPr>
        <p:txBody>
          <a:bodyPr wrap="square" rtlCol="0" anchor="ctr"/>
          <a:lstStyle/>
          <a:p>
            <a:pPr indent="0" marL="0">
              <a:buNone/>
            </a:pPr>
            <a:r>
              <a:rPr lang="en-US" sz="1300" b="1" dirty="0">
                <a:solidFill>
                  <a:srgbClr val="1861F5"/>
                </a:solidFill>
                <a:latin typeface="Calibri" pitchFamily="34" charset="0"/>
                <a:ea typeface="Calibri" pitchFamily="34" charset="-122"/>
                <a:cs typeface="Calibri" pitchFamily="34" charset="-120"/>
              </a:rPr>
              <a:t>04</a:t>
            </a:r>
            <a:endParaRPr lang="en-US" sz="1300" dirty="0"/>
          </a:p>
        </p:txBody>
      </p:sp>
      <p:sp>
        <p:nvSpPr>
          <p:cNvPr id="31" name="Shape 29"/>
          <p:cNvSpPr/>
          <p:nvPr/>
        </p:nvSpPr>
        <p:spPr>
          <a:xfrm>
            <a:off x="8615934" y="2157984"/>
            <a:ext cx="841248" cy="201168"/>
          </a:xfrm>
          <a:prstGeom prst="rect">
            <a:avLst/>
          </a:prstGeom>
          <a:solidFill>
            <a:srgbClr val="E3EAFB"/>
          </a:solidFill>
          <a:ln/>
        </p:spPr>
      </p:sp>
      <p:sp>
        <p:nvSpPr>
          <p:cNvPr id="32" name="Text 30"/>
          <p:cNvSpPr/>
          <p:nvPr/>
        </p:nvSpPr>
        <p:spPr>
          <a:xfrm>
            <a:off x="8615934" y="2176272"/>
            <a:ext cx="841248" cy="164592"/>
          </a:xfrm>
          <a:prstGeom prst="rect">
            <a:avLst/>
          </a:prstGeom>
          <a:noFill/>
          <a:ln/>
        </p:spPr>
        <p:txBody>
          <a:bodyPr wrap="square" rtlCol="0" anchor="ctr"/>
          <a:lstStyle/>
          <a:p>
            <a:pPr algn="ctr" indent="0" marL="0">
              <a:buNone/>
            </a:pPr>
            <a:r>
              <a:rPr lang="en-US" sz="650" b="1" dirty="0">
                <a:solidFill>
                  <a:srgbClr val="113C75"/>
                </a:solidFill>
                <a:latin typeface="Calibri" pitchFamily="34" charset="0"/>
                <a:ea typeface="Calibri" pitchFamily="34" charset="-122"/>
                <a:cs typeface="Calibri" pitchFamily="34" charset="-120"/>
              </a:rPr>
              <a:t>AI FOUND</a:t>
            </a:r>
            <a:endParaRPr lang="en-US" sz="650" dirty="0"/>
          </a:p>
        </p:txBody>
      </p:sp>
      <p:sp>
        <p:nvSpPr>
          <p:cNvPr id="33" name="Text 31"/>
          <p:cNvSpPr/>
          <p:nvPr/>
        </p:nvSpPr>
        <p:spPr>
          <a:xfrm>
            <a:off x="7500366" y="245059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Fix the generator, not the symptom</a:t>
            </a:r>
            <a:endParaRPr lang="en-US" sz="1050" dirty="0"/>
          </a:p>
        </p:txBody>
      </p:sp>
      <p:sp>
        <p:nvSpPr>
          <p:cNvPr id="34" name="Text 32"/>
          <p:cNvSpPr/>
          <p:nvPr/>
        </p:nvSpPr>
        <p:spPr>
          <a:xfrm>
            <a:off x="7500366" y="298094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One shared predicate served 118 variables.</a:t>
            </a:r>
            <a:endParaRPr lang="en-US" sz="850" dirty="0"/>
          </a:p>
        </p:txBody>
      </p:sp>
      <p:sp>
        <p:nvSpPr>
          <p:cNvPr id="35" name="Shape 33"/>
          <p:cNvSpPr/>
          <p:nvPr/>
        </p:nvSpPr>
        <p:spPr>
          <a:xfrm>
            <a:off x="9738360" y="1993392"/>
            <a:ext cx="2212848" cy="54864"/>
          </a:xfrm>
          <a:prstGeom prst="rect">
            <a:avLst/>
          </a:prstGeom>
          <a:solidFill>
            <a:srgbClr val="2C8A4B"/>
          </a:solidFill>
          <a:ln/>
        </p:spPr>
      </p:sp>
      <p:sp>
        <p:nvSpPr>
          <p:cNvPr id="36" name="Shape 34"/>
          <p:cNvSpPr/>
          <p:nvPr/>
        </p:nvSpPr>
        <p:spPr>
          <a:xfrm>
            <a:off x="9738360" y="2048256"/>
            <a:ext cx="2212848" cy="1481328"/>
          </a:xfrm>
          <a:prstGeom prst="rect">
            <a:avLst/>
          </a:prstGeom>
          <a:solidFill>
            <a:srgbClr val="F2F5FC"/>
          </a:solidFill>
          <a:ln/>
        </p:spPr>
      </p:sp>
      <p:sp>
        <p:nvSpPr>
          <p:cNvPr id="37" name="Text 35"/>
          <p:cNvSpPr/>
          <p:nvPr/>
        </p:nvSpPr>
        <p:spPr>
          <a:xfrm>
            <a:off x="9875520" y="2130552"/>
            <a:ext cx="457200" cy="237744"/>
          </a:xfrm>
          <a:prstGeom prst="rect">
            <a:avLst/>
          </a:prstGeom>
          <a:noFill/>
          <a:ln/>
        </p:spPr>
        <p:txBody>
          <a:bodyPr wrap="square" rtlCol="0" anchor="ctr"/>
          <a:lstStyle/>
          <a:p>
            <a:pPr indent="0" marL="0">
              <a:buNone/>
            </a:pPr>
            <a:r>
              <a:rPr lang="en-US" sz="1300" b="1" dirty="0">
                <a:solidFill>
                  <a:srgbClr val="2C8A4B"/>
                </a:solidFill>
                <a:latin typeface="Calibri" pitchFamily="34" charset="0"/>
                <a:ea typeface="Calibri" pitchFamily="34" charset="-122"/>
                <a:cs typeface="Calibri" pitchFamily="34" charset="-120"/>
              </a:rPr>
              <a:t>05</a:t>
            </a:r>
            <a:endParaRPr lang="en-US" sz="1300" dirty="0"/>
          </a:p>
        </p:txBody>
      </p:sp>
      <p:sp>
        <p:nvSpPr>
          <p:cNvPr id="38" name="Shape 36"/>
          <p:cNvSpPr/>
          <p:nvPr/>
        </p:nvSpPr>
        <p:spPr>
          <a:xfrm>
            <a:off x="10991088" y="2157984"/>
            <a:ext cx="841248" cy="201168"/>
          </a:xfrm>
          <a:prstGeom prst="rect">
            <a:avLst/>
          </a:prstGeom>
          <a:solidFill>
            <a:srgbClr val="E1F0E6"/>
          </a:solidFill>
          <a:ln/>
        </p:spPr>
      </p:sp>
      <p:sp>
        <p:nvSpPr>
          <p:cNvPr id="39" name="Text 37"/>
          <p:cNvSpPr/>
          <p:nvPr/>
        </p:nvSpPr>
        <p:spPr>
          <a:xfrm>
            <a:off x="10991088" y="2176272"/>
            <a:ext cx="841248" cy="164592"/>
          </a:xfrm>
          <a:prstGeom prst="rect">
            <a:avLst/>
          </a:prstGeom>
          <a:noFill/>
          <a:ln/>
        </p:spPr>
        <p:txBody>
          <a:bodyPr wrap="square" rtlCol="0" anchor="ctr"/>
          <a:lstStyle/>
          <a:p>
            <a:pPr algn="ctr" indent="0" marL="0">
              <a:buNone/>
            </a:pPr>
            <a:r>
              <a:rPr lang="en-US" sz="650" b="1" dirty="0">
                <a:solidFill>
                  <a:srgbClr val="1E6B38"/>
                </a:solidFill>
                <a:latin typeface="Calibri" pitchFamily="34" charset="0"/>
                <a:ea typeface="Calibri" pitchFamily="34" charset="-122"/>
                <a:cs typeface="Calibri" pitchFamily="34" charset="-120"/>
              </a:rPr>
              <a:t>AI + TEAM</a:t>
            </a:r>
            <a:endParaRPr lang="en-US" sz="650" dirty="0"/>
          </a:p>
        </p:txBody>
      </p:sp>
      <p:sp>
        <p:nvSpPr>
          <p:cNvPr id="40" name="Text 38"/>
          <p:cNvSpPr/>
          <p:nvPr/>
        </p:nvSpPr>
        <p:spPr>
          <a:xfrm>
            <a:off x="9875520" y="245059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A clean log is not a correct output</a:t>
            </a:r>
            <a:endParaRPr lang="en-US" sz="1050" dirty="0"/>
          </a:p>
        </p:txBody>
      </p:sp>
      <p:sp>
        <p:nvSpPr>
          <p:cNvPr id="41" name="Text 39"/>
          <p:cNvSpPr/>
          <p:nvPr/>
        </p:nvSpPr>
        <p:spPr>
          <a:xfrm>
            <a:off x="9875520" y="298094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Zero errors and 31 empty variables coexisted.</a:t>
            </a:r>
            <a:endParaRPr lang="en-US" sz="850" dirty="0"/>
          </a:p>
        </p:txBody>
      </p:sp>
      <p:sp>
        <p:nvSpPr>
          <p:cNvPr id="42" name="Shape 40"/>
          <p:cNvSpPr/>
          <p:nvPr/>
        </p:nvSpPr>
        <p:spPr>
          <a:xfrm>
            <a:off x="237744" y="3639312"/>
            <a:ext cx="2212848" cy="54864"/>
          </a:xfrm>
          <a:prstGeom prst="rect">
            <a:avLst/>
          </a:prstGeom>
          <a:solidFill>
            <a:srgbClr val="2C8A4B"/>
          </a:solidFill>
          <a:ln/>
        </p:spPr>
      </p:sp>
      <p:sp>
        <p:nvSpPr>
          <p:cNvPr id="43" name="Shape 41"/>
          <p:cNvSpPr/>
          <p:nvPr/>
        </p:nvSpPr>
        <p:spPr>
          <a:xfrm>
            <a:off x="237744" y="3694176"/>
            <a:ext cx="2212848" cy="1481328"/>
          </a:xfrm>
          <a:prstGeom prst="rect">
            <a:avLst/>
          </a:prstGeom>
          <a:solidFill>
            <a:srgbClr val="F2F5FC"/>
          </a:solidFill>
          <a:ln/>
        </p:spPr>
      </p:sp>
      <p:sp>
        <p:nvSpPr>
          <p:cNvPr id="44" name="Text 42"/>
          <p:cNvSpPr/>
          <p:nvPr/>
        </p:nvSpPr>
        <p:spPr>
          <a:xfrm>
            <a:off x="374904" y="3776472"/>
            <a:ext cx="457200" cy="237744"/>
          </a:xfrm>
          <a:prstGeom prst="rect">
            <a:avLst/>
          </a:prstGeom>
          <a:noFill/>
          <a:ln/>
        </p:spPr>
        <p:txBody>
          <a:bodyPr wrap="square" rtlCol="0" anchor="ctr"/>
          <a:lstStyle/>
          <a:p>
            <a:pPr indent="0" marL="0">
              <a:buNone/>
            </a:pPr>
            <a:r>
              <a:rPr lang="en-US" sz="1300" b="1" dirty="0">
                <a:solidFill>
                  <a:srgbClr val="2C8A4B"/>
                </a:solidFill>
                <a:latin typeface="Calibri" pitchFamily="34" charset="0"/>
                <a:ea typeface="Calibri" pitchFamily="34" charset="-122"/>
                <a:cs typeface="Calibri" pitchFamily="34" charset="-120"/>
              </a:rPr>
              <a:t>06</a:t>
            </a:r>
            <a:endParaRPr lang="en-US" sz="1300" dirty="0"/>
          </a:p>
        </p:txBody>
      </p:sp>
      <p:sp>
        <p:nvSpPr>
          <p:cNvPr id="45" name="Shape 43"/>
          <p:cNvSpPr/>
          <p:nvPr/>
        </p:nvSpPr>
        <p:spPr>
          <a:xfrm>
            <a:off x="1490472" y="3803904"/>
            <a:ext cx="841248" cy="201168"/>
          </a:xfrm>
          <a:prstGeom prst="rect">
            <a:avLst/>
          </a:prstGeom>
          <a:solidFill>
            <a:srgbClr val="E1F0E6"/>
          </a:solidFill>
          <a:ln/>
        </p:spPr>
      </p:sp>
      <p:sp>
        <p:nvSpPr>
          <p:cNvPr id="46" name="Text 44"/>
          <p:cNvSpPr/>
          <p:nvPr/>
        </p:nvSpPr>
        <p:spPr>
          <a:xfrm>
            <a:off x="1490472" y="3822192"/>
            <a:ext cx="841248" cy="164592"/>
          </a:xfrm>
          <a:prstGeom prst="rect">
            <a:avLst/>
          </a:prstGeom>
          <a:noFill/>
          <a:ln/>
        </p:spPr>
        <p:txBody>
          <a:bodyPr wrap="square" rtlCol="0" anchor="ctr"/>
          <a:lstStyle/>
          <a:p>
            <a:pPr algn="ctr" indent="0" marL="0">
              <a:buNone/>
            </a:pPr>
            <a:r>
              <a:rPr lang="en-US" sz="650" b="1" dirty="0">
                <a:solidFill>
                  <a:srgbClr val="1E6B38"/>
                </a:solidFill>
                <a:latin typeface="Calibri" pitchFamily="34" charset="0"/>
                <a:ea typeface="Calibri" pitchFamily="34" charset="-122"/>
                <a:cs typeface="Calibri" pitchFamily="34" charset="-120"/>
              </a:rPr>
              <a:t>AI + TEAM</a:t>
            </a:r>
            <a:endParaRPr lang="en-US" sz="650" dirty="0"/>
          </a:p>
        </p:txBody>
      </p:sp>
      <p:sp>
        <p:nvSpPr>
          <p:cNvPr id="47" name="Text 45"/>
          <p:cNvSpPr/>
          <p:nvPr/>
        </p:nvSpPr>
        <p:spPr>
          <a:xfrm>
            <a:off x="374904" y="409651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Separate 'missing' from 'wrong'</a:t>
            </a:r>
            <a:endParaRPr lang="en-US" sz="1050" dirty="0"/>
          </a:p>
        </p:txBody>
      </p:sp>
      <p:sp>
        <p:nvSpPr>
          <p:cNvPr id="48" name="Text 46"/>
          <p:cNvSpPr/>
          <p:nvPr/>
        </p:nvSpPr>
        <p:spPr>
          <a:xfrm>
            <a:off x="374904" y="462686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Absent, zero-filled and understated are different faults.</a:t>
            </a:r>
            <a:endParaRPr lang="en-US" sz="850" dirty="0"/>
          </a:p>
        </p:txBody>
      </p:sp>
      <p:sp>
        <p:nvSpPr>
          <p:cNvPr id="49" name="Shape 47"/>
          <p:cNvSpPr/>
          <p:nvPr/>
        </p:nvSpPr>
        <p:spPr>
          <a:xfrm>
            <a:off x="2612898" y="3639312"/>
            <a:ext cx="2212848" cy="54864"/>
          </a:xfrm>
          <a:prstGeom prst="rect">
            <a:avLst/>
          </a:prstGeom>
          <a:solidFill>
            <a:srgbClr val="F96806"/>
          </a:solidFill>
          <a:ln/>
        </p:spPr>
      </p:sp>
      <p:sp>
        <p:nvSpPr>
          <p:cNvPr id="50" name="Shape 48"/>
          <p:cNvSpPr/>
          <p:nvPr/>
        </p:nvSpPr>
        <p:spPr>
          <a:xfrm>
            <a:off x="2612898" y="3694176"/>
            <a:ext cx="2212848" cy="1481328"/>
          </a:xfrm>
          <a:prstGeom prst="rect">
            <a:avLst/>
          </a:prstGeom>
          <a:solidFill>
            <a:srgbClr val="F2F5FC"/>
          </a:solidFill>
          <a:ln/>
        </p:spPr>
      </p:sp>
      <p:sp>
        <p:nvSpPr>
          <p:cNvPr id="51" name="Text 49"/>
          <p:cNvSpPr/>
          <p:nvPr/>
        </p:nvSpPr>
        <p:spPr>
          <a:xfrm>
            <a:off x="2750058" y="3776472"/>
            <a:ext cx="457200" cy="237744"/>
          </a:xfrm>
          <a:prstGeom prst="rect">
            <a:avLst/>
          </a:prstGeom>
          <a:noFill/>
          <a:ln/>
        </p:spPr>
        <p:txBody>
          <a:bodyPr wrap="square" rtlCol="0" anchor="ctr"/>
          <a:lstStyle/>
          <a:p>
            <a:pPr indent="0" marL="0">
              <a:buNone/>
            </a:pPr>
            <a:r>
              <a:rPr lang="en-US" sz="1300" b="1" dirty="0">
                <a:solidFill>
                  <a:srgbClr val="F96806"/>
                </a:solidFill>
                <a:latin typeface="Calibri" pitchFamily="34" charset="0"/>
                <a:ea typeface="Calibri" pitchFamily="34" charset="-122"/>
                <a:cs typeface="Calibri" pitchFamily="34" charset="-120"/>
              </a:rPr>
              <a:t>07</a:t>
            </a:r>
            <a:endParaRPr lang="en-US" sz="1300" dirty="0"/>
          </a:p>
        </p:txBody>
      </p:sp>
      <p:sp>
        <p:nvSpPr>
          <p:cNvPr id="52" name="Shape 50"/>
          <p:cNvSpPr/>
          <p:nvPr/>
        </p:nvSpPr>
        <p:spPr>
          <a:xfrm>
            <a:off x="3865626" y="3803904"/>
            <a:ext cx="841248" cy="201168"/>
          </a:xfrm>
          <a:prstGeom prst="rect">
            <a:avLst/>
          </a:prstGeom>
          <a:solidFill>
            <a:srgbClr val="FDE3D2"/>
          </a:solidFill>
          <a:ln/>
        </p:spPr>
      </p:sp>
      <p:sp>
        <p:nvSpPr>
          <p:cNvPr id="53" name="Text 51"/>
          <p:cNvSpPr/>
          <p:nvPr/>
        </p:nvSpPr>
        <p:spPr>
          <a:xfrm>
            <a:off x="3865626" y="3822192"/>
            <a:ext cx="841248" cy="164592"/>
          </a:xfrm>
          <a:prstGeom prst="rect">
            <a:avLst/>
          </a:prstGeom>
          <a:noFill/>
          <a:ln/>
        </p:spPr>
        <p:txBody>
          <a:bodyPr wrap="square" rtlCol="0" anchor="ctr"/>
          <a:lstStyle/>
          <a:p>
            <a:pPr algn="ctr" indent="0" marL="0">
              <a:buNone/>
            </a:pPr>
            <a:r>
              <a:rPr lang="en-US" sz="650" b="1" dirty="0">
                <a:solidFill>
                  <a:srgbClr val="A8430A"/>
                </a:solidFill>
                <a:latin typeface="Calibri" pitchFamily="34" charset="0"/>
                <a:ea typeface="Calibri" pitchFamily="34" charset="-122"/>
                <a:cs typeface="Calibri" pitchFamily="34" charset="-120"/>
              </a:rPr>
              <a:t>TEAM FOUND</a:t>
            </a:r>
            <a:endParaRPr lang="en-US" sz="650" dirty="0"/>
          </a:p>
        </p:txBody>
      </p:sp>
      <p:sp>
        <p:nvSpPr>
          <p:cNvPr id="54" name="Text 52"/>
          <p:cNvSpPr/>
          <p:nvPr/>
        </p:nvSpPr>
        <p:spPr>
          <a:xfrm>
            <a:off x="2750058" y="409651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Invest early in a feedback loop</a:t>
            </a:r>
            <a:endParaRPr lang="en-US" sz="1050" dirty="0"/>
          </a:p>
        </p:txBody>
      </p:sp>
      <p:sp>
        <p:nvSpPr>
          <p:cNvPr id="55" name="Text 53"/>
          <p:cNvSpPr/>
          <p:nvPr/>
        </p:nvSpPr>
        <p:spPr>
          <a:xfrm>
            <a:off x="2750058" y="462686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Verification, not repair, was the bottleneck.</a:t>
            </a:r>
            <a:endParaRPr lang="en-US" sz="850" dirty="0"/>
          </a:p>
        </p:txBody>
      </p:sp>
      <p:sp>
        <p:nvSpPr>
          <p:cNvPr id="56" name="Shape 54"/>
          <p:cNvSpPr/>
          <p:nvPr/>
        </p:nvSpPr>
        <p:spPr>
          <a:xfrm>
            <a:off x="4988052" y="3639312"/>
            <a:ext cx="2212848" cy="54864"/>
          </a:xfrm>
          <a:prstGeom prst="rect">
            <a:avLst/>
          </a:prstGeom>
          <a:solidFill>
            <a:srgbClr val="2C8A4B"/>
          </a:solidFill>
          <a:ln/>
        </p:spPr>
      </p:sp>
      <p:sp>
        <p:nvSpPr>
          <p:cNvPr id="57" name="Shape 55"/>
          <p:cNvSpPr/>
          <p:nvPr/>
        </p:nvSpPr>
        <p:spPr>
          <a:xfrm>
            <a:off x="4988052" y="3694176"/>
            <a:ext cx="2212848" cy="1481328"/>
          </a:xfrm>
          <a:prstGeom prst="rect">
            <a:avLst/>
          </a:prstGeom>
          <a:solidFill>
            <a:srgbClr val="F2F5FC"/>
          </a:solidFill>
          <a:ln/>
        </p:spPr>
      </p:sp>
      <p:sp>
        <p:nvSpPr>
          <p:cNvPr id="58" name="Text 56"/>
          <p:cNvSpPr/>
          <p:nvPr/>
        </p:nvSpPr>
        <p:spPr>
          <a:xfrm>
            <a:off x="5125212" y="3776472"/>
            <a:ext cx="457200" cy="237744"/>
          </a:xfrm>
          <a:prstGeom prst="rect">
            <a:avLst/>
          </a:prstGeom>
          <a:noFill/>
          <a:ln/>
        </p:spPr>
        <p:txBody>
          <a:bodyPr wrap="square" rtlCol="0" anchor="ctr"/>
          <a:lstStyle/>
          <a:p>
            <a:pPr indent="0" marL="0">
              <a:buNone/>
            </a:pPr>
            <a:r>
              <a:rPr lang="en-US" sz="1300" b="1" dirty="0">
                <a:solidFill>
                  <a:srgbClr val="2C8A4B"/>
                </a:solidFill>
                <a:latin typeface="Calibri" pitchFamily="34" charset="0"/>
                <a:ea typeface="Calibri" pitchFamily="34" charset="-122"/>
                <a:cs typeface="Calibri" pitchFamily="34" charset="-120"/>
              </a:rPr>
              <a:t>08</a:t>
            </a:r>
            <a:endParaRPr lang="en-US" sz="1300" dirty="0"/>
          </a:p>
        </p:txBody>
      </p:sp>
      <p:sp>
        <p:nvSpPr>
          <p:cNvPr id="59" name="Shape 57"/>
          <p:cNvSpPr/>
          <p:nvPr/>
        </p:nvSpPr>
        <p:spPr>
          <a:xfrm>
            <a:off x="6240780" y="3803904"/>
            <a:ext cx="841248" cy="201168"/>
          </a:xfrm>
          <a:prstGeom prst="rect">
            <a:avLst/>
          </a:prstGeom>
          <a:solidFill>
            <a:srgbClr val="E1F0E6"/>
          </a:solidFill>
          <a:ln/>
        </p:spPr>
      </p:sp>
      <p:sp>
        <p:nvSpPr>
          <p:cNvPr id="60" name="Text 58"/>
          <p:cNvSpPr/>
          <p:nvPr/>
        </p:nvSpPr>
        <p:spPr>
          <a:xfrm>
            <a:off x="6240780" y="3822192"/>
            <a:ext cx="841248" cy="164592"/>
          </a:xfrm>
          <a:prstGeom prst="rect">
            <a:avLst/>
          </a:prstGeom>
          <a:noFill/>
          <a:ln/>
        </p:spPr>
        <p:txBody>
          <a:bodyPr wrap="square" rtlCol="0" anchor="ctr"/>
          <a:lstStyle/>
          <a:p>
            <a:pPr algn="ctr" indent="0" marL="0">
              <a:buNone/>
            </a:pPr>
            <a:r>
              <a:rPr lang="en-US" sz="650" b="1" dirty="0">
                <a:solidFill>
                  <a:srgbClr val="1E6B38"/>
                </a:solidFill>
                <a:latin typeface="Calibri" pitchFamily="34" charset="0"/>
                <a:ea typeface="Calibri" pitchFamily="34" charset="-122"/>
                <a:cs typeface="Calibri" pitchFamily="34" charset="-120"/>
              </a:rPr>
              <a:t>AI + TEAM</a:t>
            </a:r>
            <a:endParaRPr lang="en-US" sz="650" dirty="0"/>
          </a:p>
        </p:txBody>
      </p:sp>
      <p:sp>
        <p:nvSpPr>
          <p:cNvPr id="61" name="Text 59"/>
          <p:cNvSpPr/>
          <p:nvPr/>
        </p:nvSpPr>
        <p:spPr>
          <a:xfrm>
            <a:off x="5125212" y="409651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Know when it is data — then close it</a:t>
            </a:r>
            <a:endParaRPr lang="en-US" sz="1050" dirty="0"/>
          </a:p>
        </p:txBody>
      </p:sp>
      <p:sp>
        <p:nvSpPr>
          <p:cNvPr id="62" name="Text 60"/>
          <p:cNvSpPr/>
          <p:nvPr/>
        </p:nvSpPr>
        <p:spPr>
          <a:xfrm>
            <a:off x="5125212" y="462686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Data gaps closed only when escalated with evidence.</a:t>
            </a:r>
            <a:endParaRPr lang="en-US" sz="850" dirty="0"/>
          </a:p>
        </p:txBody>
      </p:sp>
      <p:sp>
        <p:nvSpPr>
          <p:cNvPr id="63" name="Shape 61"/>
          <p:cNvSpPr/>
          <p:nvPr/>
        </p:nvSpPr>
        <p:spPr>
          <a:xfrm>
            <a:off x="7363206" y="3639312"/>
            <a:ext cx="2212848" cy="54864"/>
          </a:xfrm>
          <a:prstGeom prst="rect">
            <a:avLst/>
          </a:prstGeom>
          <a:solidFill>
            <a:srgbClr val="1861F5"/>
          </a:solidFill>
          <a:ln/>
        </p:spPr>
      </p:sp>
      <p:sp>
        <p:nvSpPr>
          <p:cNvPr id="64" name="Shape 62"/>
          <p:cNvSpPr/>
          <p:nvPr/>
        </p:nvSpPr>
        <p:spPr>
          <a:xfrm>
            <a:off x="7363206" y="3694176"/>
            <a:ext cx="2212848" cy="1481328"/>
          </a:xfrm>
          <a:prstGeom prst="rect">
            <a:avLst/>
          </a:prstGeom>
          <a:solidFill>
            <a:srgbClr val="F2F5FC"/>
          </a:solidFill>
          <a:ln/>
        </p:spPr>
      </p:sp>
      <p:sp>
        <p:nvSpPr>
          <p:cNvPr id="65" name="Text 63"/>
          <p:cNvSpPr/>
          <p:nvPr/>
        </p:nvSpPr>
        <p:spPr>
          <a:xfrm>
            <a:off x="7500366" y="3776472"/>
            <a:ext cx="457200" cy="237744"/>
          </a:xfrm>
          <a:prstGeom prst="rect">
            <a:avLst/>
          </a:prstGeom>
          <a:noFill/>
          <a:ln/>
        </p:spPr>
        <p:txBody>
          <a:bodyPr wrap="square" rtlCol="0" anchor="ctr"/>
          <a:lstStyle/>
          <a:p>
            <a:pPr indent="0" marL="0">
              <a:buNone/>
            </a:pPr>
            <a:r>
              <a:rPr lang="en-US" sz="1300" b="1" dirty="0">
                <a:solidFill>
                  <a:srgbClr val="1861F5"/>
                </a:solidFill>
                <a:latin typeface="Calibri" pitchFamily="34" charset="0"/>
                <a:ea typeface="Calibri" pitchFamily="34" charset="-122"/>
                <a:cs typeface="Calibri" pitchFamily="34" charset="-120"/>
              </a:rPr>
              <a:t>09</a:t>
            </a:r>
            <a:endParaRPr lang="en-US" sz="1300" dirty="0"/>
          </a:p>
        </p:txBody>
      </p:sp>
      <p:sp>
        <p:nvSpPr>
          <p:cNvPr id="66" name="Shape 64"/>
          <p:cNvSpPr/>
          <p:nvPr/>
        </p:nvSpPr>
        <p:spPr>
          <a:xfrm>
            <a:off x="8615934" y="3803904"/>
            <a:ext cx="841248" cy="201168"/>
          </a:xfrm>
          <a:prstGeom prst="rect">
            <a:avLst/>
          </a:prstGeom>
          <a:solidFill>
            <a:srgbClr val="E3EAFB"/>
          </a:solidFill>
          <a:ln/>
        </p:spPr>
      </p:sp>
      <p:sp>
        <p:nvSpPr>
          <p:cNvPr id="67" name="Text 65"/>
          <p:cNvSpPr/>
          <p:nvPr/>
        </p:nvSpPr>
        <p:spPr>
          <a:xfrm>
            <a:off x="8615934" y="3822192"/>
            <a:ext cx="841248" cy="164592"/>
          </a:xfrm>
          <a:prstGeom prst="rect">
            <a:avLst/>
          </a:prstGeom>
          <a:noFill/>
          <a:ln/>
        </p:spPr>
        <p:txBody>
          <a:bodyPr wrap="square" rtlCol="0" anchor="ctr"/>
          <a:lstStyle/>
          <a:p>
            <a:pPr algn="ctr" indent="0" marL="0">
              <a:buNone/>
            </a:pPr>
            <a:r>
              <a:rPr lang="en-US" sz="650" b="1" dirty="0">
                <a:solidFill>
                  <a:srgbClr val="113C75"/>
                </a:solidFill>
                <a:latin typeface="Calibri" pitchFamily="34" charset="0"/>
                <a:ea typeface="Calibri" pitchFamily="34" charset="-122"/>
                <a:cs typeface="Calibri" pitchFamily="34" charset="-120"/>
              </a:rPr>
              <a:t>AI FOUND</a:t>
            </a:r>
            <a:endParaRPr lang="en-US" sz="650" dirty="0"/>
          </a:p>
        </p:txBody>
      </p:sp>
      <p:sp>
        <p:nvSpPr>
          <p:cNvPr id="68" name="Text 66"/>
          <p:cNvSpPr/>
          <p:nvPr/>
        </p:nvSpPr>
        <p:spPr>
          <a:xfrm>
            <a:off x="7500366" y="409651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Read the log the run actually wrote</a:t>
            </a:r>
            <a:endParaRPr lang="en-US" sz="1050" dirty="0"/>
          </a:p>
        </p:txBody>
      </p:sp>
      <p:sp>
        <p:nvSpPr>
          <p:cNvPr id="69" name="Text 67"/>
          <p:cNvSpPr/>
          <p:nvPr/>
        </p:nvSpPr>
        <p:spPr>
          <a:xfrm>
            <a:off x="7500366" y="462686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The visible log showed the symptom; the cause was redirected.</a:t>
            </a:r>
            <a:endParaRPr lang="en-US" sz="850" dirty="0"/>
          </a:p>
        </p:txBody>
      </p:sp>
      <p:sp>
        <p:nvSpPr>
          <p:cNvPr id="70" name="Shape 68"/>
          <p:cNvSpPr/>
          <p:nvPr/>
        </p:nvSpPr>
        <p:spPr>
          <a:xfrm>
            <a:off x="9738360" y="3639312"/>
            <a:ext cx="2212848" cy="54864"/>
          </a:xfrm>
          <a:prstGeom prst="rect">
            <a:avLst/>
          </a:prstGeom>
          <a:solidFill>
            <a:srgbClr val="2C8A4B"/>
          </a:solidFill>
          <a:ln/>
        </p:spPr>
      </p:sp>
      <p:sp>
        <p:nvSpPr>
          <p:cNvPr id="71" name="Shape 69"/>
          <p:cNvSpPr/>
          <p:nvPr/>
        </p:nvSpPr>
        <p:spPr>
          <a:xfrm>
            <a:off x="9738360" y="3694176"/>
            <a:ext cx="2212848" cy="1481328"/>
          </a:xfrm>
          <a:prstGeom prst="rect">
            <a:avLst/>
          </a:prstGeom>
          <a:solidFill>
            <a:srgbClr val="F2F5FC"/>
          </a:solidFill>
          <a:ln/>
        </p:spPr>
      </p:sp>
      <p:sp>
        <p:nvSpPr>
          <p:cNvPr id="72" name="Text 70"/>
          <p:cNvSpPr/>
          <p:nvPr/>
        </p:nvSpPr>
        <p:spPr>
          <a:xfrm>
            <a:off x="9875520" y="3776472"/>
            <a:ext cx="457200" cy="237744"/>
          </a:xfrm>
          <a:prstGeom prst="rect">
            <a:avLst/>
          </a:prstGeom>
          <a:noFill/>
          <a:ln/>
        </p:spPr>
        <p:txBody>
          <a:bodyPr wrap="square" rtlCol="0" anchor="ctr"/>
          <a:lstStyle/>
          <a:p>
            <a:pPr indent="0" marL="0">
              <a:buNone/>
            </a:pPr>
            <a:r>
              <a:rPr lang="en-US" sz="1300" b="1" dirty="0">
                <a:solidFill>
                  <a:srgbClr val="2C8A4B"/>
                </a:solidFill>
                <a:latin typeface="Calibri" pitchFamily="34" charset="0"/>
                <a:ea typeface="Calibri" pitchFamily="34" charset="-122"/>
                <a:cs typeface="Calibri" pitchFamily="34" charset="-120"/>
              </a:rPr>
              <a:t>10</a:t>
            </a:r>
            <a:endParaRPr lang="en-US" sz="1300" dirty="0"/>
          </a:p>
        </p:txBody>
      </p:sp>
      <p:sp>
        <p:nvSpPr>
          <p:cNvPr id="73" name="Shape 71"/>
          <p:cNvSpPr/>
          <p:nvPr/>
        </p:nvSpPr>
        <p:spPr>
          <a:xfrm>
            <a:off x="10991088" y="3803904"/>
            <a:ext cx="841248" cy="201168"/>
          </a:xfrm>
          <a:prstGeom prst="rect">
            <a:avLst/>
          </a:prstGeom>
          <a:solidFill>
            <a:srgbClr val="E1F0E6"/>
          </a:solidFill>
          <a:ln/>
        </p:spPr>
      </p:sp>
      <p:sp>
        <p:nvSpPr>
          <p:cNvPr id="74" name="Text 72"/>
          <p:cNvSpPr/>
          <p:nvPr/>
        </p:nvSpPr>
        <p:spPr>
          <a:xfrm>
            <a:off x="10991088" y="3822192"/>
            <a:ext cx="841248" cy="164592"/>
          </a:xfrm>
          <a:prstGeom prst="rect">
            <a:avLst/>
          </a:prstGeom>
          <a:noFill/>
          <a:ln/>
        </p:spPr>
        <p:txBody>
          <a:bodyPr wrap="square" rtlCol="0" anchor="ctr"/>
          <a:lstStyle/>
          <a:p>
            <a:pPr algn="ctr" indent="0" marL="0">
              <a:buNone/>
            </a:pPr>
            <a:r>
              <a:rPr lang="en-US" sz="650" b="1" dirty="0">
                <a:solidFill>
                  <a:srgbClr val="1E6B38"/>
                </a:solidFill>
                <a:latin typeface="Calibri" pitchFamily="34" charset="0"/>
                <a:ea typeface="Calibri" pitchFamily="34" charset="-122"/>
                <a:cs typeface="Calibri" pitchFamily="34" charset="-120"/>
              </a:rPr>
              <a:t>AI + TEAM</a:t>
            </a:r>
            <a:endParaRPr lang="en-US" sz="650" dirty="0"/>
          </a:p>
        </p:txBody>
      </p:sp>
      <p:sp>
        <p:nvSpPr>
          <p:cNvPr id="75" name="Text 73"/>
          <p:cNvSpPr/>
          <p:nvPr/>
        </p:nvSpPr>
        <p:spPr>
          <a:xfrm>
            <a:off x="9875520" y="409651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Guard shared state before every run</a:t>
            </a:r>
            <a:endParaRPr lang="en-US" sz="1050" dirty="0"/>
          </a:p>
        </p:txBody>
      </p:sp>
      <p:sp>
        <p:nvSpPr>
          <p:cNvPr id="76" name="Text 74"/>
          <p:cNvSpPr/>
          <p:nvPr/>
        </p:nvSpPr>
        <p:spPr>
          <a:xfrm>
            <a:off x="9875520" y="462686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A leftover table produced a 'successful' empty run.</a:t>
            </a:r>
            <a:endParaRPr lang="en-US" sz="850" dirty="0"/>
          </a:p>
        </p:txBody>
      </p:sp>
      <p:sp>
        <p:nvSpPr>
          <p:cNvPr id="77" name="Shape 75"/>
          <p:cNvSpPr/>
          <p:nvPr/>
        </p:nvSpPr>
        <p:spPr>
          <a:xfrm>
            <a:off x="237744" y="5422392"/>
            <a:ext cx="11713464" cy="758952"/>
          </a:xfrm>
          <a:prstGeom prst="rect">
            <a:avLst/>
          </a:prstGeom>
          <a:solidFill>
            <a:srgbClr val="1A288E"/>
          </a:solidFill>
          <a:ln/>
        </p:spPr>
      </p:sp>
      <p:sp>
        <p:nvSpPr>
          <p:cNvPr id="78" name="Text 76"/>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THREAD THROUGH 01–10</a:t>
            </a:r>
            <a:endParaRPr lang="en-US" sz="900" dirty="0"/>
          </a:p>
        </p:txBody>
      </p:sp>
      <p:sp>
        <p:nvSpPr>
          <p:cNvPr id="79" name="Text 77"/>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Verify against the source, fix at the level the defect lives, and prove the result by value</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WHAT WE LEARNED · OVERVIEW 2 OF 2</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Twenty Lessons From the Migration — 11 to 20</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Delivery, safety and governance on a shared production platform — the lessons that kept fast work from turning into risky work</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93392"/>
            <a:ext cx="2212848" cy="54864"/>
          </a:xfrm>
          <a:prstGeom prst="rect">
            <a:avLst/>
          </a:prstGeom>
          <a:solidFill>
            <a:srgbClr val="F96806"/>
          </a:solidFill>
          <a:ln/>
        </p:spPr>
      </p:sp>
      <p:sp>
        <p:nvSpPr>
          <p:cNvPr id="8" name="Shape 6"/>
          <p:cNvSpPr/>
          <p:nvPr/>
        </p:nvSpPr>
        <p:spPr>
          <a:xfrm>
            <a:off x="237744" y="2048256"/>
            <a:ext cx="2212848" cy="1481328"/>
          </a:xfrm>
          <a:prstGeom prst="rect">
            <a:avLst/>
          </a:prstGeom>
          <a:solidFill>
            <a:srgbClr val="F2F5FC"/>
          </a:solidFill>
          <a:ln/>
        </p:spPr>
      </p:sp>
      <p:sp>
        <p:nvSpPr>
          <p:cNvPr id="9" name="Text 7"/>
          <p:cNvSpPr/>
          <p:nvPr/>
        </p:nvSpPr>
        <p:spPr>
          <a:xfrm>
            <a:off x="374904" y="2130552"/>
            <a:ext cx="457200" cy="237744"/>
          </a:xfrm>
          <a:prstGeom prst="rect">
            <a:avLst/>
          </a:prstGeom>
          <a:noFill/>
          <a:ln/>
        </p:spPr>
        <p:txBody>
          <a:bodyPr wrap="square" rtlCol="0" anchor="ctr"/>
          <a:lstStyle/>
          <a:p>
            <a:pPr indent="0" marL="0">
              <a:buNone/>
            </a:pPr>
            <a:r>
              <a:rPr lang="en-US" sz="1300" b="1" dirty="0">
                <a:solidFill>
                  <a:srgbClr val="F96806"/>
                </a:solidFill>
                <a:latin typeface="Calibri" pitchFamily="34" charset="0"/>
                <a:ea typeface="Calibri" pitchFamily="34" charset="-122"/>
                <a:cs typeface="Calibri" pitchFamily="34" charset="-120"/>
              </a:rPr>
              <a:t>11</a:t>
            </a:r>
            <a:endParaRPr lang="en-US" sz="1300" dirty="0"/>
          </a:p>
        </p:txBody>
      </p:sp>
      <p:sp>
        <p:nvSpPr>
          <p:cNvPr id="10" name="Shape 8"/>
          <p:cNvSpPr/>
          <p:nvPr/>
        </p:nvSpPr>
        <p:spPr>
          <a:xfrm>
            <a:off x="1490472" y="2157984"/>
            <a:ext cx="841248" cy="201168"/>
          </a:xfrm>
          <a:prstGeom prst="rect">
            <a:avLst/>
          </a:prstGeom>
          <a:solidFill>
            <a:srgbClr val="FDE3D2"/>
          </a:solidFill>
          <a:ln/>
        </p:spPr>
      </p:sp>
      <p:sp>
        <p:nvSpPr>
          <p:cNvPr id="11" name="Text 9"/>
          <p:cNvSpPr/>
          <p:nvPr/>
        </p:nvSpPr>
        <p:spPr>
          <a:xfrm>
            <a:off x="1490472" y="2176272"/>
            <a:ext cx="841248" cy="164592"/>
          </a:xfrm>
          <a:prstGeom prst="rect">
            <a:avLst/>
          </a:prstGeom>
          <a:noFill/>
          <a:ln/>
        </p:spPr>
        <p:txBody>
          <a:bodyPr wrap="square" rtlCol="0" anchor="ctr"/>
          <a:lstStyle/>
          <a:p>
            <a:pPr algn="ctr" indent="0" marL="0">
              <a:buNone/>
            </a:pPr>
            <a:r>
              <a:rPr lang="en-US" sz="650" b="1" dirty="0">
                <a:solidFill>
                  <a:srgbClr val="A8430A"/>
                </a:solidFill>
                <a:latin typeface="Calibri" pitchFamily="34" charset="0"/>
                <a:ea typeface="Calibri" pitchFamily="34" charset="-122"/>
                <a:cs typeface="Calibri" pitchFamily="34" charset="-120"/>
              </a:rPr>
              <a:t>TEAM FOUND</a:t>
            </a:r>
            <a:endParaRPr lang="en-US" sz="650" dirty="0"/>
          </a:p>
        </p:txBody>
      </p:sp>
      <p:sp>
        <p:nvSpPr>
          <p:cNvPr id="12" name="Text 10"/>
          <p:cNvSpPr/>
          <p:nvPr/>
        </p:nvSpPr>
        <p:spPr>
          <a:xfrm>
            <a:off x="374904" y="245059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Edit the real file, prove it compiled</a:t>
            </a:r>
            <a:endParaRPr lang="en-US" sz="1050" dirty="0"/>
          </a:p>
        </p:txBody>
      </p:sp>
      <p:sp>
        <p:nvSpPr>
          <p:cNvPr id="13" name="Text 11"/>
          <p:cNvSpPr/>
          <p:nvPr/>
        </p:nvSpPr>
        <p:spPr>
          <a:xfrm>
            <a:off x="374904" y="298094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One overwritten file erased every bridge macro.</a:t>
            </a:r>
            <a:endParaRPr lang="en-US" sz="850" dirty="0"/>
          </a:p>
        </p:txBody>
      </p:sp>
      <p:sp>
        <p:nvSpPr>
          <p:cNvPr id="14" name="Shape 12"/>
          <p:cNvSpPr/>
          <p:nvPr/>
        </p:nvSpPr>
        <p:spPr>
          <a:xfrm>
            <a:off x="2612898" y="1993392"/>
            <a:ext cx="2212848" cy="54864"/>
          </a:xfrm>
          <a:prstGeom prst="rect">
            <a:avLst/>
          </a:prstGeom>
          <a:solidFill>
            <a:srgbClr val="F96806"/>
          </a:solidFill>
          <a:ln/>
        </p:spPr>
      </p:sp>
      <p:sp>
        <p:nvSpPr>
          <p:cNvPr id="15" name="Shape 13"/>
          <p:cNvSpPr/>
          <p:nvPr/>
        </p:nvSpPr>
        <p:spPr>
          <a:xfrm>
            <a:off x="2612898" y="2048256"/>
            <a:ext cx="2212848" cy="1481328"/>
          </a:xfrm>
          <a:prstGeom prst="rect">
            <a:avLst/>
          </a:prstGeom>
          <a:solidFill>
            <a:srgbClr val="F2F5FC"/>
          </a:solidFill>
          <a:ln/>
        </p:spPr>
      </p:sp>
      <p:sp>
        <p:nvSpPr>
          <p:cNvPr id="16" name="Text 14"/>
          <p:cNvSpPr/>
          <p:nvPr/>
        </p:nvSpPr>
        <p:spPr>
          <a:xfrm>
            <a:off x="2750058" y="2130552"/>
            <a:ext cx="457200" cy="237744"/>
          </a:xfrm>
          <a:prstGeom prst="rect">
            <a:avLst/>
          </a:prstGeom>
          <a:noFill/>
          <a:ln/>
        </p:spPr>
        <p:txBody>
          <a:bodyPr wrap="square" rtlCol="0" anchor="ctr"/>
          <a:lstStyle/>
          <a:p>
            <a:pPr indent="0" marL="0">
              <a:buNone/>
            </a:pPr>
            <a:r>
              <a:rPr lang="en-US" sz="1300" b="1" dirty="0">
                <a:solidFill>
                  <a:srgbClr val="F96806"/>
                </a:solidFill>
                <a:latin typeface="Calibri" pitchFamily="34" charset="0"/>
                <a:ea typeface="Calibri" pitchFamily="34" charset="-122"/>
                <a:cs typeface="Calibri" pitchFamily="34" charset="-120"/>
              </a:rPr>
              <a:t>12</a:t>
            </a:r>
            <a:endParaRPr lang="en-US" sz="1300" dirty="0"/>
          </a:p>
        </p:txBody>
      </p:sp>
      <p:sp>
        <p:nvSpPr>
          <p:cNvPr id="17" name="Shape 15"/>
          <p:cNvSpPr/>
          <p:nvPr/>
        </p:nvSpPr>
        <p:spPr>
          <a:xfrm>
            <a:off x="3865626" y="2157984"/>
            <a:ext cx="841248" cy="201168"/>
          </a:xfrm>
          <a:prstGeom prst="rect">
            <a:avLst/>
          </a:prstGeom>
          <a:solidFill>
            <a:srgbClr val="FDE3D2"/>
          </a:solidFill>
          <a:ln/>
        </p:spPr>
      </p:sp>
      <p:sp>
        <p:nvSpPr>
          <p:cNvPr id="18" name="Text 16"/>
          <p:cNvSpPr/>
          <p:nvPr/>
        </p:nvSpPr>
        <p:spPr>
          <a:xfrm>
            <a:off x="3865626" y="2176272"/>
            <a:ext cx="841248" cy="164592"/>
          </a:xfrm>
          <a:prstGeom prst="rect">
            <a:avLst/>
          </a:prstGeom>
          <a:noFill/>
          <a:ln/>
        </p:spPr>
        <p:txBody>
          <a:bodyPr wrap="square" rtlCol="0" anchor="ctr"/>
          <a:lstStyle/>
          <a:p>
            <a:pPr algn="ctr" indent="0" marL="0">
              <a:buNone/>
            </a:pPr>
            <a:r>
              <a:rPr lang="en-US" sz="650" b="1" dirty="0">
                <a:solidFill>
                  <a:srgbClr val="A8430A"/>
                </a:solidFill>
                <a:latin typeface="Calibri" pitchFamily="34" charset="0"/>
                <a:ea typeface="Calibri" pitchFamily="34" charset="-122"/>
                <a:cs typeface="Calibri" pitchFamily="34" charset="-120"/>
              </a:rPr>
              <a:t>TEAM FOUND</a:t>
            </a:r>
            <a:endParaRPr lang="en-US" sz="650" dirty="0"/>
          </a:p>
        </p:txBody>
      </p:sp>
      <p:sp>
        <p:nvSpPr>
          <p:cNvPr id="19" name="Text 17"/>
          <p:cNvSpPr/>
          <p:nvPr/>
        </p:nvSpPr>
        <p:spPr>
          <a:xfrm>
            <a:off x="2750058" y="245059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Keep the client's code theirs</a:t>
            </a:r>
            <a:endParaRPr lang="en-US" sz="1050" dirty="0"/>
          </a:p>
        </p:txBody>
      </p:sp>
      <p:sp>
        <p:nvSpPr>
          <p:cNvPr id="20" name="Text 18"/>
          <p:cNvSpPr/>
          <p:nvPr/>
        </p:nvSpPr>
        <p:spPr>
          <a:xfrm>
            <a:off x="2750058" y="298094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Bridges absorbed the platform; recipes stayed intact.</a:t>
            </a:r>
            <a:endParaRPr lang="en-US" sz="850" dirty="0"/>
          </a:p>
        </p:txBody>
      </p:sp>
      <p:sp>
        <p:nvSpPr>
          <p:cNvPr id="21" name="Shape 19"/>
          <p:cNvSpPr/>
          <p:nvPr/>
        </p:nvSpPr>
        <p:spPr>
          <a:xfrm>
            <a:off x="4988052" y="1993392"/>
            <a:ext cx="2212848" cy="54864"/>
          </a:xfrm>
          <a:prstGeom prst="rect">
            <a:avLst/>
          </a:prstGeom>
          <a:solidFill>
            <a:srgbClr val="1861F5"/>
          </a:solidFill>
          <a:ln/>
        </p:spPr>
      </p:sp>
      <p:sp>
        <p:nvSpPr>
          <p:cNvPr id="22" name="Shape 20"/>
          <p:cNvSpPr/>
          <p:nvPr/>
        </p:nvSpPr>
        <p:spPr>
          <a:xfrm>
            <a:off x="4988052" y="2048256"/>
            <a:ext cx="2212848" cy="1481328"/>
          </a:xfrm>
          <a:prstGeom prst="rect">
            <a:avLst/>
          </a:prstGeom>
          <a:solidFill>
            <a:srgbClr val="F2F5FC"/>
          </a:solidFill>
          <a:ln/>
        </p:spPr>
      </p:sp>
      <p:sp>
        <p:nvSpPr>
          <p:cNvPr id="23" name="Text 21"/>
          <p:cNvSpPr/>
          <p:nvPr/>
        </p:nvSpPr>
        <p:spPr>
          <a:xfrm>
            <a:off x="5125212" y="2130552"/>
            <a:ext cx="457200" cy="237744"/>
          </a:xfrm>
          <a:prstGeom prst="rect">
            <a:avLst/>
          </a:prstGeom>
          <a:noFill/>
          <a:ln/>
        </p:spPr>
        <p:txBody>
          <a:bodyPr wrap="square" rtlCol="0" anchor="ctr"/>
          <a:lstStyle/>
          <a:p>
            <a:pPr indent="0" marL="0">
              <a:buNone/>
            </a:pPr>
            <a:r>
              <a:rPr lang="en-US" sz="1300" b="1" dirty="0">
                <a:solidFill>
                  <a:srgbClr val="1861F5"/>
                </a:solidFill>
                <a:latin typeface="Calibri" pitchFamily="34" charset="0"/>
                <a:ea typeface="Calibri" pitchFamily="34" charset="-122"/>
                <a:cs typeface="Calibri" pitchFamily="34" charset="-120"/>
              </a:rPr>
              <a:t>13</a:t>
            </a:r>
            <a:endParaRPr lang="en-US" sz="1300" dirty="0"/>
          </a:p>
        </p:txBody>
      </p:sp>
      <p:sp>
        <p:nvSpPr>
          <p:cNvPr id="24" name="Shape 22"/>
          <p:cNvSpPr/>
          <p:nvPr/>
        </p:nvSpPr>
        <p:spPr>
          <a:xfrm>
            <a:off x="6240780" y="2157984"/>
            <a:ext cx="841248" cy="201168"/>
          </a:xfrm>
          <a:prstGeom prst="rect">
            <a:avLst/>
          </a:prstGeom>
          <a:solidFill>
            <a:srgbClr val="E3EAFB"/>
          </a:solidFill>
          <a:ln/>
        </p:spPr>
      </p:sp>
      <p:sp>
        <p:nvSpPr>
          <p:cNvPr id="25" name="Text 23"/>
          <p:cNvSpPr/>
          <p:nvPr/>
        </p:nvSpPr>
        <p:spPr>
          <a:xfrm>
            <a:off x="6240780" y="2176272"/>
            <a:ext cx="841248" cy="164592"/>
          </a:xfrm>
          <a:prstGeom prst="rect">
            <a:avLst/>
          </a:prstGeom>
          <a:noFill/>
          <a:ln/>
        </p:spPr>
        <p:txBody>
          <a:bodyPr wrap="square" rtlCol="0" anchor="ctr"/>
          <a:lstStyle/>
          <a:p>
            <a:pPr algn="ctr" indent="0" marL="0">
              <a:buNone/>
            </a:pPr>
            <a:r>
              <a:rPr lang="en-US" sz="650" b="1" dirty="0">
                <a:solidFill>
                  <a:srgbClr val="113C75"/>
                </a:solidFill>
                <a:latin typeface="Calibri" pitchFamily="34" charset="0"/>
                <a:ea typeface="Calibri" pitchFamily="34" charset="-122"/>
                <a:cs typeface="Calibri" pitchFamily="34" charset="-120"/>
              </a:rPr>
              <a:t>AI FOUND</a:t>
            </a:r>
            <a:endParaRPr lang="en-US" sz="650" dirty="0"/>
          </a:p>
        </p:txBody>
      </p:sp>
      <p:sp>
        <p:nvSpPr>
          <p:cNvPr id="26" name="Text 24"/>
          <p:cNvSpPr/>
          <p:nvPr/>
        </p:nvSpPr>
        <p:spPr>
          <a:xfrm>
            <a:off x="5125212" y="245059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Check key domains before merging</a:t>
            </a:r>
            <a:endParaRPr lang="en-US" sz="1050" dirty="0"/>
          </a:p>
        </p:txBody>
      </p:sp>
      <p:sp>
        <p:nvSpPr>
          <p:cNvPr id="27" name="Text 25"/>
          <p:cNvSpPr/>
          <p:nvPr/>
        </p:nvSpPr>
        <p:spPr>
          <a:xfrm>
            <a:off x="5125212" y="298094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Two look-alike keys turned a join into an append.</a:t>
            </a:r>
            <a:endParaRPr lang="en-US" sz="850" dirty="0"/>
          </a:p>
        </p:txBody>
      </p:sp>
      <p:sp>
        <p:nvSpPr>
          <p:cNvPr id="28" name="Shape 26"/>
          <p:cNvSpPr/>
          <p:nvPr/>
        </p:nvSpPr>
        <p:spPr>
          <a:xfrm>
            <a:off x="7363206" y="1993392"/>
            <a:ext cx="2212848" cy="54864"/>
          </a:xfrm>
          <a:prstGeom prst="rect">
            <a:avLst/>
          </a:prstGeom>
          <a:solidFill>
            <a:srgbClr val="2C8A4B"/>
          </a:solidFill>
          <a:ln/>
        </p:spPr>
      </p:sp>
      <p:sp>
        <p:nvSpPr>
          <p:cNvPr id="29" name="Shape 27"/>
          <p:cNvSpPr/>
          <p:nvPr/>
        </p:nvSpPr>
        <p:spPr>
          <a:xfrm>
            <a:off x="7363206" y="2048256"/>
            <a:ext cx="2212848" cy="1481328"/>
          </a:xfrm>
          <a:prstGeom prst="rect">
            <a:avLst/>
          </a:prstGeom>
          <a:solidFill>
            <a:srgbClr val="F2F5FC"/>
          </a:solidFill>
          <a:ln/>
        </p:spPr>
      </p:sp>
      <p:sp>
        <p:nvSpPr>
          <p:cNvPr id="30" name="Text 28"/>
          <p:cNvSpPr/>
          <p:nvPr/>
        </p:nvSpPr>
        <p:spPr>
          <a:xfrm>
            <a:off x="7500366" y="2130552"/>
            <a:ext cx="457200" cy="237744"/>
          </a:xfrm>
          <a:prstGeom prst="rect">
            <a:avLst/>
          </a:prstGeom>
          <a:noFill/>
          <a:ln/>
        </p:spPr>
        <p:txBody>
          <a:bodyPr wrap="square" rtlCol="0" anchor="ctr"/>
          <a:lstStyle/>
          <a:p>
            <a:pPr indent="0" marL="0">
              <a:buNone/>
            </a:pPr>
            <a:r>
              <a:rPr lang="en-US" sz="1300" b="1" dirty="0">
                <a:solidFill>
                  <a:srgbClr val="2C8A4B"/>
                </a:solidFill>
                <a:latin typeface="Calibri" pitchFamily="34" charset="0"/>
                <a:ea typeface="Calibri" pitchFamily="34" charset="-122"/>
                <a:cs typeface="Calibri" pitchFamily="34" charset="-120"/>
              </a:rPr>
              <a:t>14</a:t>
            </a:r>
            <a:endParaRPr lang="en-US" sz="1300" dirty="0"/>
          </a:p>
        </p:txBody>
      </p:sp>
      <p:sp>
        <p:nvSpPr>
          <p:cNvPr id="31" name="Shape 29"/>
          <p:cNvSpPr/>
          <p:nvPr/>
        </p:nvSpPr>
        <p:spPr>
          <a:xfrm>
            <a:off x="8615934" y="2157984"/>
            <a:ext cx="841248" cy="201168"/>
          </a:xfrm>
          <a:prstGeom prst="rect">
            <a:avLst/>
          </a:prstGeom>
          <a:solidFill>
            <a:srgbClr val="E1F0E6"/>
          </a:solidFill>
          <a:ln/>
        </p:spPr>
      </p:sp>
      <p:sp>
        <p:nvSpPr>
          <p:cNvPr id="32" name="Text 30"/>
          <p:cNvSpPr/>
          <p:nvPr/>
        </p:nvSpPr>
        <p:spPr>
          <a:xfrm>
            <a:off x="8615934" y="2176272"/>
            <a:ext cx="841248" cy="164592"/>
          </a:xfrm>
          <a:prstGeom prst="rect">
            <a:avLst/>
          </a:prstGeom>
          <a:noFill/>
          <a:ln/>
        </p:spPr>
        <p:txBody>
          <a:bodyPr wrap="square" rtlCol="0" anchor="ctr"/>
          <a:lstStyle/>
          <a:p>
            <a:pPr algn="ctr" indent="0" marL="0">
              <a:buNone/>
            </a:pPr>
            <a:r>
              <a:rPr lang="en-US" sz="650" b="1" dirty="0">
                <a:solidFill>
                  <a:srgbClr val="1E6B38"/>
                </a:solidFill>
                <a:latin typeface="Calibri" pitchFamily="34" charset="0"/>
                <a:ea typeface="Calibri" pitchFamily="34" charset="-122"/>
                <a:cs typeface="Calibri" pitchFamily="34" charset="-120"/>
              </a:rPr>
              <a:t>AI + TEAM</a:t>
            </a:r>
            <a:endParaRPr lang="en-US" sz="650" dirty="0"/>
          </a:p>
        </p:txBody>
      </p:sp>
      <p:sp>
        <p:nvSpPr>
          <p:cNvPr id="33" name="Text 31"/>
          <p:cNvSpPr/>
          <p:nvPr/>
        </p:nvSpPr>
        <p:spPr>
          <a:xfrm>
            <a:off x="7500366" y="245059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Normalise before you compare</a:t>
            </a:r>
            <a:endParaRPr lang="en-US" sz="1050" dirty="0"/>
          </a:p>
        </p:txBody>
      </p:sp>
      <p:sp>
        <p:nvSpPr>
          <p:cNvPr id="34" name="Text 32"/>
          <p:cNvSpPr/>
          <p:nvPr/>
        </p:nvSpPr>
        <p:spPr>
          <a:xfrm>
            <a:off x="7500366" y="298094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Different build dates make raw values incomparable.</a:t>
            </a:r>
            <a:endParaRPr lang="en-US" sz="850" dirty="0"/>
          </a:p>
        </p:txBody>
      </p:sp>
      <p:sp>
        <p:nvSpPr>
          <p:cNvPr id="35" name="Shape 33"/>
          <p:cNvSpPr/>
          <p:nvPr/>
        </p:nvSpPr>
        <p:spPr>
          <a:xfrm>
            <a:off x="9738360" y="1993392"/>
            <a:ext cx="2212848" cy="54864"/>
          </a:xfrm>
          <a:prstGeom prst="rect">
            <a:avLst/>
          </a:prstGeom>
          <a:solidFill>
            <a:srgbClr val="1861F5"/>
          </a:solidFill>
          <a:ln/>
        </p:spPr>
      </p:sp>
      <p:sp>
        <p:nvSpPr>
          <p:cNvPr id="36" name="Shape 34"/>
          <p:cNvSpPr/>
          <p:nvPr/>
        </p:nvSpPr>
        <p:spPr>
          <a:xfrm>
            <a:off x="9738360" y="2048256"/>
            <a:ext cx="2212848" cy="1481328"/>
          </a:xfrm>
          <a:prstGeom prst="rect">
            <a:avLst/>
          </a:prstGeom>
          <a:solidFill>
            <a:srgbClr val="F2F5FC"/>
          </a:solidFill>
          <a:ln/>
        </p:spPr>
      </p:sp>
      <p:sp>
        <p:nvSpPr>
          <p:cNvPr id="37" name="Text 35"/>
          <p:cNvSpPr/>
          <p:nvPr/>
        </p:nvSpPr>
        <p:spPr>
          <a:xfrm>
            <a:off x="9875520" y="2130552"/>
            <a:ext cx="457200" cy="237744"/>
          </a:xfrm>
          <a:prstGeom prst="rect">
            <a:avLst/>
          </a:prstGeom>
          <a:noFill/>
          <a:ln/>
        </p:spPr>
        <p:txBody>
          <a:bodyPr wrap="square" rtlCol="0" anchor="ctr"/>
          <a:lstStyle/>
          <a:p>
            <a:pPr indent="0" marL="0">
              <a:buNone/>
            </a:pPr>
            <a:r>
              <a:rPr lang="en-US" sz="1300" b="1" dirty="0">
                <a:solidFill>
                  <a:srgbClr val="1861F5"/>
                </a:solidFill>
                <a:latin typeface="Calibri" pitchFamily="34" charset="0"/>
                <a:ea typeface="Calibri" pitchFamily="34" charset="-122"/>
                <a:cs typeface="Calibri" pitchFamily="34" charset="-120"/>
              </a:rPr>
              <a:t>15</a:t>
            </a:r>
            <a:endParaRPr lang="en-US" sz="1300" dirty="0"/>
          </a:p>
        </p:txBody>
      </p:sp>
      <p:sp>
        <p:nvSpPr>
          <p:cNvPr id="38" name="Shape 36"/>
          <p:cNvSpPr/>
          <p:nvPr/>
        </p:nvSpPr>
        <p:spPr>
          <a:xfrm>
            <a:off x="10991088" y="2157984"/>
            <a:ext cx="841248" cy="201168"/>
          </a:xfrm>
          <a:prstGeom prst="rect">
            <a:avLst/>
          </a:prstGeom>
          <a:solidFill>
            <a:srgbClr val="E3EAFB"/>
          </a:solidFill>
          <a:ln/>
        </p:spPr>
      </p:sp>
      <p:sp>
        <p:nvSpPr>
          <p:cNvPr id="39" name="Text 37"/>
          <p:cNvSpPr/>
          <p:nvPr/>
        </p:nvSpPr>
        <p:spPr>
          <a:xfrm>
            <a:off x="10991088" y="2176272"/>
            <a:ext cx="841248" cy="164592"/>
          </a:xfrm>
          <a:prstGeom prst="rect">
            <a:avLst/>
          </a:prstGeom>
          <a:noFill/>
          <a:ln/>
        </p:spPr>
        <p:txBody>
          <a:bodyPr wrap="square" rtlCol="0" anchor="ctr"/>
          <a:lstStyle/>
          <a:p>
            <a:pPr algn="ctr" indent="0" marL="0">
              <a:buNone/>
            </a:pPr>
            <a:r>
              <a:rPr lang="en-US" sz="650" b="1" dirty="0">
                <a:solidFill>
                  <a:srgbClr val="113C75"/>
                </a:solidFill>
                <a:latin typeface="Calibri" pitchFamily="34" charset="0"/>
                <a:ea typeface="Calibri" pitchFamily="34" charset="-122"/>
                <a:cs typeface="Calibri" pitchFamily="34" charset="-120"/>
              </a:rPr>
              <a:t>AI FOUND</a:t>
            </a:r>
            <a:endParaRPr lang="en-US" sz="650" dirty="0"/>
          </a:p>
        </p:txBody>
      </p:sp>
      <p:sp>
        <p:nvSpPr>
          <p:cNvPr id="40" name="Text 38"/>
          <p:cNvSpPr/>
          <p:nvPr/>
        </p:nvSpPr>
        <p:spPr>
          <a:xfrm>
            <a:off x="9875520" y="245059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Measure where the time goes</a:t>
            </a:r>
            <a:endParaRPr lang="en-US" sz="1050" dirty="0"/>
          </a:p>
        </p:txBody>
      </p:sp>
      <p:sp>
        <p:nvSpPr>
          <p:cNvPr id="41" name="Text 39"/>
          <p:cNvSpPr/>
          <p:nvPr/>
        </p:nvSpPr>
        <p:spPr>
          <a:xfrm>
            <a:off x="9875520" y="298094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Query count, not audience size, set the clock.</a:t>
            </a:r>
            <a:endParaRPr lang="en-US" sz="850" dirty="0"/>
          </a:p>
        </p:txBody>
      </p:sp>
      <p:sp>
        <p:nvSpPr>
          <p:cNvPr id="42" name="Shape 40"/>
          <p:cNvSpPr/>
          <p:nvPr/>
        </p:nvSpPr>
        <p:spPr>
          <a:xfrm>
            <a:off x="237744" y="3639312"/>
            <a:ext cx="2212848" cy="54864"/>
          </a:xfrm>
          <a:prstGeom prst="rect">
            <a:avLst/>
          </a:prstGeom>
          <a:solidFill>
            <a:srgbClr val="F96806"/>
          </a:solidFill>
          <a:ln/>
        </p:spPr>
      </p:sp>
      <p:sp>
        <p:nvSpPr>
          <p:cNvPr id="43" name="Shape 41"/>
          <p:cNvSpPr/>
          <p:nvPr/>
        </p:nvSpPr>
        <p:spPr>
          <a:xfrm>
            <a:off x="237744" y="3694176"/>
            <a:ext cx="2212848" cy="1481328"/>
          </a:xfrm>
          <a:prstGeom prst="rect">
            <a:avLst/>
          </a:prstGeom>
          <a:solidFill>
            <a:srgbClr val="F2F5FC"/>
          </a:solidFill>
          <a:ln/>
        </p:spPr>
      </p:sp>
      <p:sp>
        <p:nvSpPr>
          <p:cNvPr id="44" name="Text 42"/>
          <p:cNvSpPr/>
          <p:nvPr/>
        </p:nvSpPr>
        <p:spPr>
          <a:xfrm>
            <a:off x="374904" y="3776472"/>
            <a:ext cx="457200" cy="237744"/>
          </a:xfrm>
          <a:prstGeom prst="rect">
            <a:avLst/>
          </a:prstGeom>
          <a:noFill/>
          <a:ln/>
        </p:spPr>
        <p:txBody>
          <a:bodyPr wrap="square" rtlCol="0" anchor="ctr"/>
          <a:lstStyle/>
          <a:p>
            <a:pPr indent="0" marL="0">
              <a:buNone/>
            </a:pPr>
            <a:r>
              <a:rPr lang="en-US" sz="1300" b="1" dirty="0">
                <a:solidFill>
                  <a:srgbClr val="F96806"/>
                </a:solidFill>
                <a:latin typeface="Calibri" pitchFamily="34" charset="0"/>
                <a:ea typeface="Calibri" pitchFamily="34" charset="-122"/>
                <a:cs typeface="Calibri" pitchFamily="34" charset="-120"/>
              </a:rPr>
              <a:t>16</a:t>
            </a:r>
            <a:endParaRPr lang="en-US" sz="1300" dirty="0"/>
          </a:p>
        </p:txBody>
      </p:sp>
      <p:sp>
        <p:nvSpPr>
          <p:cNvPr id="45" name="Shape 43"/>
          <p:cNvSpPr/>
          <p:nvPr/>
        </p:nvSpPr>
        <p:spPr>
          <a:xfrm>
            <a:off x="1490472" y="3803904"/>
            <a:ext cx="841248" cy="201168"/>
          </a:xfrm>
          <a:prstGeom prst="rect">
            <a:avLst/>
          </a:prstGeom>
          <a:solidFill>
            <a:srgbClr val="FDE3D2"/>
          </a:solidFill>
          <a:ln/>
        </p:spPr>
      </p:sp>
      <p:sp>
        <p:nvSpPr>
          <p:cNvPr id="46" name="Text 44"/>
          <p:cNvSpPr/>
          <p:nvPr/>
        </p:nvSpPr>
        <p:spPr>
          <a:xfrm>
            <a:off x="1490472" y="3822192"/>
            <a:ext cx="841248" cy="164592"/>
          </a:xfrm>
          <a:prstGeom prst="rect">
            <a:avLst/>
          </a:prstGeom>
          <a:noFill/>
          <a:ln/>
        </p:spPr>
        <p:txBody>
          <a:bodyPr wrap="square" rtlCol="0" anchor="ctr"/>
          <a:lstStyle/>
          <a:p>
            <a:pPr algn="ctr" indent="0" marL="0">
              <a:buNone/>
            </a:pPr>
            <a:r>
              <a:rPr lang="en-US" sz="650" b="1" dirty="0">
                <a:solidFill>
                  <a:srgbClr val="A8430A"/>
                </a:solidFill>
                <a:latin typeface="Calibri" pitchFamily="34" charset="0"/>
                <a:ea typeface="Calibri" pitchFamily="34" charset="-122"/>
                <a:cs typeface="Calibri" pitchFamily="34" charset="-120"/>
              </a:rPr>
              <a:t>TEAM FOUND</a:t>
            </a:r>
            <a:endParaRPr lang="en-US" sz="650" dirty="0"/>
          </a:p>
        </p:txBody>
      </p:sp>
      <p:sp>
        <p:nvSpPr>
          <p:cNvPr id="47" name="Text 45"/>
          <p:cNvSpPr/>
          <p:nvPr/>
        </p:nvSpPr>
        <p:spPr>
          <a:xfrm>
            <a:off x="374904" y="409651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The business owns what a number means</a:t>
            </a:r>
            <a:endParaRPr lang="en-US" sz="1050" dirty="0"/>
          </a:p>
        </p:txBody>
      </p:sp>
      <p:sp>
        <p:nvSpPr>
          <p:cNvPr id="48" name="Text 46"/>
          <p:cNvSpPr/>
          <p:nvPr/>
        </p:nvSpPr>
        <p:spPr>
          <a:xfrm>
            <a:off x="374904" y="462686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Meaning-changing fixes needed sign-off.</a:t>
            </a:r>
            <a:endParaRPr lang="en-US" sz="850" dirty="0"/>
          </a:p>
        </p:txBody>
      </p:sp>
      <p:sp>
        <p:nvSpPr>
          <p:cNvPr id="49" name="Shape 47"/>
          <p:cNvSpPr/>
          <p:nvPr/>
        </p:nvSpPr>
        <p:spPr>
          <a:xfrm>
            <a:off x="2612898" y="3639312"/>
            <a:ext cx="2212848" cy="54864"/>
          </a:xfrm>
          <a:prstGeom prst="rect">
            <a:avLst/>
          </a:prstGeom>
          <a:solidFill>
            <a:srgbClr val="2C8A4B"/>
          </a:solidFill>
          <a:ln/>
        </p:spPr>
      </p:sp>
      <p:sp>
        <p:nvSpPr>
          <p:cNvPr id="50" name="Shape 48"/>
          <p:cNvSpPr/>
          <p:nvPr/>
        </p:nvSpPr>
        <p:spPr>
          <a:xfrm>
            <a:off x="2612898" y="3694176"/>
            <a:ext cx="2212848" cy="1481328"/>
          </a:xfrm>
          <a:prstGeom prst="rect">
            <a:avLst/>
          </a:prstGeom>
          <a:solidFill>
            <a:srgbClr val="F2F5FC"/>
          </a:solidFill>
          <a:ln/>
        </p:spPr>
      </p:sp>
      <p:sp>
        <p:nvSpPr>
          <p:cNvPr id="51" name="Text 49"/>
          <p:cNvSpPr/>
          <p:nvPr/>
        </p:nvSpPr>
        <p:spPr>
          <a:xfrm>
            <a:off x="2750058" y="3776472"/>
            <a:ext cx="457200" cy="237744"/>
          </a:xfrm>
          <a:prstGeom prst="rect">
            <a:avLst/>
          </a:prstGeom>
          <a:noFill/>
          <a:ln/>
        </p:spPr>
        <p:txBody>
          <a:bodyPr wrap="square" rtlCol="0" anchor="ctr"/>
          <a:lstStyle/>
          <a:p>
            <a:pPr indent="0" marL="0">
              <a:buNone/>
            </a:pPr>
            <a:r>
              <a:rPr lang="en-US" sz="1300" b="1" dirty="0">
                <a:solidFill>
                  <a:srgbClr val="2C8A4B"/>
                </a:solidFill>
                <a:latin typeface="Calibri" pitchFamily="34" charset="0"/>
                <a:ea typeface="Calibri" pitchFamily="34" charset="-122"/>
                <a:cs typeface="Calibri" pitchFamily="34" charset="-120"/>
              </a:rPr>
              <a:t>17</a:t>
            </a:r>
            <a:endParaRPr lang="en-US" sz="1300" dirty="0"/>
          </a:p>
        </p:txBody>
      </p:sp>
      <p:sp>
        <p:nvSpPr>
          <p:cNvPr id="52" name="Shape 50"/>
          <p:cNvSpPr/>
          <p:nvPr/>
        </p:nvSpPr>
        <p:spPr>
          <a:xfrm>
            <a:off x="3865626" y="3803904"/>
            <a:ext cx="841248" cy="201168"/>
          </a:xfrm>
          <a:prstGeom prst="rect">
            <a:avLst/>
          </a:prstGeom>
          <a:solidFill>
            <a:srgbClr val="E1F0E6"/>
          </a:solidFill>
          <a:ln/>
        </p:spPr>
      </p:sp>
      <p:sp>
        <p:nvSpPr>
          <p:cNvPr id="53" name="Text 51"/>
          <p:cNvSpPr/>
          <p:nvPr/>
        </p:nvSpPr>
        <p:spPr>
          <a:xfrm>
            <a:off x="3865626" y="3822192"/>
            <a:ext cx="841248" cy="164592"/>
          </a:xfrm>
          <a:prstGeom prst="rect">
            <a:avLst/>
          </a:prstGeom>
          <a:noFill/>
          <a:ln/>
        </p:spPr>
        <p:txBody>
          <a:bodyPr wrap="square" rtlCol="0" anchor="ctr"/>
          <a:lstStyle/>
          <a:p>
            <a:pPr algn="ctr" indent="0" marL="0">
              <a:buNone/>
            </a:pPr>
            <a:r>
              <a:rPr lang="en-US" sz="650" b="1" dirty="0">
                <a:solidFill>
                  <a:srgbClr val="1E6B38"/>
                </a:solidFill>
                <a:latin typeface="Calibri" pitchFamily="34" charset="0"/>
                <a:ea typeface="Calibri" pitchFamily="34" charset="-122"/>
                <a:cs typeface="Calibri" pitchFamily="34" charset="-120"/>
              </a:rPr>
              <a:t>AI + TEAM</a:t>
            </a:r>
            <a:endParaRPr lang="en-US" sz="650" dirty="0"/>
          </a:p>
        </p:txBody>
      </p:sp>
      <p:sp>
        <p:nvSpPr>
          <p:cNvPr id="54" name="Text 52"/>
          <p:cNvSpPr/>
          <p:nvPr/>
        </p:nvSpPr>
        <p:spPr>
          <a:xfrm>
            <a:off x="2750058" y="409651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Expect reference data to drift</a:t>
            </a:r>
            <a:endParaRPr lang="en-US" sz="1050" dirty="0"/>
          </a:p>
        </p:txBody>
      </p:sp>
      <p:sp>
        <p:nvSpPr>
          <p:cNvPr id="55" name="Text 53"/>
          <p:cNvSpPr/>
          <p:nvPr/>
        </p:nvSpPr>
        <p:spPr>
          <a:xfrm>
            <a:off x="2750058" y="462686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New and retired codes appeared after go-live.</a:t>
            </a:r>
            <a:endParaRPr lang="en-US" sz="850" dirty="0"/>
          </a:p>
        </p:txBody>
      </p:sp>
      <p:sp>
        <p:nvSpPr>
          <p:cNvPr id="56" name="Shape 54"/>
          <p:cNvSpPr/>
          <p:nvPr/>
        </p:nvSpPr>
        <p:spPr>
          <a:xfrm>
            <a:off x="4988052" y="3639312"/>
            <a:ext cx="2212848" cy="54864"/>
          </a:xfrm>
          <a:prstGeom prst="rect">
            <a:avLst/>
          </a:prstGeom>
          <a:solidFill>
            <a:srgbClr val="2C8A4B"/>
          </a:solidFill>
          <a:ln/>
        </p:spPr>
      </p:sp>
      <p:sp>
        <p:nvSpPr>
          <p:cNvPr id="57" name="Shape 55"/>
          <p:cNvSpPr/>
          <p:nvPr/>
        </p:nvSpPr>
        <p:spPr>
          <a:xfrm>
            <a:off x="4988052" y="3694176"/>
            <a:ext cx="2212848" cy="1481328"/>
          </a:xfrm>
          <a:prstGeom prst="rect">
            <a:avLst/>
          </a:prstGeom>
          <a:solidFill>
            <a:srgbClr val="F2F5FC"/>
          </a:solidFill>
          <a:ln/>
        </p:spPr>
      </p:sp>
      <p:sp>
        <p:nvSpPr>
          <p:cNvPr id="58" name="Text 56"/>
          <p:cNvSpPr/>
          <p:nvPr/>
        </p:nvSpPr>
        <p:spPr>
          <a:xfrm>
            <a:off x="5125212" y="3776472"/>
            <a:ext cx="457200" cy="237744"/>
          </a:xfrm>
          <a:prstGeom prst="rect">
            <a:avLst/>
          </a:prstGeom>
          <a:noFill/>
          <a:ln/>
        </p:spPr>
        <p:txBody>
          <a:bodyPr wrap="square" rtlCol="0" anchor="ctr"/>
          <a:lstStyle/>
          <a:p>
            <a:pPr indent="0" marL="0">
              <a:buNone/>
            </a:pPr>
            <a:r>
              <a:rPr lang="en-US" sz="1300" b="1" dirty="0">
                <a:solidFill>
                  <a:srgbClr val="2C8A4B"/>
                </a:solidFill>
                <a:latin typeface="Calibri" pitchFamily="34" charset="0"/>
                <a:ea typeface="Calibri" pitchFamily="34" charset="-122"/>
                <a:cs typeface="Calibri" pitchFamily="34" charset="-120"/>
              </a:rPr>
              <a:t>18</a:t>
            </a:r>
            <a:endParaRPr lang="en-US" sz="1300" dirty="0"/>
          </a:p>
        </p:txBody>
      </p:sp>
      <p:sp>
        <p:nvSpPr>
          <p:cNvPr id="59" name="Shape 57"/>
          <p:cNvSpPr/>
          <p:nvPr/>
        </p:nvSpPr>
        <p:spPr>
          <a:xfrm>
            <a:off x="6240780" y="3803904"/>
            <a:ext cx="841248" cy="201168"/>
          </a:xfrm>
          <a:prstGeom prst="rect">
            <a:avLst/>
          </a:prstGeom>
          <a:solidFill>
            <a:srgbClr val="E1F0E6"/>
          </a:solidFill>
          <a:ln/>
        </p:spPr>
      </p:sp>
      <p:sp>
        <p:nvSpPr>
          <p:cNvPr id="60" name="Text 58"/>
          <p:cNvSpPr/>
          <p:nvPr/>
        </p:nvSpPr>
        <p:spPr>
          <a:xfrm>
            <a:off x="6240780" y="3822192"/>
            <a:ext cx="841248" cy="164592"/>
          </a:xfrm>
          <a:prstGeom prst="rect">
            <a:avLst/>
          </a:prstGeom>
          <a:noFill/>
          <a:ln/>
        </p:spPr>
        <p:txBody>
          <a:bodyPr wrap="square" rtlCol="0" anchor="ctr"/>
          <a:lstStyle/>
          <a:p>
            <a:pPr algn="ctr" indent="0" marL="0">
              <a:buNone/>
            </a:pPr>
            <a:r>
              <a:rPr lang="en-US" sz="650" b="1" dirty="0">
                <a:solidFill>
                  <a:srgbClr val="1E6B38"/>
                </a:solidFill>
                <a:latin typeface="Calibri" pitchFamily="34" charset="0"/>
                <a:ea typeface="Calibri" pitchFamily="34" charset="-122"/>
                <a:cs typeface="Calibri" pitchFamily="34" charset="-120"/>
              </a:rPr>
              <a:t>AI + TEAM</a:t>
            </a:r>
            <a:endParaRPr lang="en-US" sz="650" dirty="0"/>
          </a:p>
        </p:txBody>
      </p:sp>
      <p:sp>
        <p:nvSpPr>
          <p:cNvPr id="61" name="Text 59"/>
          <p:cNvSpPr/>
          <p:nvPr/>
        </p:nvSpPr>
        <p:spPr>
          <a:xfrm>
            <a:off x="5125212" y="409651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Test the fix, not just the variable</a:t>
            </a:r>
            <a:endParaRPr lang="en-US" sz="1050" dirty="0"/>
          </a:p>
        </p:txBody>
      </p:sp>
      <p:sp>
        <p:nvSpPr>
          <p:cNvPr id="62" name="Text 60"/>
          <p:cNvSpPr/>
          <p:nvPr/>
        </p:nvSpPr>
        <p:spPr>
          <a:xfrm>
            <a:off x="5125212" y="462686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Two fixes introduced defects of their own.</a:t>
            </a:r>
            <a:endParaRPr lang="en-US" sz="850" dirty="0"/>
          </a:p>
        </p:txBody>
      </p:sp>
      <p:sp>
        <p:nvSpPr>
          <p:cNvPr id="63" name="Shape 61"/>
          <p:cNvSpPr/>
          <p:nvPr/>
        </p:nvSpPr>
        <p:spPr>
          <a:xfrm>
            <a:off x="7363206" y="3639312"/>
            <a:ext cx="2212848" cy="54864"/>
          </a:xfrm>
          <a:prstGeom prst="rect">
            <a:avLst/>
          </a:prstGeom>
          <a:solidFill>
            <a:srgbClr val="1861F5"/>
          </a:solidFill>
          <a:ln/>
        </p:spPr>
      </p:sp>
      <p:sp>
        <p:nvSpPr>
          <p:cNvPr id="64" name="Shape 62"/>
          <p:cNvSpPr/>
          <p:nvPr/>
        </p:nvSpPr>
        <p:spPr>
          <a:xfrm>
            <a:off x="7363206" y="3694176"/>
            <a:ext cx="2212848" cy="1481328"/>
          </a:xfrm>
          <a:prstGeom prst="rect">
            <a:avLst/>
          </a:prstGeom>
          <a:solidFill>
            <a:srgbClr val="F2F5FC"/>
          </a:solidFill>
          <a:ln/>
        </p:spPr>
      </p:sp>
      <p:sp>
        <p:nvSpPr>
          <p:cNvPr id="65" name="Text 63"/>
          <p:cNvSpPr/>
          <p:nvPr/>
        </p:nvSpPr>
        <p:spPr>
          <a:xfrm>
            <a:off x="7500366" y="3776472"/>
            <a:ext cx="457200" cy="237744"/>
          </a:xfrm>
          <a:prstGeom prst="rect">
            <a:avLst/>
          </a:prstGeom>
          <a:noFill/>
          <a:ln/>
        </p:spPr>
        <p:txBody>
          <a:bodyPr wrap="square" rtlCol="0" anchor="ctr"/>
          <a:lstStyle/>
          <a:p>
            <a:pPr indent="0" marL="0">
              <a:buNone/>
            </a:pPr>
            <a:r>
              <a:rPr lang="en-US" sz="1300" b="1" dirty="0">
                <a:solidFill>
                  <a:srgbClr val="1861F5"/>
                </a:solidFill>
                <a:latin typeface="Calibri" pitchFamily="34" charset="0"/>
                <a:ea typeface="Calibri" pitchFamily="34" charset="-122"/>
                <a:cs typeface="Calibri" pitchFamily="34" charset="-120"/>
              </a:rPr>
              <a:t>19</a:t>
            </a:r>
            <a:endParaRPr lang="en-US" sz="1300" dirty="0"/>
          </a:p>
        </p:txBody>
      </p:sp>
      <p:sp>
        <p:nvSpPr>
          <p:cNvPr id="66" name="Shape 64"/>
          <p:cNvSpPr/>
          <p:nvPr/>
        </p:nvSpPr>
        <p:spPr>
          <a:xfrm>
            <a:off x="8615934" y="3803904"/>
            <a:ext cx="841248" cy="201168"/>
          </a:xfrm>
          <a:prstGeom prst="rect">
            <a:avLst/>
          </a:prstGeom>
          <a:solidFill>
            <a:srgbClr val="E3EAFB"/>
          </a:solidFill>
          <a:ln/>
        </p:spPr>
      </p:sp>
      <p:sp>
        <p:nvSpPr>
          <p:cNvPr id="67" name="Text 65"/>
          <p:cNvSpPr/>
          <p:nvPr/>
        </p:nvSpPr>
        <p:spPr>
          <a:xfrm>
            <a:off x="8615934" y="3822192"/>
            <a:ext cx="841248" cy="164592"/>
          </a:xfrm>
          <a:prstGeom prst="rect">
            <a:avLst/>
          </a:prstGeom>
          <a:noFill/>
          <a:ln/>
        </p:spPr>
        <p:txBody>
          <a:bodyPr wrap="square" rtlCol="0" anchor="ctr"/>
          <a:lstStyle/>
          <a:p>
            <a:pPr algn="ctr" indent="0" marL="0">
              <a:buNone/>
            </a:pPr>
            <a:r>
              <a:rPr lang="en-US" sz="650" b="1" dirty="0">
                <a:solidFill>
                  <a:srgbClr val="113C75"/>
                </a:solidFill>
                <a:latin typeface="Calibri" pitchFamily="34" charset="0"/>
                <a:ea typeface="Calibri" pitchFamily="34" charset="-122"/>
                <a:cs typeface="Calibri" pitchFamily="34" charset="-120"/>
              </a:rPr>
              <a:t>AI FOUND</a:t>
            </a:r>
            <a:endParaRPr lang="en-US" sz="650" dirty="0"/>
          </a:p>
        </p:txBody>
      </p:sp>
      <p:sp>
        <p:nvSpPr>
          <p:cNvPr id="68" name="Text 66"/>
          <p:cNvSpPr/>
          <p:nvPr/>
        </p:nvSpPr>
        <p:spPr>
          <a:xfrm>
            <a:off x="7500366" y="409651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Sweep the whole defect class</a:t>
            </a:r>
            <a:endParaRPr lang="en-US" sz="1050" dirty="0"/>
          </a:p>
        </p:txBody>
      </p:sp>
      <p:sp>
        <p:nvSpPr>
          <p:cNvPr id="69" name="Text 67"/>
          <p:cNvSpPr/>
          <p:nvPr/>
        </p:nvSpPr>
        <p:spPr>
          <a:xfrm>
            <a:off x="7500366" y="462686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The NULL bug lived in more slots than the first fix reached.</a:t>
            </a:r>
            <a:endParaRPr lang="en-US" sz="850" dirty="0"/>
          </a:p>
        </p:txBody>
      </p:sp>
      <p:sp>
        <p:nvSpPr>
          <p:cNvPr id="70" name="Shape 68"/>
          <p:cNvSpPr/>
          <p:nvPr/>
        </p:nvSpPr>
        <p:spPr>
          <a:xfrm>
            <a:off x="9738360" y="3639312"/>
            <a:ext cx="2212848" cy="54864"/>
          </a:xfrm>
          <a:prstGeom prst="rect">
            <a:avLst/>
          </a:prstGeom>
          <a:solidFill>
            <a:srgbClr val="F96806"/>
          </a:solidFill>
          <a:ln/>
        </p:spPr>
      </p:sp>
      <p:sp>
        <p:nvSpPr>
          <p:cNvPr id="71" name="Shape 69"/>
          <p:cNvSpPr/>
          <p:nvPr/>
        </p:nvSpPr>
        <p:spPr>
          <a:xfrm>
            <a:off x="9738360" y="3694176"/>
            <a:ext cx="2212848" cy="1481328"/>
          </a:xfrm>
          <a:prstGeom prst="rect">
            <a:avLst/>
          </a:prstGeom>
          <a:solidFill>
            <a:srgbClr val="F2F5FC"/>
          </a:solidFill>
          <a:ln/>
        </p:spPr>
      </p:sp>
      <p:sp>
        <p:nvSpPr>
          <p:cNvPr id="72" name="Text 70"/>
          <p:cNvSpPr/>
          <p:nvPr/>
        </p:nvSpPr>
        <p:spPr>
          <a:xfrm>
            <a:off x="9875520" y="3776472"/>
            <a:ext cx="457200" cy="237744"/>
          </a:xfrm>
          <a:prstGeom prst="rect">
            <a:avLst/>
          </a:prstGeom>
          <a:noFill/>
          <a:ln/>
        </p:spPr>
        <p:txBody>
          <a:bodyPr wrap="square" rtlCol="0" anchor="ctr"/>
          <a:lstStyle/>
          <a:p>
            <a:pPr indent="0" marL="0">
              <a:buNone/>
            </a:pPr>
            <a:r>
              <a:rPr lang="en-US" sz="1300" b="1" dirty="0">
                <a:solidFill>
                  <a:srgbClr val="F96806"/>
                </a:solidFill>
                <a:latin typeface="Calibri" pitchFamily="34" charset="0"/>
                <a:ea typeface="Calibri" pitchFamily="34" charset="-122"/>
                <a:cs typeface="Calibri" pitchFamily="34" charset="-120"/>
              </a:rPr>
              <a:t>20</a:t>
            </a:r>
            <a:endParaRPr lang="en-US" sz="1300" dirty="0"/>
          </a:p>
        </p:txBody>
      </p:sp>
      <p:sp>
        <p:nvSpPr>
          <p:cNvPr id="73" name="Shape 71"/>
          <p:cNvSpPr/>
          <p:nvPr/>
        </p:nvSpPr>
        <p:spPr>
          <a:xfrm>
            <a:off x="10991088" y="3803904"/>
            <a:ext cx="841248" cy="201168"/>
          </a:xfrm>
          <a:prstGeom prst="rect">
            <a:avLst/>
          </a:prstGeom>
          <a:solidFill>
            <a:srgbClr val="FDE3D2"/>
          </a:solidFill>
          <a:ln/>
        </p:spPr>
      </p:sp>
      <p:sp>
        <p:nvSpPr>
          <p:cNvPr id="74" name="Text 72"/>
          <p:cNvSpPr/>
          <p:nvPr/>
        </p:nvSpPr>
        <p:spPr>
          <a:xfrm>
            <a:off x="10991088" y="3822192"/>
            <a:ext cx="841248" cy="164592"/>
          </a:xfrm>
          <a:prstGeom prst="rect">
            <a:avLst/>
          </a:prstGeom>
          <a:noFill/>
          <a:ln/>
        </p:spPr>
        <p:txBody>
          <a:bodyPr wrap="square" rtlCol="0" anchor="ctr"/>
          <a:lstStyle/>
          <a:p>
            <a:pPr algn="ctr" indent="0" marL="0">
              <a:buNone/>
            </a:pPr>
            <a:r>
              <a:rPr lang="en-US" sz="650" b="1" dirty="0">
                <a:solidFill>
                  <a:srgbClr val="A8430A"/>
                </a:solidFill>
                <a:latin typeface="Calibri" pitchFamily="34" charset="0"/>
                <a:ea typeface="Calibri" pitchFamily="34" charset="-122"/>
                <a:cs typeface="Calibri" pitchFamily="34" charset="-120"/>
              </a:rPr>
              <a:t>TEAM FOUND</a:t>
            </a:r>
            <a:endParaRPr lang="en-US" sz="650" dirty="0"/>
          </a:p>
        </p:txBody>
      </p:sp>
      <p:sp>
        <p:nvSpPr>
          <p:cNvPr id="75" name="Text 73"/>
          <p:cNvSpPr/>
          <p:nvPr/>
        </p:nvSpPr>
        <p:spPr>
          <a:xfrm>
            <a:off x="9875520" y="4096512"/>
            <a:ext cx="1938528" cy="512064"/>
          </a:xfrm>
          <a:prstGeom prst="rect">
            <a:avLst/>
          </a:prstGeom>
          <a:noFill/>
          <a:ln/>
        </p:spPr>
        <p:txBody>
          <a:bodyPr wrap="square" rtlCol="0" anchor="t"/>
          <a:lstStyle/>
          <a:p>
            <a:pPr indent="0" marL="0">
              <a:lnSpc>
                <a:spcPts val="1250"/>
              </a:lnSpc>
              <a:buNone/>
            </a:pPr>
            <a:r>
              <a:rPr lang="en-US" sz="1050" b="1" dirty="0">
                <a:solidFill>
                  <a:srgbClr val="1A288E"/>
                </a:solidFill>
                <a:latin typeface="Calibri" pitchFamily="34" charset="0"/>
                <a:ea typeface="Calibri" pitchFamily="34" charset="-122"/>
                <a:cs typeface="Calibri" pitchFamily="34" charset="-120"/>
              </a:rPr>
              <a:t>Write it down as you go</a:t>
            </a:r>
            <a:endParaRPr lang="en-US" sz="1050" dirty="0"/>
          </a:p>
        </p:txBody>
      </p:sp>
      <p:sp>
        <p:nvSpPr>
          <p:cNvPr id="76" name="Text 74"/>
          <p:cNvSpPr/>
          <p:nvPr/>
        </p:nvSpPr>
        <p:spPr>
          <a:xfrm>
            <a:off x="9875520" y="4626864"/>
            <a:ext cx="1938528" cy="502920"/>
          </a:xfrm>
          <a:prstGeom prst="rect">
            <a:avLst/>
          </a:prstGeom>
          <a:noFill/>
          <a:ln/>
        </p:spPr>
        <p:txBody>
          <a:bodyPr wrap="square" rtlCol="0" anchor="t"/>
          <a:lstStyle/>
          <a:p>
            <a:pPr indent="0" marL="0">
              <a:lnSpc>
                <a:spcPts val="1050"/>
              </a:lnSpc>
              <a:buNone/>
            </a:pPr>
            <a:r>
              <a:rPr lang="en-US" sz="850" dirty="0">
                <a:solidFill>
                  <a:srgbClr val="5B6577"/>
                </a:solidFill>
                <a:latin typeface="Calibri" pitchFamily="34" charset="0"/>
                <a:ea typeface="Calibri" pitchFamily="34" charset="-122"/>
                <a:cs typeface="Calibri" pitchFamily="34" charset="-120"/>
              </a:rPr>
              <a:t>Registers turned decisions into evidence.</a:t>
            </a:r>
            <a:endParaRPr lang="en-US" sz="850" dirty="0"/>
          </a:p>
        </p:txBody>
      </p:sp>
      <p:sp>
        <p:nvSpPr>
          <p:cNvPr id="77" name="Shape 75"/>
          <p:cNvSpPr/>
          <p:nvPr/>
        </p:nvSpPr>
        <p:spPr>
          <a:xfrm>
            <a:off x="237744" y="5422392"/>
            <a:ext cx="11713464" cy="758952"/>
          </a:xfrm>
          <a:prstGeom prst="rect">
            <a:avLst/>
          </a:prstGeom>
          <a:solidFill>
            <a:srgbClr val="1A288E"/>
          </a:solidFill>
          <a:ln/>
        </p:spPr>
      </p:sp>
      <p:sp>
        <p:nvSpPr>
          <p:cNvPr id="78" name="Text 76"/>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THE THREAD THROUGH 11–20</a:t>
            </a:r>
            <a:endParaRPr lang="en-US" sz="900" dirty="0"/>
          </a:p>
        </p:txBody>
      </p:sp>
      <p:sp>
        <p:nvSpPr>
          <p:cNvPr id="79" name="Text 77"/>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Protect production, keep the client's code theirs, and let the business own meaning — then write every decision down</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01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8FD9A8"/>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8FD9A8"/>
                </a:solidFill>
                <a:latin typeface="Calibri" pitchFamily="34" charset="0"/>
                <a:ea typeface="Calibri" pitchFamily="34" charset="-122"/>
                <a:cs typeface="Calibri" pitchFamily="34" charset="-120"/>
              </a:rPr>
              <a:t>AI + TEAM</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01</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Give It Evidence,</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Not Adjectives</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variable looks wrong" produces a guess. The log line, the row counts and the column profile produce a diagnosis.</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Every hour spent gathering evidence before asking saved several spent chasing a plausible answer that happened to be wrong.</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WHAT THIS LOOKED LIKE IN PRACTICE</a:t>
            </a:r>
            <a:endParaRPr lang="en-US" sz="1000" dirty="0"/>
          </a:p>
        </p:txBody>
      </p:sp>
      <p:sp>
        <p:nvSpPr>
          <p:cNvPr id="12" name="Shape 10"/>
          <p:cNvSpPr/>
          <p:nvPr/>
        </p:nvSpPr>
        <p:spPr>
          <a:xfrm>
            <a:off x="4224528" y="1024128"/>
            <a:ext cx="50292" cy="859536"/>
          </a:xfrm>
          <a:prstGeom prst="rect">
            <a:avLst/>
          </a:prstGeom>
          <a:solidFill>
            <a:srgbClr val="64748B"/>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Adjective</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"Magazine revenue is coming out too low."  →  A list of things it could conceivably be, none of them verified.</a:t>
            </a:r>
            <a:endParaRPr lang="en-US" sz="950" dirty="0"/>
          </a:p>
        </p:txBody>
      </p:sp>
      <p:sp>
        <p:nvSpPr>
          <p:cNvPr id="16" name="Shape 14"/>
          <p:cNvSpPr/>
          <p:nvPr/>
        </p:nvSpPr>
        <p:spPr>
          <a:xfrm>
            <a:off x="4224528" y="1975104"/>
            <a:ext cx="50292" cy="859536"/>
          </a:xfrm>
          <a:prstGeom prst="rect">
            <a:avLst/>
          </a:prstGeom>
          <a:solidFill>
            <a:srgbClr val="F96806"/>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Evidence</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The emitted predicate, the distribution of the order-type code, and the revenue sum computed both ways against source.</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Result</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The NULL-dropping defect was identified and sized in one pass — roughly a third of sampled magazine revenue.</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THE ASYMMETRY WORTH REMEMBERING</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A vague prompt returns a fluent answer that is expensive to disprove. A prompt carrying counts, log lines and column profiles returns something you can act on — or reject — immediately.</a:t>
            </a:r>
            <a:endParaRPr lang="en-US" sz="1050" dirty="0"/>
          </a:p>
          <a:p>
            <a:pPr indent="0" marL="0">
              <a:lnSpc>
                <a:spcPts val="1400"/>
              </a:lnSpc>
              <a:buNone/>
            </a:pPr>
            <a:endParaRPr lang="en-US" sz="1050" dirty="0"/>
          </a:p>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The evidence gathered to brief the model is also the evidence the client sees in the update.</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Bring the artefact, not the impression</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02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FFB27A"/>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FFB27A"/>
                </a:solidFill>
                <a:latin typeface="Calibri" pitchFamily="34" charset="0"/>
                <a:ea typeface="Calibri" pitchFamily="34" charset="-122"/>
                <a:cs typeface="Calibri" pitchFamily="34" charset="-120"/>
              </a:rPr>
              <a:t>TEAM FOUND</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02</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Push Back on</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the First Answer</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first explanation is usually coherent, confident and occasionally wrong. Here it was wrong twice — and both times the fix it implied would have been substantial.</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habit that caught it: ask what evidence would disprove this, then go and look.</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TWO TIMES THE FIRST ANSWER DID NOT SURVIVE CONTACT</a:t>
            </a:r>
            <a:endParaRPr lang="en-US" sz="1000" dirty="0"/>
          </a:p>
        </p:txBody>
      </p:sp>
      <p:sp>
        <p:nvSpPr>
          <p:cNvPr id="12" name="Shape 10"/>
          <p:cNvSpPr/>
          <p:nvPr/>
        </p:nvSpPr>
        <p:spPr>
          <a:xfrm>
            <a:off x="4224528" y="1024128"/>
            <a:ext cx="50292" cy="859536"/>
          </a:xfrm>
          <a:prstGeom prst="rect">
            <a:avLst/>
          </a:prstGeom>
          <a:solidFill>
            <a:srgbClr val="64748B"/>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First answer</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A product code spans titles with different content classes, so the affinity join resolves ambiguously — build a title-level lookup.</a:t>
            </a:r>
            <a:endParaRPr lang="en-US" sz="950" dirty="0"/>
          </a:p>
        </p:txBody>
      </p:sp>
      <p:sp>
        <p:nvSpPr>
          <p:cNvPr id="16" name="Shape 14"/>
          <p:cNvSpPr/>
          <p:nvPr/>
        </p:nvSpPr>
        <p:spPr>
          <a:xfrm>
            <a:off x="4224528" y="1975104"/>
            <a:ext cx="50292" cy="859536"/>
          </a:xfrm>
          <a:prstGeom prst="rect">
            <a:avLst/>
          </a:prstGeom>
          <a:solidFill>
            <a:srgbClr val="F96806"/>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What profiling found</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The mapped column held no values at all. The join could not match anything, ambiguously or otherwise.</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Second answer</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Switch the title join to a different key. Testing showed zero matches against tens of millions for the existing key — it would have broken 25 working variables.</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WHAT THE PUSHBACK WAS WORTH</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A lookup table, a parse rule and a key change were replaced by one-line corrections — and a change that would have caused a regression was stopped before it shipped.</a:t>
            </a:r>
            <a:endParaRPr lang="en-US" sz="1050" dirty="0"/>
          </a:p>
          <a:p>
            <a:pPr indent="0" marL="0">
              <a:lnSpc>
                <a:spcPts val="1400"/>
              </a:lnSpc>
              <a:buNone/>
            </a:pPr>
            <a:endParaRPr lang="en-US" sz="1050" dirty="0"/>
          </a:p>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The cost of asking was one read-only query; the cost of not asking would have been weeks.</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Confidence is not evidence — verify, then commit</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03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7FA8FF"/>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7FA8FF"/>
                </a:solidFill>
                <a:latin typeface="Calibri" pitchFamily="34" charset="0"/>
                <a:ea typeface="Calibri" pitchFamily="34" charset="-122"/>
                <a:cs typeface="Calibri" pitchFamily="34" charset="-120"/>
              </a:rPr>
              <a:t>AI FOUND</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03</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Diagnose at Source,</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Not in the Output</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A blank column tells you something failed. It tells you nothing about why.</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answer was rarely in the code — it was in the CDP column the code pointed at, and it usually took one read-only query to find.</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THE THREE QUESTIONS ASKED OF EVERY SUSPECT COLUMN</a:t>
            </a:r>
            <a:endParaRPr lang="en-US" sz="1000" dirty="0"/>
          </a:p>
        </p:txBody>
      </p:sp>
      <p:sp>
        <p:nvSpPr>
          <p:cNvPr id="12" name="Shape 10"/>
          <p:cNvSpPr/>
          <p:nvPr/>
        </p:nvSpPr>
        <p:spPr>
          <a:xfrm>
            <a:off x="4224528" y="1024128"/>
            <a:ext cx="50292" cy="859536"/>
          </a:xfrm>
          <a:prstGeom prst="rect">
            <a:avLst/>
          </a:prstGeom>
          <a:solidFill>
            <a:srgbClr val="F96806"/>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Is the column populated?</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The mapped product-code column was NULL on every row. Every join against it compared NULL to everything.</a:t>
            </a:r>
            <a:endParaRPr lang="en-US" sz="950" dirty="0"/>
          </a:p>
        </p:txBody>
      </p:sp>
      <p:sp>
        <p:nvSpPr>
          <p:cNvPr id="16" name="Shape 14"/>
          <p:cNvSpPr/>
          <p:nvPr/>
        </p:nvSpPr>
        <p:spPr>
          <a:xfrm>
            <a:off x="4224528" y="1975104"/>
            <a:ext cx="50292" cy="859536"/>
          </a:xfrm>
          <a:prstGeom prst="rect">
            <a:avLst/>
          </a:prstGeom>
          <a:solidFill>
            <a:srgbClr val="1861F5"/>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Do the join keys share a domain?</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Two customer keys looked interchangeable and were not — every single value differed.</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Do the filter values exist?</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The channel code was blank on almost every non-web order, so a filter written as 'not web' could never match them.</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WHAT THIS CHANGED</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Three speculative rebuilds were replaced by targeted corrections, because profiling showed each fault sat upstream of the logic entirely.</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The output shows the symptom; only the source shows the cause</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04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7FA8FF"/>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7FA8FF"/>
                </a:solidFill>
                <a:latin typeface="Calibri" pitchFamily="34" charset="0"/>
                <a:ea typeface="Calibri" pitchFamily="34" charset="-122"/>
                <a:cs typeface="Calibri" pitchFamily="34" charset="-120"/>
              </a:rPr>
              <a:t>AI FOUND</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04</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Fix the Generator,</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Not the Symptom</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In a macro-driven engine the code you read is not the code that runs. SQL is written at execution time by shared builders.</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Patching a variable treats one instance of a pattern. Correcting the builder treats every instance at once.</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ONE PREDICATE, 118 VARIABLES</a:t>
            </a:r>
            <a:endParaRPr lang="en-US" sz="1000" dirty="0"/>
          </a:p>
        </p:txBody>
      </p:sp>
      <p:sp>
        <p:nvSpPr>
          <p:cNvPr id="12" name="Shape 10"/>
          <p:cNvSpPr/>
          <p:nvPr/>
        </p:nvSpPr>
        <p:spPr>
          <a:xfrm>
            <a:off x="4224528" y="1024128"/>
            <a:ext cx="50292" cy="859536"/>
          </a:xfrm>
          <a:prstGeom prst="rect">
            <a:avLst/>
          </a:prstGeom>
          <a:solidFill>
            <a:srgbClr val="64748B"/>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The defect</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A bare inequality in the shared exclusion branch dropped every NULL row under ANSI three-valued logic.</a:t>
            </a:r>
            <a:endParaRPr lang="en-US" sz="950" dirty="0"/>
          </a:p>
        </p:txBody>
      </p:sp>
      <p:sp>
        <p:nvSpPr>
          <p:cNvPr id="16" name="Shape 14"/>
          <p:cNvSpPr/>
          <p:nvPr/>
        </p:nvSpPr>
        <p:spPr>
          <a:xfrm>
            <a:off x="4224528" y="1975104"/>
            <a:ext cx="50292" cy="859536"/>
          </a:xfrm>
          <a:prstGeom prst="rect">
            <a:avLst/>
          </a:prstGeom>
          <a:solidFill>
            <a:srgbClr val="F96806"/>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The reach</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That one branch sits inside three query builders and serves 118 requested variables.</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The correction</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Six lines changed — two per builder. The ~5K-error cascade cleared, 13 variables recovered and values corrected across the rest.</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THE INVERSE ALSO HOLDS</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A defect introduced at generator level multiplies just as efficiently. An interim fix worked on text columns and failed on numeric ones, taking out 13 variables until it was replaced with a type-agnostic test.</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Leverage cuts both ways — find the level the defect lives at</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05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8FD9A8"/>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8FD9A8"/>
                </a:solidFill>
                <a:latin typeface="Calibri" pitchFamily="34" charset="0"/>
                <a:ea typeface="Calibri" pitchFamily="34" charset="-122"/>
                <a:cs typeface="Calibri" pitchFamily="34" charset="-120"/>
              </a:rPr>
              <a:t>AI + TEAM</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05</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A Clean Log Is Not</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a Correct Output</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Zero errors means the code executed. It says nothing about whether the numbers are right.</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most expensive defect on this project produced no error at all — it quietly dropped rows and understated revenue by about a third.</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WHAT A ZERO-ERROR RUN STILL CONTAINED</a:t>
            </a:r>
            <a:endParaRPr lang="en-US" sz="1000" dirty="0"/>
          </a:p>
        </p:txBody>
      </p:sp>
      <p:sp>
        <p:nvSpPr>
          <p:cNvPr id="12" name="Shape 10"/>
          <p:cNvSpPr/>
          <p:nvPr/>
        </p:nvSpPr>
        <p:spPr>
          <a:xfrm>
            <a:off x="4224528" y="1024128"/>
            <a:ext cx="50292" cy="859536"/>
          </a:xfrm>
          <a:prstGeom prst="rect">
            <a:avLst/>
          </a:prstGeom>
          <a:solidFill>
            <a:srgbClr val="F96806"/>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31 variables at zero</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Silently empty for every customer in the test audience. The log recorded no failure of any kind.</a:t>
            </a:r>
            <a:endParaRPr lang="en-US" sz="950" dirty="0"/>
          </a:p>
        </p:txBody>
      </p:sp>
      <p:sp>
        <p:nvSpPr>
          <p:cNvPr id="16" name="Shape 14"/>
          <p:cNvSpPr/>
          <p:nvPr/>
        </p:nvSpPr>
        <p:spPr>
          <a:xfrm>
            <a:off x="4224528" y="1975104"/>
            <a:ext cx="50292" cy="859536"/>
          </a:xfrm>
          <a:prstGeom prst="rect">
            <a:avLst/>
          </a:prstGeom>
          <a:solidFill>
            <a:srgbClr val="F96806"/>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Revenue understated</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NULL rows dropped by an inequality filter. No warning, no message — just a smaller number than legacy.</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4 variables entirely blank</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Present in the structure, never populated. Only a column-level census surfaced them.</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WHAT REPLACED THE LOG AS THE GATE</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A variable-level population census — every column classified as populating, all-zero or all-blank — became the acceptance artefact. The zero list is the defect queue; the log only confirms the run finished.</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Absence of failure is not evidence of correctness</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06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8FD9A8"/>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8FD9A8"/>
                </a:solidFill>
                <a:latin typeface="Calibri" pitchFamily="34" charset="0"/>
                <a:ea typeface="Calibri" pitchFamily="34" charset="-122"/>
                <a:cs typeface="Calibri" pitchFamily="34" charset="-120"/>
              </a:rPr>
              <a:t>AI + TEAM</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06</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Separate 'Missing'</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From 'Wrong'</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Three families were reported the same way: "it isn't right". They had nothing in common.</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Conflating the categories sends you looking for the wrong evidence — and the wrong test returns a confident, useless answer.</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THREE FAULTS THAT LOOK ALIKE AND ARE NOT</a:t>
            </a:r>
            <a:endParaRPr lang="en-US" sz="1000" dirty="0"/>
          </a:p>
        </p:txBody>
      </p:sp>
      <p:sp>
        <p:nvSpPr>
          <p:cNvPr id="12" name="Shape 10"/>
          <p:cNvSpPr/>
          <p:nvPr/>
        </p:nvSpPr>
        <p:spPr>
          <a:xfrm>
            <a:off x="4224528" y="1024128"/>
            <a:ext cx="50292" cy="859536"/>
          </a:xfrm>
          <a:prstGeom prst="rect">
            <a:avLst/>
          </a:prstGeom>
          <a:solidFill>
            <a:srgbClr val="64748B"/>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Absent</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The variable never built: the query failed, the staging table was never created, the column was dropped. Look in the log.</a:t>
            </a:r>
            <a:endParaRPr lang="en-US" sz="950" dirty="0"/>
          </a:p>
        </p:txBody>
      </p:sp>
      <p:sp>
        <p:nvSpPr>
          <p:cNvPr id="16" name="Shape 14"/>
          <p:cNvSpPr/>
          <p:nvPr/>
        </p:nvSpPr>
        <p:spPr>
          <a:xfrm>
            <a:off x="4224528" y="1975104"/>
            <a:ext cx="50292" cy="859536"/>
          </a:xfrm>
          <a:prstGeom prst="rect">
            <a:avLst/>
          </a:prstGeom>
          <a:solidFill>
            <a:srgbClr val="F96806"/>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Zero-filled</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The variable built but matched nothing. The join or filter is at fault. Profile the source column.</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Understated</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The variable built and matched, but rows were silently excluded. Only a value comparison reveals it.</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WHY THE DISTINCTION PAID</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The interest variables were absent, the affinity variables were zero-filled, and the revenue variables were understated. Three categories, three tests, three unrelated root causes — and one shared reporting phrase.</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Classify the symptom before you choose the test</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07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FFB27A"/>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FFB27A"/>
                </a:solidFill>
                <a:latin typeface="Calibri" pitchFamily="34" charset="0"/>
                <a:ea typeface="Calibri" pitchFamily="34" charset="-122"/>
                <a:cs typeface="Calibri" pitchFamily="34" charset="-120"/>
              </a:rPr>
              <a:t>TEAM FOUND</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07</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Invest Early in</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a Feedback Loop</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A full run took about an hour. That made verification, not repair, the constraint on the whole engagement.</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A small audience that reproduces the full failure profile pays for itself within a day — and it should be built in week one.</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WHAT THE HARNESS HAD TO GET RIGHT</a:t>
            </a:r>
            <a:endParaRPr lang="en-US" sz="1000" dirty="0"/>
          </a:p>
        </p:txBody>
      </p:sp>
      <p:sp>
        <p:nvSpPr>
          <p:cNvPr id="12" name="Shape 10"/>
          <p:cNvSpPr/>
          <p:nvPr/>
        </p:nvSpPr>
        <p:spPr>
          <a:xfrm>
            <a:off x="4224528" y="1024128"/>
            <a:ext cx="50292" cy="859536"/>
          </a:xfrm>
          <a:prstGeom prst="rect">
            <a:avLst/>
          </a:prstGeom>
          <a:solidFill>
            <a:srgbClr val="F96806"/>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Reproduce the failures</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Same ~5K errors, same type-failure cascade, same 13 missing variables as the full production run.</a:t>
            </a:r>
            <a:endParaRPr lang="en-US" sz="950" dirty="0"/>
          </a:p>
        </p:txBody>
      </p:sp>
      <p:sp>
        <p:nvSpPr>
          <p:cNvPr id="16" name="Shape 14"/>
          <p:cNvSpPr/>
          <p:nvPr/>
        </p:nvSpPr>
        <p:spPr>
          <a:xfrm>
            <a:off x="4224528" y="1975104"/>
            <a:ext cx="50292" cy="859536"/>
          </a:xfrm>
          <a:prstGeom prst="rect">
            <a:avLst/>
          </a:prstGeom>
          <a:solidFill>
            <a:srgbClr val="1861F5"/>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Select on the right measure</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Customers ranked by variables actually carrying data — the engine zero-fills unmatched numerics, so non-missing is not populated.</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Stay isolated</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Registered under its own keycode and output name so production was never touched while debugging.</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AND KNOW WHAT IT CANNOT TELL YOU</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A harness of the richest records proves code paths and misstates fill rates. Three of the final six variables looked empty on the harness and populated on the full audience — final population is always measured on the real population.</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Optimise the loop you run most, not the one you run once</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08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8FD9A8"/>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8FD9A8"/>
                </a:solidFill>
                <a:latin typeface="Calibri" pitchFamily="34" charset="0"/>
                <a:ea typeface="Calibri" pitchFamily="34" charset="-122"/>
                <a:cs typeface="Calibri" pitchFamily="34" charset="-120"/>
              </a:rPr>
              <a:t>AI + TEAM</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08</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Know When It Is</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Data — Then Close It</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Some gaps cannot be fixed in code alone, because the data arrived differently or not at all.</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Recognising that early turns an open defect into an evidenced ask — and a well-framed ask gets answered.</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HOW DATA GAPS WERE CLOSED, NOT WAIVED</a:t>
            </a:r>
            <a:endParaRPr lang="en-US" sz="1000" dirty="0"/>
          </a:p>
        </p:txBody>
      </p:sp>
      <p:sp>
        <p:nvSpPr>
          <p:cNvPr id="12" name="Shape 10"/>
          <p:cNvSpPr/>
          <p:nvPr/>
        </p:nvSpPr>
        <p:spPr>
          <a:xfrm>
            <a:off x="4224528" y="1024128"/>
            <a:ext cx="50292" cy="859536"/>
          </a:xfrm>
          <a:prstGeom prst="rect">
            <a:avLst/>
          </a:prstGeom>
          <a:solidFill>
            <a:srgbClr val="F96806"/>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Profile and evidence</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Blank channel codes on &gt;99.9% of non-web orders; retired product identifiers absent from the cross-reference.</a:t>
            </a:r>
            <a:endParaRPr lang="en-US" sz="950" dirty="0"/>
          </a:p>
        </p:txBody>
      </p:sp>
      <p:sp>
        <p:nvSpPr>
          <p:cNvPr id="16" name="Shape 14"/>
          <p:cNvSpPr/>
          <p:nvPr/>
        </p:nvSpPr>
        <p:spPr>
          <a:xfrm>
            <a:off x="4224528" y="1975104"/>
            <a:ext cx="50292" cy="859536"/>
          </a:xfrm>
          <a:prstGeom prst="rect">
            <a:avLst/>
          </a:prstGeom>
          <a:solidFill>
            <a:srgbClr val="1861F5"/>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Confirm against legacy</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The client verified the same variables populate on the legacy platform — the data exists, it just arrived differently.</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Ask with a proposal</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Each gap went to the business with a proposed rule or mapping. Both were confirmed, implemented in the bridge, and closed.</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THE OTHER HALF OF THIS LESSON</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Rule out the run before blaming the data. Five apparent gaps closed simply by using a recent build date, and three more were only empty on the test sample. Escalate what remains — never what you have not yet checked.</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Not every gap is a bug — prove which kind, then close it</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09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7FA8FF"/>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7FA8FF"/>
                </a:solidFill>
                <a:latin typeface="Calibri" pitchFamily="34" charset="0"/>
                <a:ea typeface="Calibri" pitchFamily="34" charset="-122"/>
                <a:cs typeface="Calibri" pitchFamily="34" charset="-120"/>
              </a:rPr>
              <a:t>AI FOUND</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09</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Read the Log the</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Run Actually Wrote</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engine redirects its log part-way through a run. The log on screen ended with a generic 'file does not exist' error.</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real cause — an integrity-check failure — sat in a different file that most people never opened.</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34</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WHAT THE TWO LOGS SAID</a:t>
            </a:r>
            <a:endParaRPr lang="en-US" sz="1000" dirty="0"/>
          </a:p>
        </p:txBody>
      </p:sp>
      <p:sp>
        <p:nvSpPr>
          <p:cNvPr id="12" name="Shape 10"/>
          <p:cNvSpPr/>
          <p:nvPr/>
        </p:nvSpPr>
        <p:spPr>
          <a:xfrm>
            <a:off x="4224528" y="1024128"/>
            <a:ext cx="50292" cy="859536"/>
          </a:xfrm>
          <a:prstGeom prst="rect">
            <a:avLst/>
          </a:prstGeom>
          <a:solidFill>
            <a:srgbClr val="64748B"/>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Visible log</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Two errors: the output dataset did not exist. Accurate, and useless — it described the consequence, not the cause.</a:t>
            </a:r>
            <a:endParaRPr lang="en-US" sz="950" dirty="0"/>
          </a:p>
        </p:txBody>
      </p:sp>
      <p:sp>
        <p:nvSpPr>
          <p:cNvPr id="16" name="Shape 14"/>
          <p:cNvSpPr/>
          <p:nvPr/>
        </p:nvSpPr>
        <p:spPr>
          <a:xfrm>
            <a:off x="4224528" y="1975104"/>
            <a:ext cx="50292" cy="859536"/>
          </a:xfrm>
          <a:prstGeom prst="rect">
            <a:avLst/>
          </a:prstGeom>
          <a:solidFill>
            <a:srgbClr val="F96806"/>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Redirected log</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An integrity check had failed on an unseen product code, so the run stopped before building a single variable.</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Side effect</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The previous good output had been renamed to a backup — another failed run would have overwritten it.</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THE HABIT THAT FIXED IT</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Every diagnosis now starts by locating the run's own log and searching for the first error, not the last. The last error is almost always downstream noise; the first is almost always the cause.</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The first error is the cause; the last is the noise</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10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8FD9A8"/>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8FD9A8"/>
                </a:solidFill>
                <a:latin typeface="Calibri" pitchFamily="34" charset="0"/>
                <a:ea typeface="Calibri" pitchFamily="34" charset="-122"/>
                <a:cs typeface="Calibri" pitchFamily="34" charset="-120"/>
              </a:rPr>
              <a:t>AI + TEAM</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10</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Guard Shared State</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Before Every Run</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engine creates a permanent audience table in a shared schema and drops it only on clean completion.</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One aborted run left it behind — and the next run failed silently, producing a 'successful' empty output.</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HOW A LEFTOVER TABLE BECAME A SILENT FAILURE</a:t>
            </a:r>
            <a:endParaRPr lang="en-US" sz="1000" dirty="0"/>
          </a:p>
        </p:txBody>
      </p:sp>
      <p:sp>
        <p:nvSpPr>
          <p:cNvPr id="12" name="Shape 10"/>
          <p:cNvSpPr/>
          <p:nvPr/>
        </p:nvSpPr>
        <p:spPr>
          <a:xfrm>
            <a:off x="4224528" y="1024128"/>
            <a:ext cx="50292" cy="859536"/>
          </a:xfrm>
          <a:prstGeom prst="rect">
            <a:avLst/>
          </a:prstGeom>
          <a:solidFill>
            <a:srgbClr val="64748B"/>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Aborted run</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The run stopped mid-way; the clean-up step that drops the audience table never executed.</a:t>
            </a:r>
            <a:endParaRPr lang="en-US" sz="950" dirty="0"/>
          </a:p>
        </p:txBody>
      </p:sp>
      <p:sp>
        <p:nvSpPr>
          <p:cNvPr id="16" name="Shape 14"/>
          <p:cNvSpPr/>
          <p:nvPr/>
        </p:nvSpPr>
        <p:spPr>
          <a:xfrm>
            <a:off x="4224528" y="1975104"/>
            <a:ext cx="50292" cy="859536"/>
          </a:xfrm>
          <a:prstGeom prst="rect">
            <a:avLst/>
          </a:prstGeom>
          <a:solidFill>
            <a:srgbClr val="F96806"/>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Next run</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CREATE failed because the table already existed; the audience loaded as nothing; every variable joined to an empty set.</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Guard added</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An existence check drops any stale table before rebuild — on every run, automatically.</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THE GENERAL RULE</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Any object that outlives a run — permanent tables, renamed backups, cached lookups — is shared state. Assume a previous run failed halfway, and make every run safe to start from that condition.</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Assume the last run died halfway</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11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FFB27A"/>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FFB27A"/>
                </a:solidFill>
                <a:latin typeface="Calibri" pitchFamily="34" charset="0"/>
                <a:ea typeface="Calibri" pitchFamily="34" charset="-122"/>
                <a:cs typeface="Calibri" pitchFamily="34" charset="-120"/>
              </a:rPr>
              <a:t>TEAM FOUND</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11</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Edit the Real File,</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Then Prove It Compiled</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A one-macro patch was saved over the entire compatibility file. Every mapping macro vanished.</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run did not fail loudly — it produced thousands of 'macro not resolved' warnings and lost hundreds of variables.</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WHAT CHANGED IN HOW FIXES WERE SHIPPED</a:t>
            </a:r>
            <a:endParaRPr lang="en-US" sz="1000" dirty="0"/>
          </a:p>
        </p:txBody>
      </p:sp>
      <p:sp>
        <p:nvSpPr>
          <p:cNvPr id="12" name="Shape 10"/>
          <p:cNvSpPr/>
          <p:nvPr/>
        </p:nvSpPr>
        <p:spPr>
          <a:xfrm>
            <a:off x="4224528" y="1024128"/>
            <a:ext cx="50292" cy="859536"/>
          </a:xfrm>
          <a:prstGeom prst="rect">
            <a:avLst/>
          </a:prstGeom>
          <a:solidFill>
            <a:srgbClr val="F96806"/>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Edit, don't reconstruct</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Fixes applied byte-for-byte to the uploaded source — encoding and line endings preserved — never retyped from memory.</a:t>
            </a:r>
            <a:endParaRPr lang="en-US" sz="950" dirty="0"/>
          </a:p>
        </p:txBody>
      </p:sp>
      <p:sp>
        <p:nvSpPr>
          <p:cNvPr id="16" name="Shape 14"/>
          <p:cNvSpPr/>
          <p:nvPr/>
        </p:nvSpPr>
        <p:spPr>
          <a:xfrm>
            <a:off x="4224528" y="1975104"/>
            <a:ext cx="50292" cy="859536"/>
          </a:xfrm>
          <a:prstGeom prst="rect">
            <a:avLst/>
          </a:prstGeom>
          <a:solidFill>
            <a:srgbClr val="1861F5"/>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Diff every change</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Each delivered file diffed against the original, so only the intended lines could differ.</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Compile check</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After deploy, a fresh session confirms every macro the file should define actually exists — before the hour-long run.</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WHY A FRESH SESSION</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A session that already loaded the old file will still 'have' the macros and pass the check falsely. The check only counts if it runs where nothing was loaded before.</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Ship the file you diffed, then prove it loaded</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12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FFB27A"/>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FFB27A"/>
                </a:solidFill>
                <a:latin typeface="Calibri" pitchFamily="34" charset="0"/>
                <a:ea typeface="Calibri" pitchFamily="34" charset="-122"/>
                <a:cs typeface="Calibri" pitchFamily="34" charset="-120"/>
              </a:rPr>
              <a:t>TEAM FOUND</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12</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Keep the Client's</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Code Recognisably Theirs</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fastest route to working output was to edit 500+ recipe calls directly. It would also have left the client with code they no longer recognised.</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Two bridge files absorbed the platform instead.</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37</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WHAT THE BRIDGE PATTERN PROTECTED</a:t>
            </a:r>
            <a:endParaRPr lang="en-US" sz="1000" dirty="0"/>
          </a:p>
        </p:txBody>
      </p:sp>
      <p:sp>
        <p:nvSpPr>
          <p:cNvPr id="12" name="Shape 10"/>
          <p:cNvSpPr/>
          <p:nvPr/>
        </p:nvSpPr>
        <p:spPr>
          <a:xfrm>
            <a:off x="4224528" y="1024128"/>
            <a:ext cx="50292" cy="859536"/>
          </a:xfrm>
          <a:prstGeom prst="rect">
            <a:avLst/>
          </a:prstGeom>
          <a:solidFill>
            <a:srgbClr val="F96806"/>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Ownership</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The client's analysts can still read, maintain and extend the recipes they wrote — nothing in them refers to the CDP.</a:t>
            </a:r>
            <a:endParaRPr lang="en-US" sz="950" dirty="0"/>
          </a:p>
        </p:txBody>
      </p:sp>
      <p:sp>
        <p:nvSpPr>
          <p:cNvPr id="16" name="Shape 14"/>
          <p:cNvSpPr/>
          <p:nvPr/>
        </p:nvSpPr>
        <p:spPr>
          <a:xfrm>
            <a:off x="4224528" y="1975104"/>
            <a:ext cx="50292" cy="859536"/>
          </a:xfrm>
          <a:prstGeom prst="rect">
            <a:avLst/>
          </a:prstGeom>
          <a:solidFill>
            <a:srgbClr val="1861F5"/>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Reviewability</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Every platform accommodation lives in two files. A reviewer reads two files, not a diff spread across thousands of lines.</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Reversibility</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A wrong mapping is a one-line correction in one place, and it fixes every variable that depends on it.</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THE DISCIPLINE IT REQUIRED</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Override by redefinition, loaded after the original. The recipes were touched only where the business asked for a change of meaning — never to accommodate the platform.</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Translate at the boundary, not inside the logic</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13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7FA8FF"/>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7FA8FF"/>
                </a:solidFill>
                <a:latin typeface="Calibri" pitchFamily="34" charset="0"/>
                <a:ea typeface="Calibri" pitchFamily="34" charset="-122"/>
                <a:cs typeface="Calibri" pitchFamily="34" charset="-120"/>
              </a:rPr>
              <a:t>AI FOUND</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13</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Check Key Domains</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Before You Merge</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Two customer identifiers had similar names and similar-looking values. A new recipe grouped on one and labelled it as the other.</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merge matched nothing — and appended every row instead.</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38</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WHAT A KEY MISMATCH LOOKS LIKE</a:t>
            </a:r>
            <a:endParaRPr lang="en-US" sz="1000" dirty="0"/>
          </a:p>
        </p:txBody>
      </p:sp>
      <p:sp>
        <p:nvSpPr>
          <p:cNvPr id="12" name="Shape 10"/>
          <p:cNvSpPr/>
          <p:nvPr/>
        </p:nvSpPr>
        <p:spPr>
          <a:xfrm>
            <a:off x="4224528" y="1024128"/>
            <a:ext cx="50292" cy="859536"/>
          </a:xfrm>
          <a:prstGeom prst="rect">
            <a:avLst/>
          </a:prstGeom>
          <a:solidFill>
            <a:srgbClr val="64748B"/>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Symptom</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Output grew by ~50%: the new rows carried the new variable and nothing else.</a:t>
            </a:r>
            <a:endParaRPr lang="en-US" sz="950" dirty="0"/>
          </a:p>
        </p:txBody>
      </p:sp>
      <p:sp>
        <p:nvSpPr>
          <p:cNvPr id="16" name="Shape 14"/>
          <p:cNvSpPr/>
          <p:nvPr/>
        </p:nvSpPr>
        <p:spPr>
          <a:xfrm>
            <a:off x="4224528" y="1975104"/>
            <a:ext cx="50292" cy="859536"/>
          </a:xfrm>
          <a:prstGeom prst="rect">
            <a:avLst/>
          </a:prstGeom>
          <a:solidFill>
            <a:srgbClr val="F96806"/>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Diagnosis</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A side-by-side of both keys showed every single value differed — two separate domains, not two names for one.</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Fix</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Join on the platform key, but select and group on the customer key, so the output stays in the merge domain.</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THE GATE THAT CATCHES IT</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Output row count must equal the requested audience exactly — every run. A key-domain error almost always shows up as rows that should not exist, long before anyone looks at values.</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Same name is not same domain — test the overlap</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14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8FD9A8"/>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8FD9A8"/>
                </a:solidFill>
                <a:latin typeface="Calibri" pitchFamily="34" charset="0"/>
                <a:ea typeface="Calibri" pitchFamily="34" charset="-122"/>
                <a:cs typeface="Calibri" pitchFamily="34" charset="-120"/>
              </a:rPr>
              <a:t>AI + TEAM</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14</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Normalise Before</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You Compare</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Legacy and CDP outputs were built a year apart and store dates as days since build.</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Compared raw, almost every date variable looks wrong. Compared correctly, almost all of them match.</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39</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WHAT HAD TO BE NORMALISED</a:t>
            </a:r>
            <a:endParaRPr lang="en-US" sz="1000" dirty="0"/>
          </a:p>
        </p:txBody>
      </p:sp>
      <p:sp>
        <p:nvSpPr>
          <p:cNvPr id="12" name="Shape 10"/>
          <p:cNvSpPr/>
          <p:nvPr/>
        </p:nvSpPr>
        <p:spPr>
          <a:xfrm>
            <a:off x="4224528" y="1024128"/>
            <a:ext cx="50292" cy="859536"/>
          </a:xfrm>
          <a:prstGeom prst="rect">
            <a:avLst/>
          </a:prstGeom>
          <a:solidFill>
            <a:srgbClr val="F96806"/>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Build date</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Both sides converted to calendar dates from their own build date before any comparison.</a:t>
            </a:r>
            <a:endParaRPr lang="en-US" sz="950" dirty="0"/>
          </a:p>
        </p:txBody>
      </p:sp>
      <p:sp>
        <p:nvSpPr>
          <p:cNvPr id="16" name="Shape 14"/>
          <p:cNvSpPr/>
          <p:nvPr/>
        </p:nvSpPr>
        <p:spPr>
          <a:xfrm>
            <a:off x="4224528" y="1975104"/>
            <a:ext cx="50292" cy="859536"/>
          </a:xfrm>
          <a:prstGeom prst="rect">
            <a:avLst/>
          </a:prstGeom>
          <a:solidFill>
            <a:srgbClr val="1861F5"/>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Universe</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Matched only on customers present in both populations; non-overlapping customers excluded rather than reported as mismatches.</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Expected drift</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Extra months of activity and re-classified products banded as expected variance, not defects.</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WHY THIS IS A LESSON, NOT A FOOTNOTE</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An un-normalised comparison would have produced dozens of false defects — each one costing a diagnosis. Getting the comparison right first is what made the defect list trustworthy.</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Compare like with like, or every number lies</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15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7FA8FF"/>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7FA8FF"/>
                </a:solidFill>
                <a:latin typeface="Calibri" pitchFamily="34" charset="0"/>
                <a:ea typeface="Calibri" pitchFamily="34" charset="-122"/>
                <a:cs typeface="Calibri" pitchFamily="34" charset="-120"/>
              </a:rPr>
              <a:t>AI FOUND</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15</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Measure Where</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the Time Goes</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Shrinking the audience 570-fold barely changed the runtime. Intuition said otherwise.</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Timing every query in the log showed the cost was the number of queries, not the size of the data.</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40</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WHAT THE TIMING SHOWED</a:t>
            </a:r>
            <a:endParaRPr lang="en-US" sz="1000" dirty="0"/>
          </a:p>
        </p:txBody>
      </p:sp>
      <p:sp>
        <p:nvSpPr>
          <p:cNvPr id="12" name="Shape 10"/>
          <p:cNvSpPr/>
          <p:nvPr/>
        </p:nvSpPr>
        <p:spPr>
          <a:xfrm>
            <a:off x="4224528" y="1024128"/>
            <a:ext cx="50292" cy="859536"/>
          </a:xfrm>
          <a:prstGeom prst="rect">
            <a:avLst/>
          </a:prstGeom>
          <a:solidFill>
            <a:srgbClr val="64748B"/>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Fixed floor</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~5 seconds per query regardless of rows — scheduling and round-trip latency, not data volume.</a:t>
            </a:r>
            <a:endParaRPr lang="en-US" sz="950" dirty="0"/>
          </a:p>
        </p:txBody>
      </p:sp>
      <p:sp>
        <p:nvSpPr>
          <p:cNvPr id="16" name="Shape 14"/>
          <p:cNvSpPr/>
          <p:nvPr/>
        </p:nvSpPr>
        <p:spPr>
          <a:xfrm>
            <a:off x="4224528" y="1975104"/>
            <a:ext cx="50292" cy="859536"/>
          </a:xfrm>
          <a:prstGeom prst="rect">
            <a:avLst/>
          </a:prstGeom>
          <a:solidFill>
            <a:srgbClr val="F96806"/>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Driver</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~2,400 queries per full run. Runtime scales with variables requested, not customers.</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Right lever</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Subset the variable list when debugging; parallelise families and stage heavy views for production.</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WHAT IT SAVED</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Effort that would have gone into optimising audience size went into the levers that move the clock. Debug runs dropped from an hour to minutes once only the affected variables were requested.</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Measure before you optimise</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16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FFB27A"/>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FFB27A"/>
                </a:solidFill>
                <a:latin typeface="Calibri" pitchFamily="34" charset="0"/>
                <a:ea typeface="Calibri" pitchFamily="34" charset="-122"/>
                <a:cs typeface="Calibri" pitchFamily="34" charset="-120"/>
              </a:rPr>
              <a:t>TEAM FOUND</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16</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The Business Owns</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What a Number Means</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Some fixes were technically obvious and still not ours to ship alone — because they changed what a number meant to the people using it.</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Engineering proved the effect; the business decided.</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41</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FIXES THAT NEEDED A BUSINESS DECISION</a:t>
            </a:r>
            <a:endParaRPr lang="en-US" sz="1000" dirty="0"/>
          </a:p>
        </p:txBody>
      </p:sp>
      <p:sp>
        <p:nvSpPr>
          <p:cNvPr id="12" name="Shape 10"/>
          <p:cNvSpPr/>
          <p:nvPr/>
        </p:nvSpPr>
        <p:spPr>
          <a:xfrm>
            <a:off x="4224528" y="1024128"/>
            <a:ext cx="50292" cy="859536"/>
          </a:xfrm>
          <a:prstGeom prst="rect">
            <a:avLst/>
          </a:prstGeom>
          <a:solidFill>
            <a:srgbClr val="F96806"/>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Paid-only counts</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Correct per the variable's own definition — and it lowered a figure the client relied on by ~7%.</a:t>
            </a:r>
            <a:endParaRPr lang="en-US" sz="950" dirty="0"/>
          </a:p>
        </p:txBody>
      </p:sp>
      <p:sp>
        <p:nvSpPr>
          <p:cNvPr id="16" name="Shape 14"/>
          <p:cNvSpPr/>
          <p:nvPr/>
        </p:nvSpPr>
        <p:spPr>
          <a:xfrm>
            <a:off x="4224528" y="1975104"/>
            <a:ext cx="50292" cy="859536"/>
          </a:xfrm>
          <a:prstGeom prst="rect">
            <a:avLst/>
          </a:prstGeom>
          <a:solidFill>
            <a:srgbClr val="1861F5"/>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Blank = non-web</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A sound inference from the data, but an assumption about meaning until the client confirmed it.</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Two-field date</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Agreed jointly with the platform team and modelling lead before it reached any model.</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HOW IT WAS RUN</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Each decision went to the owner with the evidence, the before/after impact, and a recommendation — then into the decision register with the date and the approver.</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Prove the effect; let the owner decide the meaning</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17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8FD9A8"/>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8FD9A8"/>
                </a:solidFill>
                <a:latin typeface="Calibri" pitchFamily="34" charset="0"/>
                <a:ea typeface="Calibri" pitchFamily="34" charset="-122"/>
                <a:cs typeface="Calibri" pitchFamily="34" charset="-120"/>
              </a:rPr>
              <a:t>AI + TEAM</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17</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Expect Reference</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Data to Drift</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code assumed a fixed set of product codes. The live CDP kept moving: new codes appeared after go-live, and some legacy codes were retired.</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Both broke things — in opposite directions.</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42</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TWO KINDS OF DRIFT</a:t>
            </a:r>
            <a:endParaRPr lang="en-US" sz="1000" dirty="0"/>
          </a:p>
        </p:txBody>
      </p:sp>
      <p:sp>
        <p:nvSpPr>
          <p:cNvPr id="12" name="Shape 10"/>
          <p:cNvSpPr/>
          <p:nvPr/>
        </p:nvSpPr>
        <p:spPr>
          <a:xfrm>
            <a:off x="4224528" y="1024128"/>
            <a:ext cx="50292" cy="859536"/>
          </a:xfrm>
          <a:prstGeom prst="rect">
            <a:avLst/>
          </a:prstGeom>
          <a:solidFill>
            <a:srgbClr val="F96806"/>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New codes</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An unseen code tripped the integrity check and stopped the whole run. Parked in a neutral group until the client named its family.</a:t>
            </a:r>
            <a:endParaRPr lang="en-US" sz="950" dirty="0"/>
          </a:p>
        </p:txBody>
      </p:sp>
      <p:sp>
        <p:nvSpPr>
          <p:cNvPr id="16" name="Shape 14"/>
          <p:cNvSpPr/>
          <p:nvPr/>
        </p:nvSpPr>
        <p:spPr>
          <a:xfrm>
            <a:off x="4224528" y="1975104"/>
            <a:ext cx="50292" cy="859536"/>
          </a:xfrm>
          <a:prstGeom prst="rect">
            <a:avLst/>
          </a:prstGeom>
          <a:solidFill>
            <a:srgbClr val="1861F5"/>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Retired codes</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Hard-coded legacy identifiers no longer existed, so two variables silently matched nothing. Refreshed via a client-supplied lookup.</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Standing check</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Reference tables are now compared against the live CDP before each production run.</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THE GENERAL RULE</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Hard-coded lists are a time bomb on a live platform. Keep them in one lookup, check them against the source each run, and make unknowns fail loudly rather than quietly.</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Hard-coded lists drift — check them every run</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18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8FD9A8"/>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8FD9A8"/>
                </a:solidFill>
                <a:latin typeface="Calibri" pitchFamily="34" charset="0"/>
                <a:ea typeface="Calibri" pitchFamily="34" charset="-122"/>
                <a:cs typeface="Calibri" pitchFamily="34" charset="-120"/>
              </a:rPr>
              <a:t>AI + TEAM</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18</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Test the Fix,</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Not Just the Variable</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Two fixes on this project introduced defects of their own.</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One worked on text columns and failed on numeric ones. Another used an operator word inside macro logic, where the macro language read it as an operator.</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43</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WHEN THE FIX WAS THE BUG</a:t>
            </a:r>
            <a:endParaRPr lang="en-US" sz="1000" dirty="0"/>
          </a:p>
        </p:txBody>
      </p:sp>
      <p:sp>
        <p:nvSpPr>
          <p:cNvPr id="12" name="Shape 10"/>
          <p:cNvSpPr/>
          <p:nvPr/>
        </p:nvSpPr>
        <p:spPr>
          <a:xfrm>
            <a:off x="4224528" y="1024128"/>
            <a:ext cx="50292" cy="859536"/>
          </a:xfrm>
          <a:prstGeom prst="rect">
            <a:avLst/>
          </a:prstGeom>
          <a:solidFill>
            <a:srgbClr val="64748B"/>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Type-unsafe fix</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A text default in a NULL guard failed on numeric columns — 13 variables disappeared until a type-agnostic test replaced it.</a:t>
            </a:r>
            <a:endParaRPr lang="en-US" sz="950" dirty="0"/>
          </a:p>
        </p:txBody>
      </p:sp>
      <p:sp>
        <p:nvSpPr>
          <p:cNvPr id="16" name="Shape 14"/>
          <p:cNvSpPr/>
          <p:nvPr/>
        </p:nvSpPr>
        <p:spPr>
          <a:xfrm>
            <a:off x="4224528" y="1975104"/>
            <a:ext cx="50292" cy="859536"/>
          </a:xfrm>
          <a:prstGeom prst="rect">
            <a:avLst/>
          </a:prstGeom>
          <a:solidFill>
            <a:srgbClr val="F96806"/>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Macro parsing</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A bare operator word inside a macro condition was parsed as an operator, not text — caught before release by quoting it.</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Response</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Every generator change now runs on the harness against both column types before promotion.</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WHY GENERATOR FIXES NEED MORE TESTING</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A generator-level fix touches every variable that routes through it. Its blast radius is its whole reach — so it is tested across types and operators, not just on the variable that prompted it.</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 fix in a shared builder is a release, not a patch</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19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7FA8FF"/>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7FA8FF"/>
                </a:solidFill>
                <a:latin typeface="Calibri" pitchFamily="34" charset="0"/>
                <a:ea typeface="Calibri" pitchFamily="34" charset="-122"/>
                <a:cs typeface="Calibri" pitchFamily="34" charset="-120"/>
              </a:rPr>
              <a:t>AI FOUND</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19</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Sweep the Whole</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Defect Class</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first NULL-safe fix covered the exclusion slots and cleared the error cascade. It did not cover the sign slots, where the same bare not-equal lived.</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The last channel variable stayed at zero because of it.</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44</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FINDING EVERY PLACE THE DEFECT CAN LIVE</a:t>
            </a:r>
            <a:endParaRPr lang="en-US" sz="1000" dirty="0"/>
          </a:p>
        </p:txBody>
      </p:sp>
      <p:sp>
        <p:nvSpPr>
          <p:cNvPr id="12" name="Shape 10"/>
          <p:cNvSpPr/>
          <p:nvPr/>
        </p:nvSpPr>
        <p:spPr>
          <a:xfrm>
            <a:off x="4224528" y="1024128"/>
            <a:ext cx="50292" cy="859536"/>
          </a:xfrm>
          <a:prstGeom prst="rect">
            <a:avLst/>
          </a:prstGeom>
          <a:solidFill>
            <a:srgbClr val="64748B"/>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Name the class</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NULL compared with not-equal evaluates to UNKNOWN and drops the row — wherever it is emitted.</a:t>
            </a:r>
            <a:endParaRPr lang="en-US" sz="950" dirty="0"/>
          </a:p>
        </p:txBody>
      </p:sp>
      <p:sp>
        <p:nvSpPr>
          <p:cNvPr id="16" name="Shape 14"/>
          <p:cNvSpPr/>
          <p:nvPr/>
        </p:nvSpPr>
        <p:spPr>
          <a:xfrm>
            <a:off x="4224528" y="1975104"/>
            <a:ext cx="50292" cy="859536"/>
          </a:xfrm>
          <a:prstGeom prst="rect">
            <a:avLst/>
          </a:prstGeom>
          <a:solidFill>
            <a:srgbClr val="F96806"/>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Enumerate the sites</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Exclusion slots, sign slots, every builder, every not-equal spelling — and every recipe routed through them.</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Close it once</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One sweep across all sites, with a list of every variable whose values could move.</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WHAT A SWEEP PRODUCES</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Not just a fix, but an impact list: which variables changed status, which changed value only, and which could not move. That list is what the client reviews.</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Fix the class, then list everything it touched</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A288E"/>
          </a:solidFill>
          <a:ln/>
        </p:spPr>
      </p:sp>
      <p:sp>
        <p:nvSpPr>
          <p:cNvPr id="3" name="Shape 1"/>
          <p:cNvSpPr/>
          <p:nvPr/>
        </p:nvSpPr>
        <p:spPr>
          <a:xfrm>
            <a:off x="-1371600" y="4846320"/>
            <a:ext cx="3840480" cy="3840480"/>
          </a:xfrm>
          <a:prstGeom prst="ellipse">
            <a:avLst/>
          </a:prstGeom>
          <a:solidFill>
            <a:srgbClr val="22318F"/>
          </a:solidFill>
          <a:ln/>
        </p:spPr>
      </p:sp>
      <p:sp>
        <p:nvSpPr>
          <p:cNvPr id="4" name="Text 2"/>
          <p:cNvSpPr/>
          <p:nvPr/>
        </p:nvSpPr>
        <p:spPr>
          <a:xfrm>
            <a:off x="502920" y="658368"/>
            <a:ext cx="2011680" cy="237744"/>
          </a:xfrm>
          <a:prstGeom prst="rect">
            <a:avLst/>
          </a:prstGeom>
          <a:noFill/>
          <a:ln/>
        </p:spPr>
        <p:txBody>
          <a:bodyPr wrap="square" rtlCol="0" anchor="ctr"/>
          <a:lstStyle/>
          <a:p>
            <a:pPr indent="0" marL="0">
              <a:buNone/>
            </a:pPr>
            <a:r>
              <a:rPr lang="en-US" sz="1000" b="1" spc="130" kern="0" dirty="0">
                <a:solidFill>
                  <a:srgbClr val="F96806"/>
                </a:solidFill>
                <a:latin typeface="Calibri" pitchFamily="34" charset="0"/>
                <a:ea typeface="Calibri" pitchFamily="34" charset="-122"/>
                <a:cs typeface="Calibri" pitchFamily="34" charset="-120"/>
              </a:rPr>
              <a:t>LESSON 20 OF 20</a:t>
            </a:r>
            <a:endParaRPr lang="en-US" sz="1000" dirty="0"/>
          </a:p>
        </p:txBody>
      </p:sp>
      <p:sp>
        <p:nvSpPr>
          <p:cNvPr id="5" name="Shape 3"/>
          <p:cNvSpPr/>
          <p:nvPr/>
        </p:nvSpPr>
        <p:spPr>
          <a:xfrm>
            <a:off x="2331720" y="658368"/>
            <a:ext cx="1097280" cy="237744"/>
          </a:xfrm>
          <a:prstGeom prst="rect">
            <a:avLst/>
          </a:prstGeom>
          <a:solidFill>
            <a:srgbClr val="22318F"/>
          </a:solidFill>
          <a:ln w="12700">
            <a:solidFill>
              <a:srgbClr val="FFB27A"/>
            </a:solidFill>
            <a:prstDash val="solid"/>
          </a:ln>
        </p:spPr>
      </p:sp>
      <p:sp>
        <p:nvSpPr>
          <p:cNvPr id="6" name="Text 4"/>
          <p:cNvSpPr/>
          <p:nvPr/>
        </p:nvSpPr>
        <p:spPr>
          <a:xfrm>
            <a:off x="2331720" y="676656"/>
            <a:ext cx="1097280" cy="201168"/>
          </a:xfrm>
          <a:prstGeom prst="rect">
            <a:avLst/>
          </a:prstGeom>
          <a:noFill/>
          <a:ln/>
        </p:spPr>
        <p:txBody>
          <a:bodyPr wrap="square" rtlCol="0" anchor="ctr"/>
          <a:lstStyle/>
          <a:p>
            <a:pPr algn="ctr" indent="0" marL="0">
              <a:buNone/>
            </a:pPr>
            <a:r>
              <a:rPr lang="en-US" sz="750" b="1" spc="60" kern="0" dirty="0">
                <a:solidFill>
                  <a:srgbClr val="FFB27A"/>
                </a:solidFill>
                <a:latin typeface="Calibri" pitchFamily="34" charset="0"/>
                <a:ea typeface="Calibri" pitchFamily="34" charset="-122"/>
                <a:cs typeface="Calibri" pitchFamily="34" charset="-120"/>
              </a:rPr>
              <a:t>TEAM FOUND</a:t>
            </a:r>
            <a:endParaRPr lang="en-US" sz="750" dirty="0"/>
          </a:p>
        </p:txBody>
      </p:sp>
      <p:sp>
        <p:nvSpPr>
          <p:cNvPr id="7" name="Text 5"/>
          <p:cNvSpPr/>
          <p:nvPr/>
        </p:nvSpPr>
        <p:spPr>
          <a:xfrm>
            <a:off x="502920" y="960120"/>
            <a:ext cx="2926080" cy="960120"/>
          </a:xfrm>
          <a:prstGeom prst="rect">
            <a:avLst/>
          </a:prstGeom>
          <a:noFill/>
          <a:ln/>
        </p:spPr>
        <p:txBody>
          <a:bodyPr wrap="square" rtlCol="0" anchor="ctr"/>
          <a:lstStyle/>
          <a:p>
            <a:pPr indent="0" marL="0">
              <a:buNone/>
            </a:pPr>
            <a:r>
              <a:rPr lang="en-US" sz="6400" b="1" dirty="0">
                <a:solidFill>
                  <a:srgbClr val="3A4BA8"/>
                </a:solidFill>
                <a:latin typeface="Calibri" pitchFamily="34" charset="0"/>
                <a:ea typeface="Calibri" pitchFamily="34" charset="-122"/>
                <a:cs typeface="Calibri" pitchFamily="34" charset="-120"/>
              </a:rPr>
              <a:t>20</a:t>
            </a:r>
            <a:endParaRPr lang="en-US" sz="6400" dirty="0"/>
          </a:p>
        </p:txBody>
      </p:sp>
      <p:sp>
        <p:nvSpPr>
          <p:cNvPr id="8" name="Text 6"/>
          <p:cNvSpPr/>
          <p:nvPr/>
        </p:nvSpPr>
        <p:spPr>
          <a:xfrm>
            <a:off x="502920" y="1883664"/>
            <a:ext cx="2971800" cy="1371600"/>
          </a:xfrm>
          <a:prstGeom prst="rect">
            <a:avLst/>
          </a:prstGeom>
          <a:noFill/>
          <a:ln/>
        </p:spPr>
        <p:txBody>
          <a:bodyPr wrap="square" rtlCol="0" anchor="t"/>
          <a:lstStyle/>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Write It Down</a:t>
            </a:r>
            <a:endParaRPr lang="en-US" sz="2400" dirty="0"/>
          </a:p>
          <a:p>
            <a:pPr indent="0" marL="0">
              <a:lnSpc>
                <a:spcPts val="2900"/>
              </a:lnSpc>
              <a:buNone/>
            </a:pPr>
            <a:r>
              <a:rPr lang="en-US" sz="2400" b="1" dirty="0">
                <a:solidFill>
                  <a:srgbClr val="FFFFFF"/>
                </a:solidFill>
                <a:latin typeface="Calibri" pitchFamily="34" charset="0"/>
                <a:ea typeface="Calibri" pitchFamily="34" charset="-122"/>
                <a:cs typeface="Calibri" pitchFamily="34" charset="-120"/>
              </a:rPr>
              <a:t>as You Go</a:t>
            </a:r>
            <a:endParaRPr lang="en-US" sz="2400" dirty="0"/>
          </a:p>
        </p:txBody>
      </p:sp>
      <p:sp>
        <p:nvSpPr>
          <p:cNvPr id="9" name="Text 7"/>
          <p:cNvSpPr/>
          <p:nvPr/>
        </p:nvSpPr>
        <p:spPr>
          <a:xfrm>
            <a:off x="502920" y="3346704"/>
            <a:ext cx="2971800" cy="2286000"/>
          </a:xfrm>
          <a:prstGeom prst="rect">
            <a:avLst/>
          </a:prstGeom>
          <a:noFill/>
          <a:ln/>
        </p:spPr>
        <p:txBody>
          <a:bodyPr wrap="square" rtlCol="0" anchor="t"/>
          <a:lstStyle/>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Three months, seven iterations, dozens of fixes and judgement calls. Without a record, every question about 'why is this number different' becomes an investigation.</a:t>
            </a:r>
            <a:endParaRPr lang="en-US" sz="1100" dirty="0"/>
          </a:p>
          <a:p>
            <a:pPr indent="0" marL="0">
              <a:lnSpc>
                <a:spcPts val="1600"/>
              </a:lnSpc>
              <a:buNone/>
            </a:pPr>
            <a:endParaRPr lang="en-US" sz="1100" dirty="0"/>
          </a:p>
          <a:p>
            <a:pPr indent="0" marL="0">
              <a:lnSpc>
                <a:spcPts val="1600"/>
              </a:lnSpc>
              <a:buNone/>
            </a:pPr>
            <a:r>
              <a:rPr lang="en-US" sz="1100" dirty="0">
                <a:solidFill>
                  <a:srgbClr val="CADCFC"/>
                </a:solidFill>
                <a:latin typeface="Calibri" pitchFamily="34" charset="0"/>
                <a:ea typeface="Calibri" pitchFamily="34" charset="-122"/>
                <a:cs typeface="Calibri" pitchFamily="34" charset="-120"/>
              </a:rPr>
              <a:t>With one, it is a lookup.</a:t>
            </a:r>
            <a:endParaRPr lang="en-US" sz="1100" dirty="0"/>
          </a:p>
        </p:txBody>
      </p:sp>
      <p:sp>
        <p:nvSpPr>
          <p:cNvPr id="10" name="Text 8"/>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45</a:t>
            </a:r>
            <a:endParaRPr lang="en-US" sz="900" dirty="0"/>
          </a:p>
        </p:txBody>
      </p:sp>
      <p:sp>
        <p:nvSpPr>
          <p:cNvPr id="11" name="Text 9"/>
          <p:cNvSpPr/>
          <p:nvPr/>
        </p:nvSpPr>
        <p:spPr>
          <a:xfrm>
            <a:off x="4224528" y="685800"/>
            <a:ext cx="7680960" cy="237744"/>
          </a:xfrm>
          <a:prstGeom prst="rect">
            <a:avLst/>
          </a:prstGeom>
          <a:noFill/>
          <a:ln/>
        </p:spPr>
        <p:txBody>
          <a:bodyPr wrap="square" rtlCol="0" anchor="ctr"/>
          <a:lstStyle/>
          <a:p>
            <a:pPr indent="0" marL="0">
              <a:buNone/>
            </a:pPr>
            <a:r>
              <a:rPr lang="en-US" sz="1000" b="1" spc="120" kern="0" dirty="0">
                <a:solidFill>
                  <a:srgbClr val="F96806"/>
                </a:solidFill>
                <a:latin typeface="Calibri" pitchFamily="34" charset="0"/>
                <a:ea typeface="Calibri" pitchFamily="34" charset="-122"/>
                <a:cs typeface="Calibri" pitchFamily="34" charset="-120"/>
              </a:rPr>
              <a:t>WHAT WAS RECORDED, AND WHEN</a:t>
            </a:r>
            <a:endParaRPr lang="en-US" sz="1000" dirty="0"/>
          </a:p>
        </p:txBody>
      </p:sp>
      <p:sp>
        <p:nvSpPr>
          <p:cNvPr id="12" name="Shape 10"/>
          <p:cNvSpPr/>
          <p:nvPr/>
        </p:nvSpPr>
        <p:spPr>
          <a:xfrm>
            <a:off x="4224528" y="1024128"/>
            <a:ext cx="50292" cy="859536"/>
          </a:xfrm>
          <a:prstGeom prst="rect">
            <a:avLst/>
          </a:prstGeom>
          <a:solidFill>
            <a:srgbClr val="F96806"/>
          </a:solidFill>
          <a:ln/>
        </p:spPr>
      </p:sp>
      <p:sp>
        <p:nvSpPr>
          <p:cNvPr id="13" name="Shape 11"/>
          <p:cNvSpPr/>
          <p:nvPr/>
        </p:nvSpPr>
        <p:spPr>
          <a:xfrm>
            <a:off x="4274820" y="1024128"/>
            <a:ext cx="7662672" cy="859536"/>
          </a:xfrm>
          <a:prstGeom prst="rect">
            <a:avLst/>
          </a:prstGeom>
          <a:solidFill>
            <a:srgbClr val="F2F5FC"/>
          </a:solidFill>
          <a:ln/>
        </p:spPr>
      </p:sp>
      <p:sp>
        <p:nvSpPr>
          <p:cNvPr id="14" name="Text 12"/>
          <p:cNvSpPr/>
          <p:nvPr/>
        </p:nvSpPr>
        <p:spPr>
          <a:xfrm>
            <a:off x="4443984" y="1106424"/>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Fix register</a:t>
            </a:r>
            <a:endParaRPr lang="en-US" sz="1200" dirty="0"/>
          </a:p>
        </p:txBody>
      </p:sp>
      <p:sp>
        <p:nvSpPr>
          <p:cNvPr id="15" name="Text 13"/>
          <p:cNvSpPr/>
          <p:nvPr/>
        </p:nvSpPr>
        <p:spPr>
          <a:xfrm>
            <a:off x="4443984" y="1344168"/>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Every change: file, lines, root cause, evidence, verification run and result.</a:t>
            </a:r>
            <a:endParaRPr lang="en-US" sz="950" dirty="0"/>
          </a:p>
        </p:txBody>
      </p:sp>
      <p:sp>
        <p:nvSpPr>
          <p:cNvPr id="16" name="Shape 14"/>
          <p:cNvSpPr/>
          <p:nvPr/>
        </p:nvSpPr>
        <p:spPr>
          <a:xfrm>
            <a:off x="4224528" y="1975104"/>
            <a:ext cx="50292" cy="859536"/>
          </a:xfrm>
          <a:prstGeom prst="rect">
            <a:avLst/>
          </a:prstGeom>
          <a:solidFill>
            <a:srgbClr val="1861F5"/>
          </a:solidFill>
          <a:ln/>
        </p:spPr>
      </p:sp>
      <p:sp>
        <p:nvSpPr>
          <p:cNvPr id="17" name="Shape 15"/>
          <p:cNvSpPr/>
          <p:nvPr/>
        </p:nvSpPr>
        <p:spPr>
          <a:xfrm>
            <a:off x="4274820" y="1975104"/>
            <a:ext cx="7662672" cy="859536"/>
          </a:xfrm>
          <a:prstGeom prst="rect">
            <a:avLst/>
          </a:prstGeom>
          <a:solidFill>
            <a:srgbClr val="F2F5FC"/>
          </a:solidFill>
          <a:ln/>
        </p:spPr>
      </p:sp>
      <p:sp>
        <p:nvSpPr>
          <p:cNvPr id="18" name="Text 16"/>
          <p:cNvSpPr/>
          <p:nvPr/>
        </p:nvSpPr>
        <p:spPr>
          <a:xfrm>
            <a:off x="4443984" y="2057400"/>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Decision register</a:t>
            </a:r>
            <a:endParaRPr lang="en-US" sz="1200" dirty="0"/>
          </a:p>
        </p:txBody>
      </p:sp>
      <p:sp>
        <p:nvSpPr>
          <p:cNvPr id="19" name="Text 17"/>
          <p:cNvSpPr/>
          <p:nvPr/>
        </p:nvSpPr>
        <p:spPr>
          <a:xfrm>
            <a:off x="4443984" y="2295144"/>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Every meaning change: the issue, evidence, recommendation, approver and date.</a:t>
            </a:r>
            <a:endParaRPr lang="en-US" sz="950" dirty="0"/>
          </a:p>
        </p:txBody>
      </p:sp>
      <p:sp>
        <p:nvSpPr>
          <p:cNvPr id="20" name="Shape 18"/>
          <p:cNvSpPr/>
          <p:nvPr/>
        </p:nvSpPr>
        <p:spPr>
          <a:xfrm>
            <a:off x="4224528" y="2926080"/>
            <a:ext cx="50292" cy="859536"/>
          </a:xfrm>
          <a:prstGeom prst="rect">
            <a:avLst/>
          </a:prstGeom>
          <a:solidFill>
            <a:srgbClr val="1861F5"/>
          </a:solidFill>
          <a:ln/>
        </p:spPr>
      </p:sp>
      <p:sp>
        <p:nvSpPr>
          <p:cNvPr id="21" name="Shape 19"/>
          <p:cNvSpPr/>
          <p:nvPr/>
        </p:nvSpPr>
        <p:spPr>
          <a:xfrm>
            <a:off x="4274820" y="2926080"/>
            <a:ext cx="7662672" cy="859536"/>
          </a:xfrm>
          <a:prstGeom prst="rect">
            <a:avLst/>
          </a:prstGeom>
          <a:solidFill>
            <a:srgbClr val="F2F5FC"/>
          </a:solidFill>
          <a:ln/>
        </p:spPr>
      </p:sp>
      <p:sp>
        <p:nvSpPr>
          <p:cNvPr id="22" name="Text 20"/>
          <p:cNvSpPr/>
          <p:nvPr/>
        </p:nvSpPr>
        <p:spPr>
          <a:xfrm>
            <a:off x="4443984" y="3008376"/>
            <a:ext cx="7315200" cy="237744"/>
          </a:xfrm>
          <a:prstGeom prst="rect">
            <a:avLst/>
          </a:prstGeom>
          <a:noFill/>
          <a:ln/>
        </p:spPr>
        <p:txBody>
          <a:bodyPr wrap="square" rtlCol="0" anchor="ctr"/>
          <a:lstStyle/>
          <a:p>
            <a:pPr indent="0" marL="0">
              <a:buNone/>
            </a:pPr>
            <a:r>
              <a:rPr lang="en-US" sz="1200" b="1" dirty="0">
                <a:solidFill>
                  <a:srgbClr val="1A288E"/>
                </a:solidFill>
                <a:latin typeface="Calibri" pitchFamily="34" charset="0"/>
                <a:ea typeface="Calibri" pitchFamily="34" charset="-122"/>
                <a:cs typeface="Calibri" pitchFamily="34" charset="-120"/>
              </a:rPr>
              <a:t>Architecture &amp; lineage</a:t>
            </a:r>
            <a:endParaRPr lang="en-US" sz="1200" dirty="0"/>
          </a:p>
        </p:txBody>
      </p:sp>
      <p:sp>
        <p:nvSpPr>
          <p:cNvPr id="23" name="Text 21"/>
          <p:cNvSpPr/>
          <p:nvPr/>
        </p:nvSpPr>
        <p:spPr>
          <a:xfrm>
            <a:off x="4443984" y="3246120"/>
            <a:ext cx="7315200" cy="475488"/>
          </a:xfrm>
          <a:prstGeom prst="rect">
            <a:avLst/>
          </a:prstGeom>
          <a:noFill/>
          <a:ln/>
        </p:spPr>
        <p:txBody>
          <a:bodyPr wrap="square" rtlCol="0" anchor="ctr"/>
          <a:lstStyle/>
          <a:p>
            <a:pPr indent="0" marL="0">
              <a:lnSpc>
                <a:spcPts val="1250"/>
              </a:lnSpc>
              <a:buNone/>
            </a:pPr>
            <a:r>
              <a:rPr lang="en-US" sz="950" dirty="0">
                <a:solidFill>
                  <a:srgbClr val="5B6577"/>
                </a:solidFill>
                <a:latin typeface="Calibri" pitchFamily="34" charset="0"/>
                <a:ea typeface="Calibri" pitchFamily="34" charset="-122"/>
                <a:cs typeface="Calibri" pitchFamily="34" charset="-120"/>
              </a:rPr>
              <a:t>The map the system never had — kept current as bridges and recipes changed.</a:t>
            </a:r>
            <a:endParaRPr lang="en-US" sz="950" dirty="0"/>
          </a:p>
        </p:txBody>
      </p:sp>
      <p:sp>
        <p:nvSpPr>
          <p:cNvPr id="24" name="Shape 22"/>
          <p:cNvSpPr/>
          <p:nvPr/>
        </p:nvSpPr>
        <p:spPr>
          <a:xfrm>
            <a:off x="4224528" y="4078224"/>
            <a:ext cx="7717536" cy="1481328"/>
          </a:xfrm>
          <a:prstGeom prst="rect">
            <a:avLst/>
          </a:prstGeom>
          <a:solidFill>
            <a:srgbClr val="E9EFFC"/>
          </a:solidFill>
          <a:ln/>
        </p:spPr>
      </p:sp>
      <p:sp>
        <p:nvSpPr>
          <p:cNvPr id="25" name="Shape 23"/>
          <p:cNvSpPr/>
          <p:nvPr/>
        </p:nvSpPr>
        <p:spPr>
          <a:xfrm>
            <a:off x="4224528" y="4078224"/>
            <a:ext cx="50292" cy="1481328"/>
          </a:xfrm>
          <a:prstGeom prst="rect">
            <a:avLst/>
          </a:prstGeom>
          <a:solidFill>
            <a:srgbClr val="F96806"/>
          </a:solidFill>
          <a:ln/>
        </p:spPr>
      </p:sp>
      <p:sp>
        <p:nvSpPr>
          <p:cNvPr id="26" name="Text 24"/>
          <p:cNvSpPr/>
          <p:nvPr/>
        </p:nvSpPr>
        <p:spPr>
          <a:xfrm>
            <a:off x="4480560" y="4242816"/>
            <a:ext cx="7223760" cy="219456"/>
          </a:xfrm>
          <a:prstGeom prst="rect">
            <a:avLst/>
          </a:prstGeom>
          <a:noFill/>
          <a:ln/>
        </p:spPr>
        <p:txBody>
          <a:bodyPr wrap="square" rtlCol="0" anchor="ctr"/>
          <a:lstStyle/>
          <a:p>
            <a:pPr indent="0" marL="0">
              <a:buNone/>
            </a:pPr>
            <a:r>
              <a:rPr lang="en-US" sz="900" b="1" spc="110" kern="0" dirty="0">
                <a:solidFill>
                  <a:srgbClr val="F96806"/>
                </a:solidFill>
                <a:latin typeface="Calibri" pitchFamily="34" charset="0"/>
                <a:ea typeface="Calibri" pitchFamily="34" charset="-122"/>
                <a:cs typeface="Calibri" pitchFamily="34" charset="-120"/>
              </a:rPr>
              <a:t>WHY IT PAID BACK</a:t>
            </a:r>
            <a:endParaRPr lang="en-US" sz="900" dirty="0"/>
          </a:p>
        </p:txBody>
      </p:sp>
      <p:sp>
        <p:nvSpPr>
          <p:cNvPr id="27" name="Text 25"/>
          <p:cNvSpPr/>
          <p:nvPr/>
        </p:nvSpPr>
        <p:spPr>
          <a:xfrm>
            <a:off x="4480560" y="4498848"/>
            <a:ext cx="7223760" cy="932688"/>
          </a:xfrm>
          <a:prstGeom prst="rect">
            <a:avLst/>
          </a:prstGeom>
          <a:noFill/>
          <a:ln/>
        </p:spPr>
        <p:txBody>
          <a:bodyPr wrap="square" rtlCol="0" anchor="t"/>
          <a:lstStyle/>
          <a:p>
            <a:pPr indent="0" marL="0">
              <a:lnSpc>
                <a:spcPts val="1400"/>
              </a:lnSpc>
              <a:buNone/>
            </a:pPr>
            <a:r>
              <a:rPr lang="en-US" sz="1050" dirty="0">
                <a:solidFill>
                  <a:srgbClr val="1A288E"/>
                </a:solidFill>
                <a:latin typeface="Calibri" pitchFamily="34" charset="0"/>
                <a:ea typeface="Calibri" pitchFamily="34" charset="-122"/>
                <a:cs typeface="Calibri" pitchFamily="34" charset="-120"/>
              </a:rPr>
              <a:t>Stakeholder updates, legacy reconciliations and this case study were written from the registers, not from memory. The documentation was the cheapest part of the project — because it was never done after the fact.</a:t>
            </a:r>
            <a:endParaRPr lang="en-US" sz="1050" dirty="0"/>
          </a:p>
        </p:txBody>
      </p:sp>
      <p:sp>
        <p:nvSpPr>
          <p:cNvPr id="28" name="Shape 26"/>
          <p:cNvSpPr/>
          <p:nvPr/>
        </p:nvSpPr>
        <p:spPr>
          <a:xfrm>
            <a:off x="4224528" y="5833872"/>
            <a:ext cx="7717536" cy="530352"/>
          </a:xfrm>
          <a:prstGeom prst="rect">
            <a:avLst/>
          </a:prstGeom>
          <a:solidFill>
            <a:srgbClr val="1A288E"/>
          </a:solidFill>
          <a:ln/>
        </p:spPr>
      </p:sp>
      <p:sp>
        <p:nvSpPr>
          <p:cNvPr id="29" name="Text 27"/>
          <p:cNvSpPr/>
          <p:nvPr/>
        </p:nvSpPr>
        <p:spPr>
          <a:xfrm>
            <a:off x="4443984" y="5961888"/>
            <a:ext cx="7315200" cy="29260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If it is not written down, it did not happen</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237744" y="274320"/>
            <a:ext cx="11713464" cy="274320"/>
          </a:xfrm>
          <a:prstGeom prst="rect">
            <a:avLst/>
          </a:prstGeom>
          <a:noFill/>
          <a:ln/>
        </p:spPr>
        <p:txBody>
          <a:bodyPr wrap="square" rtlCol="0" anchor="ctr"/>
          <a:lstStyle/>
          <a:p>
            <a:pPr indent="0" marL="0">
              <a:buNone/>
            </a:pPr>
            <a:r>
              <a:rPr lang="en-US" sz="1100" b="1" spc="140" kern="0" dirty="0">
                <a:solidFill>
                  <a:srgbClr val="F96806"/>
                </a:solidFill>
                <a:latin typeface="Calibri" pitchFamily="34" charset="0"/>
                <a:ea typeface="Calibri" pitchFamily="34" charset="-122"/>
                <a:cs typeface="Calibri" pitchFamily="34" charset="-120"/>
              </a:rPr>
              <a:t>FUTURE SCOPE · WHAT TRANSFERS</a:t>
            </a:r>
            <a:endParaRPr lang="en-US" sz="1100" dirty="0"/>
          </a:p>
        </p:txBody>
      </p:sp>
      <p:sp>
        <p:nvSpPr>
          <p:cNvPr id="3" name="Text 1"/>
          <p:cNvSpPr/>
          <p:nvPr/>
        </p:nvSpPr>
        <p:spPr>
          <a:xfrm>
            <a:off x="237744" y="530352"/>
            <a:ext cx="11713464" cy="640080"/>
          </a:xfrm>
          <a:prstGeom prst="rect">
            <a:avLst/>
          </a:prstGeom>
          <a:noFill/>
          <a:ln/>
        </p:spPr>
        <p:txBody>
          <a:bodyPr wrap="square" rtlCol="0" anchor="ctr"/>
          <a:lstStyle/>
          <a:p>
            <a:pPr indent="0" marL="0">
              <a:buNone/>
            </a:pPr>
            <a:r>
              <a:rPr lang="en-US" sz="3000" b="1" dirty="0">
                <a:solidFill>
                  <a:srgbClr val="1A288E"/>
                </a:solidFill>
                <a:latin typeface="Calibri" pitchFamily="34" charset="0"/>
                <a:ea typeface="Calibri" pitchFamily="34" charset="-122"/>
                <a:cs typeface="Calibri" pitchFamily="34" charset="-120"/>
              </a:rPr>
              <a:t>Eight Takeaways for the Next Legacy Migration</a:t>
            </a:r>
            <a:endParaRPr lang="en-US" sz="3000" dirty="0"/>
          </a:p>
        </p:txBody>
      </p:sp>
      <p:sp>
        <p:nvSpPr>
          <p:cNvPr id="4" name="Text 2"/>
          <p:cNvSpPr/>
          <p:nvPr/>
        </p:nvSpPr>
        <p:spPr>
          <a:xfrm>
            <a:off x="237744" y="1097280"/>
            <a:ext cx="11713464" cy="566928"/>
          </a:xfrm>
          <a:prstGeom prst="rect">
            <a:avLst/>
          </a:prstGeom>
          <a:noFill/>
          <a:ln/>
        </p:spPr>
        <p:txBody>
          <a:bodyPr wrap="square" rtlCol="0" anchor="ctr"/>
          <a:lstStyle/>
          <a:p>
            <a:pPr indent="0" marL="0">
              <a:lnSpc>
                <a:spcPts val="1600"/>
              </a:lnSpc>
              <a:buNone/>
            </a:pPr>
            <a:r>
              <a:rPr lang="en-US" sz="1200" dirty="0">
                <a:solidFill>
                  <a:srgbClr val="5B6577"/>
                </a:solidFill>
                <a:latin typeface="Calibri" pitchFamily="34" charset="0"/>
                <a:ea typeface="Calibri" pitchFamily="34" charset="-122"/>
                <a:cs typeface="Calibri" pitchFamily="34" charset="-120"/>
              </a:rPr>
              <a:t>What we would carry into any similar engagement — and what each one changes about how we scope, staff and sequence the work</a:t>
            </a:r>
            <a:endParaRPr lang="en-US" sz="1200" dirty="0"/>
          </a:p>
        </p:txBody>
      </p:sp>
      <p:sp>
        <p:nvSpPr>
          <p:cNvPr id="5" name="Text 3"/>
          <p:cNvSpPr/>
          <p:nvPr/>
        </p:nvSpPr>
        <p:spPr>
          <a:xfrm>
            <a:off x="11384280" y="6446520"/>
            <a:ext cx="54864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46</a:t>
            </a:r>
            <a:endParaRPr lang="en-US" sz="900" dirty="0"/>
          </a:p>
        </p:txBody>
      </p:sp>
      <p:sp>
        <p:nvSpPr>
          <p:cNvPr id="6" name="Text 4"/>
          <p:cNvSpPr/>
          <p:nvPr/>
        </p:nvSpPr>
        <p:spPr>
          <a:xfrm>
            <a:off x="237744" y="6446520"/>
            <a:ext cx="7315200" cy="256032"/>
          </a:xfrm>
          <a:prstGeom prst="rect">
            <a:avLst/>
          </a:prstGeom>
          <a:noFill/>
          <a:ln/>
        </p:spPr>
        <p:txBody>
          <a:bodyPr wrap="square" rtlCol="0" anchor="ctr"/>
          <a:lstStyle/>
          <a:p>
            <a:pPr indent="0" marL="0">
              <a:buNone/>
            </a:pPr>
            <a:r>
              <a:rPr lang="en-US" sz="800" i="1" dirty="0">
                <a:solidFill>
                  <a:srgbClr val="9AA3B5"/>
                </a:solidFill>
                <a:latin typeface="Calibri" pitchFamily="34" charset="0"/>
                <a:ea typeface="Calibri" pitchFamily="34" charset="-122"/>
                <a:cs typeface="Calibri" pitchFamily="34" charset="-120"/>
              </a:rPr>
              <a:t>Showcase edition · client identity, data values and proprietary logic anonymised</a:t>
            </a:r>
            <a:endParaRPr lang="en-US" sz="800" dirty="0"/>
          </a:p>
        </p:txBody>
      </p:sp>
      <p:sp>
        <p:nvSpPr>
          <p:cNvPr id="7" name="Shape 5"/>
          <p:cNvSpPr/>
          <p:nvPr/>
        </p:nvSpPr>
        <p:spPr>
          <a:xfrm>
            <a:off x="237744" y="1920240"/>
            <a:ext cx="2807208" cy="54864"/>
          </a:xfrm>
          <a:prstGeom prst="rect">
            <a:avLst/>
          </a:prstGeom>
          <a:solidFill>
            <a:srgbClr val="F96806"/>
          </a:solidFill>
          <a:ln/>
        </p:spPr>
      </p:sp>
      <p:sp>
        <p:nvSpPr>
          <p:cNvPr id="8" name="Shape 6"/>
          <p:cNvSpPr/>
          <p:nvPr/>
        </p:nvSpPr>
        <p:spPr>
          <a:xfrm>
            <a:off x="237744" y="1975104"/>
            <a:ext cx="2807208" cy="1554480"/>
          </a:xfrm>
          <a:prstGeom prst="rect">
            <a:avLst/>
          </a:prstGeom>
          <a:solidFill>
            <a:srgbClr val="F2F5FC"/>
          </a:solidFill>
          <a:ln/>
        </p:spPr>
      </p:sp>
      <p:sp>
        <p:nvSpPr>
          <p:cNvPr id="9" name="Text 7"/>
          <p:cNvSpPr/>
          <p:nvPr/>
        </p:nvSpPr>
        <p:spPr>
          <a:xfrm>
            <a:off x="384048" y="2066544"/>
            <a:ext cx="457200" cy="256032"/>
          </a:xfrm>
          <a:prstGeom prst="rect">
            <a:avLst/>
          </a:prstGeom>
          <a:noFill/>
          <a:ln/>
        </p:spPr>
        <p:txBody>
          <a:bodyPr wrap="square" rtlCol="0" anchor="ctr"/>
          <a:lstStyle/>
          <a:p>
            <a:pPr indent="0" marL="0">
              <a:buNone/>
            </a:pPr>
            <a:r>
              <a:rPr lang="en-US" sz="1400" b="1" dirty="0">
                <a:solidFill>
                  <a:srgbClr val="F96806"/>
                </a:solidFill>
                <a:latin typeface="Calibri" pitchFamily="34" charset="0"/>
                <a:ea typeface="Calibri" pitchFamily="34" charset="-122"/>
                <a:cs typeface="Calibri" pitchFamily="34" charset="-120"/>
              </a:rPr>
              <a:t>01</a:t>
            </a:r>
            <a:endParaRPr lang="en-US" sz="1400" dirty="0"/>
          </a:p>
        </p:txBody>
      </p:sp>
      <p:sp>
        <p:nvSpPr>
          <p:cNvPr id="10" name="Text 8"/>
          <p:cNvSpPr/>
          <p:nvPr/>
        </p:nvSpPr>
        <p:spPr>
          <a:xfrm>
            <a:off x="804672" y="2048256"/>
            <a:ext cx="2121408" cy="457200"/>
          </a:xfrm>
          <a:prstGeom prst="rect">
            <a:avLst/>
          </a:prstGeom>
          <a:noFill/>
          <a:ln/>
        </p:spPr>
        <p:txBody>
          <a:bodyPr wrap="square" rtlCol="0" anchor="t"/>
          <a:lstStyle/>
          <a:p>
            <a:pPr indent="0" marL="0">
              <a:lnSpc>
                <a:spcPts val="1300"/>
              </a:lnSpc>
              <a:buNone/>
            </a:pPr>
            <a:r>
              <a:rPr lang="en-US" sz="1100" b="1" dirty="0">
                <a:solidFill>
                  <a:srgbClr val="1A288E"/>
                </a:solidFill>
                <a:latin typeface="Calibri" pitchFamily="34" charset="0"/>
                <a:ea typeface="Calibri" pitchFamily="34" charset="-122"/>
                <a:cs typeface="Calibri" pitchFamily="34" charset="-120"/>
              </a:rPr>
              <a:t>Fund discovery as a phase</a:t>
            </a:r>
            <a:endParaRPr lang="en-US" sz="1100" dirty="0"/>
          </a:p>
        </p:txBody>
      </p:sp>
      <p:sp>
        <p:nvSpPr>
          <p:cNvPr id="11" name="Text 9"/>
          <p:cNvSpPr/>
          <p:nvPr/>
        </p:nvSpPr>
        <p:spPr>
          <a:xfrm>
            <a:off x="384048" y="2542032"/>
            <a:ext cx="2542032" cy="603504"/>
          </a:xfrm>
          <a:prstGeom prst="rect">
            <a:avLst/>
          </a:prstGeom>
          <a:noFill/>
          <a:ln/>
        </p:spPr>
        <p:txBody>
          <a:bodyPr wrap="square" rtlCol="0" anchor="t"/>
          <a:lstStyle/>
          <a:p>
            <a:pPr indent="0" marL="0">
              <a:lnSpc>
                <a:spcPts val="1150"/>
              </a:lnSpc>
              <a:buNone/>
            </a:pPr>
            <a:r>
              <a:rPr lang="en-US" sz="900" dirty="0">
                <a:solidFill>
                  <a:srgbClr val="5B6577"/>
                </a:solidFill>
                <a:latin typeface="Calibri" pitchFamily="34" charset="0"/>
                <a:ea typeface="Calibri" pitchFamily="34" charset="-122"/>
                <a:cs typeface="Calibri" pitchFamily="34" charset="-120"/>
              </a:rPr>
              <a:t>Undocumented estates need a paid comprehension phase before any migration estimate is credible.</a:t>
            </a:r>
            <a:endParaRPr lang="en-US" sz="900" dirty="0"/>
          </a:p>
        </p:txBody>
      </p:sp>
      <p:sp>
        <p:nvSpPr>
          <p:cNvPr id="12" name="Shape 10"/>
          <p:cNvSpPr/>
          <p:nvPr/>
        </p:nvSpPr>
        <p:spPr>
          <a:xfrm>
            <a:off x="384048" y="3182112"/>
            <a:ext cx="2514600" cy="256032"/>
          </a:xfrm>
          <a:prstGeom prst="rect">
            <a:avLst/>
          </a:prstGeom>
          <a:solidFill>
            <a:srgbClr val="E3EAFB"/>
          </a:solidFill>
          <a:ln/>
        </p:spPr>
      </p:sp>
      <p:sp>
        <p:nvSpPr>
          <p:cNvPr id="13" name="Text 11"/>
          <p:cNvSpPr/>
          <p:nvPr/>
        </p:nvSpPr>
        <p:spPr>
          <a:xfrm>
            <a:off x="457200" y="3209544"/>
            <a:ext cx="2377440" cy="201168"/>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Changes how we estimate</a:t>
            </a:r>
            <a:endParaRPr lang="en-US" sz="850" dirty="0"/>
          </a:p>
        </p:txBody>
      </p:sp>
      <p:sp>
        <p:nvSpPr>
          <p:cNvPr id="14" name="Shape 12"/>
          <p:cNvSpPr/>
          <p:nvPr/>
        </p:nvSpPr>
        <p:spPr>
          <a:xfrm>
            <a:off x="3209544" y="1920240"/>
            <a:ext cx="2807208" cy="54864"/>
          </a:xfrm>
          <a:prstGeom prst="rect">
            <a:avLst/>
          </a:prstGeom>
          <a:solidFill>
            <a:srgbClr val="F96806"/>
          </a:solidFill>
          <a:ln/>
        </p:spPr>
      </p:sp>
      <p:sp>
        <p:nvSpPr>
          <p:cNvPr id="15" name="Shape 13"/>
          <p:cNvSpPr/>
          <p:nvPr/>
        </p:nvSpPr>
        <p:spPr>
          <a:xfrm>
            <a:off x="3209544" y="1975104"/>
            <a:ext cx="2807208" cy="1554480"/>
          </a:xfrm>
          <a:prstGeom prst="rect">
            <a:avLst/>
          </a:prstGeom>
          <a:solidFill>
            <a:srgbClr val="F2F5FC"/>
          </a:solidFill>
          <a:ln/>
        </p:spPr>
      </p:sp>
      <p:sp>
        <p:nvSpPr>
          <p:cNvPr id="16" name="Text 14"/>
          <p:cNvSpPr/>
          <p:nvPr/>
        </p:nvSpPr>
        <p:spPr>
          <a:xfrm>
            <a:off x="3355848" y="2066544"/>
            <a:ext cx="457200" cy="256032"/>
          </a:xfrm>
          <a:prstGeom prst="rect">
            <a:avLst/>
          </a:prstGeom>
          <a:noFill/>
          <a:ln/>
        </p:spPr>
        <p:txBody>
          <a:bodyPr wrap="square" rtlCol="0" anchor="ctr"/>
          <a:lstStyle/>
          <a:p>
            <a:pPr indent="0" marL="0">
              <a:buNone/>
            </a:pPr>
            <a:r>
              <a:rPr lang="en-US" sz="1400" b="1" dirty="0">
                <a:solidFill>
                  <a:srgbClr val="F96806"/>
                </a:solidFill>
                <a:latin typeface="Calibri" pitchFamily="34" charset="0"/>
                <a:ea typeface="Calibri" pitchFamily="34" charset="-122"/>
                <a:cs typeface="Calibri" pitchFamily="34" charset="-120"/>
              </a:rPr>
              <a:t>02</a:t>
            </a:r>
            <a:endParaRPr lang="en-US" sz="1400" dirty="0"/>
          </a:p>
        </p:txBody>
      </p:sp>
      <p:sp>
        <p:nvSpPr>
          <p:cNvPr id="17" name="Text 15"/>
          <p:cNvSpPr/>
          <p:nvPr/>
        </p:nvSpPr>
        <p:spPr>
          <a:xfrm>
            <a:off x="3776472" y="2048256"/>
            <a:ext cx="2121408" cy="457200"/>
          </a:xfrm>
          <a:prstGeom prst="rect">
            <a:avLst/>
          </a:prstGeom>
          <a:noFill/>
          <a:ln/>
        </p:spPr>
        <p:txBody>
          <a:bodyPr wrap="square" rtlCol="0" anchor="t"/>
          <a:lstStyle/>
          <a:p>
            <a:pPr indent="0" marL="0">
              <a:lnSpc>
                <a:spcPts val="1300"/>
              </a:lnSpc>
              <a:buNone/>
            </a:pPr>
            <a:r>
              <a:rPr lang="en-US" sz="1100" b="1" dirty="0">
                <a:solidFill>
                  <a:srgbClr val="1A288E"/>
                </a:solidFill>
                <a:latin typeface="Calibri" pitchFamily="34" charset="0"/>
                <a:ea typeface="Calibri" pitchFamily="34" charset="-122"/>
                <a:cs typeface="Calibri" pitchFamily="34" charset="-120"/>
              </a:rPr>
              <a:t>Absorb differences in a bridge layer</a:t>
            </a:r>
            <a:endParaRPr lang="en-US" sz="1100" dirty="0"/>
          </a:p>
        </p:txBody>
      </p:sp>
      <p:sp>
        <p:nvSpPr>
          <p:cNvPr id="18" name="Text 16"/>
          <p:cNvSpPr/>
          <p:nvPr/>
        </p:nvSpPr>
        <p:spPr>
          <a:xfrm>
            <a:off x="3355848" y="2542032"/>
            <a:ext cx="2542032" cy="603504"/>
          </a:xfrm>
          <a:prstGeom prst="rect">
            <a:avLst/>
          </a:prstGeom>
          <a:noFill/>
          <a:ln/>
        </p:spPr>
        <p:txBody>
          <a:bodyPr wrap="square" rtlCol="0" anchor="t"/>
          <a:lstStyle/>
          <a:p>
            <a:pPr indent="0" marL="0">
              <a:lnSpc>
                <a:spcPts val="1150"/>
              </a:lnSpc>
              <a:buNone/>
            </a:pPr>
            <a:r>
              <a:rPr lang="en-US" sz="900" dirty="0">
                <a:solidFill>
                  <a:srgbClr val="5B6577"/>
                </a:solidFill>
                <a:latin typeface="Calibri" pitchFamily="34" charset="0"/>
                <a:ea typeface="Calibri" pitchFamily="34" charset="-122"/>
                <a:cs typeface="Calibri" pitchFamily="34" charset="-120"/>
              </a:rPr>
              <a:t>Platform accommodations in two files; original code untouched and reviewable.</a:t>
            </a:r>
            <a:endParaRPr lang="en-US" sz="900" dirty="0"/>
          </a:p>
        </p:txBody>
      </p:sp>
      <p:sp>
        <p:nvSpPr>
          <p:cNvPr id="19" name="Shape 17"/>
          <p:cNvSpPr/>
          <p:nvPr/>
        </p:nvSpPr>
        <p:spPr>
          <a:xfrm>
            <a:off x="3355848" y="3182112"/>
            <a:ext cx="2514600" cy="256032"/>
          </a:xfrm>
          <a:prstGeom prst="rect">
            <a:avLst/>
          </a:prstGeom>
          <a:solidFill>
            <a:srgbClr val="E3EAFB"/>
          </a:solidFill>
          <a:ln/>
        </p:spPr>
      </p:sp>
      <p:sp>
        <p:nvSpPr>
          <p:cNvPr id="20" name="Text 18"/>
          <p:cNvSpPr/>
          <p:nvPr/>
        </p:nvSpPr>
        <p:spPr>
          <a:xfrm>
            <a:off x="3429000" y="3209544"/>
            <a:ext cx="2377440" cy="201168"/>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Our default pattern</a:t>
            </a:r>
            <a:endParaRPr lang="en-US" sz="850" dirty="0"/>
          </a:p>
        </p:txBody>
      </p:sp>
      <p:sp>
        <p:nvSpPr>
          <p:cNvPr id="21" name="Shape 19"/>
          <p:cNvSpPr/>
          <p:nvPr/>
        </p:nvSpPr>
        <p:spPr>
          <a:xfrm>
            <a:off x="6181344" y="1920240"/>
            <a:ext cx="2807208" cy="54864"/>
          </a:xfrm>
          <a:prstGeom prst="rect">
            <a:avLst/>
          </a:prstGeom>
          <a:solidFill>
            <a:srgbClr val="F96806"/>
          </a:solidFill>
          <a:ln/>
        </p:spPr>
      </p:sp>
      <p:sp>
        <p:nvSpPr>
          <p:cNvPr id="22" name="Shape 20"/>
          <p:cNvSpPr/>
          <p:nvPr/>
        </p:nvSpPr>
        <p:spPr>
          <a:xfrm>
            <a:off x="6181344" y="1975104"/>
            <a:ext cx="2807208" cy="1554480"/>
          </a:xfrm>
          <a:prstGeom prst="rect">
            <a:avLst/>
          </a:prstGeom>
          <a:solidFill>
            <a:srgbClr val="F2F5FC"/>
          </a:solidFill>
          <a:ln/>
        </p:spPr>
      </p:sp>
      <p:sp>
        <p:nvSpPr>
          <p:cNvPr id="23" name="Text 21"/>
          <p:cNvSpPr/>
          <p:nvPr/>
        </p:nvSpPr>
        <p:spPr>
          <a:xfrm>
            <a:off x="6327648" y="2066544"/>
            <a:ext cx="457200" cy="256032"/>
          </a:xfrm>
          <a:prstGeom prst="rect">
            <a:avLst/>
          </a:prstGeom>
          <a:noFill/>
          <a:ln/>
        </p:spPr>
        <p:txBody>
          <a:bodyPr wrap="square" rtlCol="0" anchor="ctr"/>
          <a:lstStyle/>
          <a:p>
            <a:pPr indent="0" marL="0">
              <a:buNone/>
            </a:pPr>
            <a:r>
              <a:rPr lang="en-US" sz="1400" b="1" dirty="0">
                <a:solidFill>
                  <a:srgbClr val="F96806"/>
                </a:solidFill>
                <a:latin typeface="Calibri" pitchFamily="34" charset="0"/>
                <a:ea typeface="Calibri" pitchFamily="34" charset="-122"/>
                <a:cs typeface="Calibri" pitchFamily="34" charset="-120"/>
              </a:rPr>
              <a:t>03</a:t>
            </a:r>
            <a:endParaRPr lang="en-US" sz="1400" dirty="0"/>
          </a:p>
        </p:txBody>
      </p:sp>
      <p:sp>
        <p:nvSpPr>
          <p:cNvPr id="24" name="Text 22"/>
          <p:cNvSpPr/>
          <p:nvPr/>
        </p:nvSpPr>
        <p:spPr>
          <a:xfrm>
            <a:off x="6748272" y="2048256"/>
            <a:ext cx="2121408" cy="457200"/>
          </a:xfrm>
          <a:prstGeom prst="rect">
            <a:avLst/>
          </a:prstGeom>
          <a:noFill/>
          <a:ln/>
        </p:spPr>
        <p:txBody>
          <a:bodyPr wrap="square" rtlCol="0" anchor="t"/>
          <a:lstStyle/>
          <a:p>
            <a:pPr indent="0" marL="0">
              <a:lnSpc>
                <a:spcPts val="1300"/>
              </a:lnSpc>
              <a:buNone/>
            </a:pPr>
            <a:r>
              <a:rPr lang="en-US" sz="1100" b="1" dirty="0">
                <a:solidFill>
                  <a:srgbClr val="1A288E"/>
                </a:solidFill>
                <a:latin typeface="Calibri" pitchFamily="34" charset="0"/>
                <a:ea typeface="Calibri" pitchFamily="34" charset="-122"/>
                <a:cs typeface="Calibri" pitchFamily="34" charset="-120"/>
              </a:rPr>
              <a:t>Audit NULL &amp; type semantics on day one</a:t>
            </a:r>
            <a:endParaRPr lang="en-US" sz="1100" dirty="0"/>
          </a:p>
        </p:txBody>
      </p:sp>
      <p:sp>
        <p:nvSpPr>
          <p:cNvPr id="25" name="Text 23"/>
          <p:cNvSpPr/>
          <p:nvPr/>
        </p:nvSpPr>
        <p:spPr>
          <a:xfrm>
            <a:off x="6327648" y="2542032"/>
            <a:ext cx="2542032" cy="603504"/>
          </a:xfrm>
          <a:prstGeom prst="rect">
            <a:avLst/>
          </a:prstGeom>
          <a:noFill/>
          <a:ln/>
        </p:spPr>
        <p:txBody>
          <a:bodyPr wrap="square" rtlCol="0" anchor="t"/>
          <a:lstStyle/>
          <a:p>
            <a:pPr indent="0" marL="0">
              <a:lnSpc>
                <a:spcPts val="1150"/>
              </a:lnSpc>
              <a:buNone/>
            </a:pPr>
            <a:r>
              <a:rPr lang="en-US" sz="900" dirty="0">
                <a:solidFill>
                  <a:srgbClr val="5B6577"/>
                </a:solidFill>
                <a:latin typeface="Calibri" pitchFamily="34" charset="0"/>
                <a:ea typeface="Calibri" pitchFamily="34" charset="-122"/>
                <a:cs typeface="Calibri" pitchFamily="34" charset="-120"/>
              </a:rPr>
              <a:t>Every not-equal filter and date conversion checked against the target platform before the first run.</a:t>
            </a:r>
            <a:endParaRPr lang="en-US" sz="900" dirty="0"/>
          </a:p>
        </p:txBody>
      </p:sp>
      <p:sp>
        <p:nvSpPr>
          <p:cNvPr id="26" name="Shape 24"/>
          <p:cNvSpPr/>
          <p:nvPr/>
        </p:nvSpPr>
        <p:spPr>
          <a:xfrm>
            <a:off x="6327648" y="3182112"/>
            <a:ext cx="2514600" cy="256032"/>
          </a:xfrm>
          <a:prstGeom prst="rect">
            <a:avLst/>
          </a:prstGeom>
          <a:solidFill>
            <a:srgbClr val="E3EAFB"/>
          </a:solidFill>
          <a:ln/>
        </p:spPr>
      </p:sp>
      <p:sp>
        <p:nvSpPr>
          <p:cNvPr id="27" name="Text 25"/>
          <p:cNvSpPr/>
          <p:nvPr/>
        </p:nvSpPr>
        <p:spPr>
          <a:xfrm>
            <a:off x="6400800" y="3209544"/>
            <a:ext cx="2377440" cy="201168"/>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Reusable pre-flight check</a:t>
            </a:r>
            <a:endParaRPr lang="en-US" sz="850" dirty="0"/>
          </a:p>
        </p:txBody>
      </p:sp>
      <p:sp>
        <p:nvSpPr>
          <p:cNvPr id="28" name="Shape 26"/>
          <p:cNvSpPr/>
          <p:nvPr/>
        </p:nvSpPr>
        <p:spPr>
          <a:xfrm>
            <a:off x="9153144" y="1920240"/>
            <a:ext cx="2807208" cy="54864"/>
          </a:xfrm>
          <a:prstGeom prst="rect">
            <a:avLst/>
          </a:prstGeom>
          <a:solidFill>
            <a:srgbClr val="F96806"/>
          </a:solidFill>
          <a:ln/>
        </p:spPr>
      </p:sp>
      <p:sp>
        <p:nvSpPr>
          <p:cNvPr id="29" name="Shape 27"/>
          <p:cNvSpPr/>
          <p:nvPr/>
        </p:nvSpPr>
        <p:spPr>
          <a:xfrm>
            <a:off x="9153144" y="1975104"/>
            <a:ext cx="2807208" cy="1554480"/>
          </a:xfrm>
          <a:prstGeom prst="rect">
            <a:avLst/>
          </a:prstGeom>
          <a:solidFill>
            <a:srgbClr val="F2F5FC"/>
          </a:solidFill>
          <a:ln/>
        </p:spPr>
      </p:sp>
      <p:sp>
        <p:nvSpPr>
          <p:cNvPr id="30" name="Text 28"/>
          <p:cNvSpPr/>
          <p:nvPr/>
        </p:nvSpPr>
        <p:spPr>
          <a:xfrm>
            <a:off x="9299448" y="2066544"/>
            <a:ext cx="457200" cy="256032"/>
          </a:xfrm>
          <a:prstGeom prst="rect">
            <a:avLst/>
          </a:prstGeom>
          <a:noFill/>
          <a:ln/>
        </p:spPr>
        <p:txBody>
          <a:bodyPr wrap="square" rtlCol="0" anchor="ctr"/>
          <a:lstStyle/>
          <a:p>
            <a:pPr indent="0" marL="0">
              <a:buNone/>
            </a:pPr>
            <a:r>
              <a:rPr lang="en-US" sz="1400" b="1" dirty="0">
                <a:solidFill>
                  <a:srgbClr val="F96806"/>
                </a:solidFill>
                <a:latin typeface="Calibri" pitchFamily="34" charset="0"/>
                <a:ea typeface="Calibri" pitchFamily="34" charset="-122"/>
                <a:cs typeface="Calibri" pitchFamily="34" charset="-120"/>
              </a:rPr>
              <a:t>04</a:t>
            </a:r>
            <a:endParaRPr lang="en-US" sz="1400" dirty="0"/>
          </a:p>
        </p:txBody>
      </p:sp>
      <p:sp>
        <p:nvSpPr>
          <p:cNvPr id="31" name="Text 29"/>
          <p:cNvSpPr/>
          <p:nvPr/>
        </p:nvSpPr>
        <p:spPr>
          <a:xfrm>
            <a:off x="9720072" y="2048256"/>
            <a:ext cx="2121408" cy="457200"/>
          </a:xfrm>
          <a:prstGeom prst="rect">
            <a:avLst/>
          </a:prstGeom>
          <a:noFill/>
          <a:ln/>
        </p:spPr>
        <p:txBody>
          <a:bodyPr wrap="square" rtlCol="0" anchor="t"/>
          <a:lstStyle/>
          <a:p>
            <a:pPr indent="0" marL="0">
              <a:lnSpc>
                <a:spcPts val="1300"/>
              </a:lnSpc>
              <a:buNone/>
            </a:pPr>
            <a:r>
              <a:rPr lang="en-US" sz="1100" b="1" dirty="0">
                <a:solidFill>
                  <a:srgbClr val="1A288E"/>
                </a:solidFill>
                <a:latin typeface="Calibri" pitchFamily="34" charset="0"/>
                <a:ea typeface="Calibri" pitchFamily="34" charset="-122"/>
                <a:cs typeface="Calibri" pitchFamily="34" charset="-120"/>
              </a:rPr>
              <a:t>Make the census the acceptance gate</a:t>
            </a:r>
            <a:endParaRPr lang="en-US" sz="1100" dirty="0"/>
          </a:p>
        </p:txBody>
      </p:sp>
      <p:sp>
        <p:nvSpPr>
          <p:cNvPr id="32" name="Text 30"/>
          <p:cNvSpPr/>
          <p:nvPr/>
        </p:nvSpPr>
        <p:spPr>
          <a:xfrm>
            <a:off x="9299448" y="2542032"/>
            <a:ext cx="2542032" cy="603504"/>
          </a:xfrm>
          <a:prstGeom prst="rect">
            <a:avLst/>
          </a:prstGeom>
          <a:noFill/>
          <a:ln/>
        </p:spPr>
        <p:txBody>
          <a:bodyPr wrap="square" rtlCol="0" anchor="t"/>
          <a:lstStyle/>
          <a:p>
            <a:pPr indent="0" marL="0">
              <a:lnSpc>
                <a:spcPts val="1150"/>
              </a:lnSpc>
              <a:buNone/>
            </a:pPr>
            <a:r>
              <a:rPr lang="en-US" sz="900" dirty="0">
                <a:solidFill>
                  <a:srgbClr val="5B6577"/>
                </a:solidFill>
                <a:latin typeface="Calibri" pitchFamily="34" charset="0"/>
                <a:ea typeface="Calibri" pitchFamily="34" charset="-122"/>
                <a:cs typeface="Calibri" pitchFamily="34" charset="-120"/>
              </a:rPr>
              <a:t>Contract against variable population and reconciliation, not error counts.</a:t>
            </a:r>
            <a:endParaRPr lang="en-US" sz="900" dirty="0"/>
          </a:p>
        </p:txBody>
      </p:sp>
      <p:sp>
        <p:nvSpPr>
          <p:cNvPr id="33" name="Shape 31"/>
          <p:cNvSpPr/>
          <p:nvPr/>
        </p:nvSpPr>
        <p:spPr>
          <a:xfrm>
            <a:off x="9299448" y="3182112"/>
            <a:ext cx="2514600" cy="256032"/>
          </a:xfrm>
          <a:prstGeom prst="rect">
            <a:avLst/>
          </a:prstGeom>
          <a:solidFill>
            <a:srgbClr val="E3EAFB"/>
          </a:solidFill>
          <a:ln/>
        </p:spPr>
      </p:sp>
      <p:sp>
        <p:nvSpPr>
          <p:cNvPr id="34" name="Text 32"/>
          <p:cNvSpPr/>
          <p:nvPr/>
        </p:nvSpPr>
        <p:spPr>
          <a:xfrm>
            <a:off x="9372600" y="3209544"/>
            <a:ext cx="2377440" cy="201168"/>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Redefines 'done'</a:t>
            </a:r>
            <a:endParaRPr lang="en-US" sz="850" dirty="0"/>
          </a:p>
        </p:txBody>
      </p:sp>
      <p:sp>
        <p:nvSpPr>
          <p:cNvPr id="35" name="Shape 33"/>
          <p:cNvSpPr/>
          <p:nvPr/>
        </p:nvSpPr>
        <p:spPr>
          <a:xfrm>
            <a:off x="237744" y="3602736"/>
            <a:ext cx="2807208" cy="54864"/>
          </a:xfrm>
          <a:prstGeom prst="rect">
            <a:avLst/>
          </a:prstGeom>
          <a:solidFill>
            <a:srgbClr val="F96806"/>
          </a:solidFill>
          <a:ln/>
        </p:spPr>
      </p:sp>
      <p:sp>
        <p:nvSpPr>
          <p:cNvPr id="36" name="Shape 34"/>
          <p:cNvSpPr/>
          <p:nvPr/>
        </p:nvSpPr>
        <p:spPr>
          <a:xfrm>
            <a:off x="237744" y="3657600"/>
            <a:ext cx="2807208" cy="1554480"/>
          </a:xfrm>
          <a:prstGeom prst="rect">
            <a:avLst/>
          </a:prstGeom>
          <a:solidFill>
            <a:srgbClr val="F2F5FC"/>
          </a:solidFill>
          <a:ln/>
        </p:spPr>
      </p:sp>
      <p:sp>
        <p:nvSpPr>
          <p:cNvPr id="37" name="Text 35"/>
          <p:cNvSpPr/>
          <p:nvPr/>
        </p:nvSpPr>
        <p:spPr>
          <a:xfrm>
            <a:off x="384048" y="3749040"/>
            <a:ext cx="457200" cy="256032"/>
          </a:xfrm>
          <a:prstGeom prst="rect">
            <a:avLst/>
          </a:prstGeom>
          <a:noFill/>
          <a:ln/>
        </p:spPr>
        <p:txBody>
          <a:bodyPr wrap="square" rtlCol="0" anchor="ctr"/>
          <a:lstStyle/>
          <a:p>
            <a:pPr indent="0" marL="0">
              <a:buNone/>
            </a:pPr>
            <a:r>
              <a:rPr lang="en-US" sz="1400" b="1" dirty="0">
                <a:solidFill>
                  <a:srgbClr val="F96806"/>
                </a:solidFill>
                <a:latin typeface="Calibri" pitchFamily="34" charset="0"/>
                <a:ea typeface="Calibri" pitchFamily="34" charset="-122"/>
                <a:cs typeface="Calibri" pitchFamily="34" charset="-120"/>
              </a:rPr>
              <a:t>05</a:t>
            </a:r>
            <a:endParaRPr lang="en-US" sz="1400" dirty="0"/>
          </a:p>
        </p:txBody>
      </p:sp>
      <p:sp>
        <p:nvSpPr>
          <p:cNvPr id="38" name="Text 36"/>
          <p:cNvSpPr/>
          <p:nvPr/>
        </p:nvSpPr>
        <p:spPr>
          <a:xfrm>
            <a:off x="804672" y="3730752"/>
            <a:ext cx="2121408" cy="457200"/>
          </a:xfrm>
          <a:prstGeom prst="rect">
            <a:avLst/>
          </a:prstGeom>
          <a:noFill/>
          <a:ln/>
        </p:spPr>
        <p:txBody>
          <a:bodyPr wrap="square" rtlCol="0" anchor="t"/>
          <a:lstStyle/>
          <a:p>
            <a:pPr indent="0" marL="0">
              <a:lnSpc>
                <a:spcPts val="1300"/>
              </a:lnSpc>
              <a:buNone/>
            </a:pPr>
            <a:r>
              <a:rPr lang="en-US" sz="1100" b="1" dirty="0">
                <a:solidFill>
                  <a:srgbClr val="1A288E"/>
                </a:solidFill>
                <a:latin typeface="Calibri" pitchFamily="34" charset="0"/>
                <a:ea typeface="Calibri" pitchFamily="34" charset="-122"/>
                <a:cs typeface="Calibri" pitchFamily="34" charset="-120"/>
              </a:rPr>
              <a:t>Build harness &amp; guards in week one</a:t>
            </a:r>
            <a:endParaRPr lang="en-US" sz="1100" dirty="0"/>
          </a:p>
        </p:txBody>
      </p:sp>
      <p:sp>
        <p:nvSpPr>
          <p:cNvPr id="39" name="Text 37"/>
          <p:cNvSpPr/>
          <p:nvPr/>
        </p:nvSpPr>
        <p:spPr>
          <a:xfrm>
            <a:off x="384048" y="4224528"/>
            <a:ext cx="2542032" cy="603504"/>
          </a:xfrm>
          <a:prstGeom prst="rect">
            <a:avLst/>
          </a:prstGeom>
          <a:noFill/>
          <a:ln/>
        </p:spPr>
        <p:txBody>
          <a:bodyPr wrap="square" rtlCol="0" anchor="t"/>
          <a:lstStyle/>
          <a:p>
            <a:pPr indent="0" marL="0">
              <a:lnSpc>
                <a:spcPts val="1150"/>
              </a:lnSpc>
              <a:buNone/>
            </a:pPr>
            <a:r>
              <a:rPr lang="en-US" sz="900" dirty="0">
                <a:solidFill>
                  <a:srgbClr val="5B6577"/>
                </a:solidFill>
                <a:latin typeface="Calibri" pitchFamily="34" charset="0"/>
                <a:ea typeface="Calibri" pitchFamily="34" charset="-122"/>
                <a:cs typeface="Calibri" pitchFamily="34" charset="-120"/>
              </a:rPr>
              <a:t>Small audience, isolated outputs, stale-table guards, post-deploy compile checks.</a:t>
            </a:r>
            <a:endParaRPr lang="en-US" sz="900" dirty="0"/>
          </a:p>
        </p:txBody>
      </p:sp>
      <p:sp>
        <p:nvSpPr>
          <p:cNvPr id="40" name="Shape 38"/>
          <p:cNvSpPr/>
          <p:nvPr/>
        </p:nvSpPr>
        <p:spPr>
          <a:xfrm>
            <a:off x="384048" y="4864608"/>
            <a:ext cx="2514600" cy="256032"/>
          </a:xfrm>
          <a:prstGeom prst="rect">
            <a:avLst/>
          </a:prstGeom>
          <a:solidFill>
            <a:srgbClr val="E3EAFB"/>
          </a:solidFill>
          <a:ln/>
        </p:spPr>
      </p:sp>
      <p:sp>
        <p:nvSpPr>
          <p:cNvPr id="41" name="Text 39"/>
          <p:cNvSpPr/>
          <p:nvPr/>
        </p:nvSpPr>
        <p:spPr>
          <a:xfrm>
            <a:off x="457200" y="4892040"/>
            <a:ext cx="2377440" cy="201168"/>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Protects production</a:t>
            </a:r>
            <a:endParaRPr lang="en-US" sz="850" dirty="0"/>
          </a:p>
        </p:txBody>
      </p:sp>
      <p:sp>
        <p:nvSpPr>
          <p:cNvPr id="42" name="Shape 40"/>
          <p:cNvSpPr/>
          <p:nvPr/>
        </p:nvSpPr>
        <p:spPr>
          <a:xfrm>
            <a:off x="3209544" y="3602736"/>
            <a:ext cx="2807208" cy="54864"/>
          </a:xfrm>
          <a:prstGeom prst="rect">
            <a:avLst/>
          </a:prstGeom>
          <a:solidFill>
            <a:srgbClr val="F96806"/>
          </a:solidFill>
          <a:ln/>
        </p:spPr>
      </p:sp>
      <p:sp>
        <p:nvSpPr>
          <p:cNvPr id="43" name="Shape 41"/>
          <p:cNvSpPr/>
          <p:nvPr/>
        </p:nvSpPr>
        <p:spPr>
          <a:xfrm>
            <a:off x="3209544" y="3657600"/>
            <a:ext cx="2807208" cy="1554480"/>
          </a:xfrm>
          <a:prstGeom prst="rect">
            <a:avLst/>
          </a:prstGeom>
          <a:solidFill>
            <a:srgbClr val="F2F5FC"/>
          </a:solidFill>
          <a:ln/>
        </p:spPr>
      </p:sp>
      <p:sp>
        <p:nvSpPr>
          <p:cNvPr id="44" name="Text 42"/>
          <p:cNvSpPr/>
          <p:nvPr/>
        </p:nvSpPr>
        <p:spPr>
          <a:xfrm>
            <a:off x="3355848" y="3749040"/>
            <a:ext cx="457200" cy="256032"/>
          </a:xfrm>
          <a:prstGeom prst="rect">
            <a:avLst/>
          </a:prstGeom>
          <a:noFill/>
          <a:ln/>
        </p:spPr>
        <p:txBody>
          <a:bodyPr wrap="square" rtlCol="0" anchor="ctr"/>
          <a:lstStyle/>
          <a:p>
            <a:pPr indent="0" marL="0">
              <a:buNone/>
            </a:pPr>
            <a:r>
              <a:rPr lang="en-US" sz="1400" b="1" dirty="0">
                <a:solidFill>
                  <a:srgbClr val="F96806"/>
                </a:solidFill>
                <a:latin typeface="Calibri" pitchFamily="34" charset="0"/>
                <a:ea typeface="Calibri" pitchFamily="34" charset="-122"/>
                <a:cs typeface="Calibri" pitchFamily="34" charset="-120"/>
              </a:rPr>
              <a:t>06</a:t>
            </a:r>
            <a:endParaRPr lang="en-US" sz="1400" dirty="0"/>
          </a:p>
        </p:txBody>
      </p:sp>
      <p:sp>
        <p:nvSpPr>
          <p:cNvPr id="45" name="Text 43"/>
          <p:cNvSpPr/>
          <p:nvPr/>
        </p:nvSpPr>
        <p:spPr>
          <a:xfrm>
            <a:off x="3776472" y="3730752"/>
            <a:ext cx="2121408" cy="457200"/>
          </a:xfrm>
          <a:prstGeom prst="rect">
            <a:avLst/>
          </a:prstGeom>
          <a:noFill/>
          <a:ln/>
        </p:spPr>
        <p:txBody>
          <a:bodyPr wrap="square" rtlCol="0" anchor="t"/>
          <a:lstStyle/>
          <a:p>
            <a:pPr indent="0" marL="0">
              <a:lnSpc>
                <a:spcPts val="1300"/>
              </a:lnSpc>
              <a:buNone/>
            </a:pPr>
            <a:r>
              <a:rPr lang="en-US" sz="1100" b="1" dirty="0">
                <a:solidFill>
                  <a:srgbClr val="1A288E"/>
                </a:solidFill>
                <a:latin typeface="Calibri" pitchFamily="34" charset="0"/>
                <a:ea typeface="Calibri" pitchFamily="34" charset="-122"/>
                <a:cs typeface="Calibri" pitchFamily="34" charset="-120"/>
              </a:rPr>
              <a:t>Close gaps — don't waive them</a:t>
            </a:r>
            <a:endParaRPr lang="en-US" sz="1100" dirty="0"/>
          </a:p>
        </p:txBody>
      </p:sp>
      <p:sp>
        <p:nvSpPr>
          <p:cNvPr id="46" name="Text 44"/>
          <p:cNvSpPr/>
          <p:nvPr/>
        </p:nvSpPr>
        <p:spPr>
          <a:xfrm>
            <a:off x="3355848" y="4224528"/>
            <a:ext cx="2542032" cy="603504"/>
          </a:xfrm>
          <a:prstGeom prst="rect">
            <a:avLst/>
          </a:prstGeom>
          <a:noFill/>
          <a:ln/>
        </p:spPr>
        <p:txBody>
          <a:bodyPr wrap="square" rtlCol="0" anchor="t"/>
          <a:lstStyle/>
          <a:p>
            <a:pPr indent="0" marL="0">
              <a:lnSpc>
                <a:spcPts val="1150"/>
              </a:lnSpc>
              <a:buNone/>
            </a:pPr>
            <a:r>
              <a:rPr lang="en-US" sz="900" dirty="0">
                <a:solidFill>
                  <a:srgbClr val="5B6577"/>
                </a:solidFill>
                <a:latin typeface="Calibri" pitchFamily="34" charset="0"/>
                <a:ea typeface="Calibri" pitchFamily="34" charset="-122"/>
                <a:cs typeface="Calibri" pitchFamily="34" charset="-120"/>
              </a:rPr>
              <a:t>Rule out build date and sample scope, then escalate with evidence and a proposal.</a:t>
            </a:r>
            <a:endParaRPr lang="en-US" sz="900" dirty="0"/>
          </a:p>
        </p:txBody>
      </p:sp>
      <p:sp>
        <p:nvSpPr>
          <p:cNvPr id="47" name="Shape 45"/>
          <p:cNvSpPr/>
          <p:nvPr/>
        </p:nvSpPr>
        <p:spPr>
          <a:xfrm>
            <a:off x="3355848" y="4864608"/>
            <a:ext cx="2514600" cy="256032"/>
          </a:xfrm>
          <a:prstGeom prst="rect">
            <a:avLst/>
          </a:prstGeom>
          <a:solidFill>
            <a:srgbClr val="E3EAFB"/>
          </a:solidFill>
          <a:ln/>
        </p:spPr>
      </p:sp>
      <p:sp>
        <p:nvSpPr>
          <p:cNvPr id="48" name="Text 46"/>
          <p:cNvSpPr/>
          <p:nvPr/>
        </p:nvSpPr>
        <p:spPr>
          <a:xfrm>
            <a:off x="3429000" y="4892040"/>
            <a:ext cx="2377440" cy="201168"/>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Path to 100%</a:t>
            </a:r>
            <a:endParaRPr lang="en-US" sz="850" dirty="0"/>
          </a:p>
        </p:txBody>
      </p:sp>
      <p:sp>
        <p:nvSpPr>
          <p:cNvPr id="49" name="Shape 47"/>
          <p:cNvSpPr/>
          <p:nvPr/>
        </p:nvSpPr>
        <p:spPr>
          <a:xfrm>
            <a:off x="6181344" y="3602736"/>
            <a:ext cx="2807208" cy="54864"/>
          </a:xfrm>
          <a:prstGeom prst="rect">
            <a:avLst/>
          </a:prstGeom>
          <a:solidFill>
            <a:srgbClr val="F96806"/>
          </a:solidFill>
          <a:ln/>
        </p:spPr>
      </p:sp>
      <p:sp>
        <p:nvSpPr>
          <p:cNvPr id="50" name="Shape 48"/>
          <p:cNvSpPr/>
          <p:nvPr/>
        </p:nvSpPr>
        <p:spPr>
          <a:xfrm>
            <a:off x="6181344" y="3657600"/>
            <a:ext cx="2807208" cy="1554480"/>
          </a:xfrm>
          <a:prstGeom prst="rect">
            <a:avLst/>
          </a:prstGeom>
          <a:solidFill>
            <a:srgbClr val="F2F5FC"/>
          </a:solidFill>
          <a:ln/>
        </p:spPr>
      </p:sp>
      <p:sp>
        <p:nvSpPr>
          <p:cNvPr id="51" name="Text 49"/>
          <p:cNvSpPr/>
          <p:nvPr/>
        </p:nvSpPr>
        <p:spPr>
          <a:xfrm>
            <a:off x="6327648" y="3749040"/>
            <a:ext cx="457200" cy="256032"/>
          </a:xfrm>
          <a:prstGeom prst="rect">
            <a:avLst/>
          </a:prstGeom>
          <a:noFill/>
          <a:ln/>
        </p:spPr>
        <p:txBody>
          <a:bodyPr wrap="square" rtlCol="0" anchor="ctr"/>
          <a:lstStyle/>
          <a:p>
            <a:pPr indent="0" marL="0">
              <a:buNone/>
            </a:pPr>
            <a:r>
              <a:rPr lang="en-US" sz="1400" b="1" dirty="0">
                <a:solidFill>
                  <a:srgbClr val="F96806"/>
                </a:solidFill>
                <a:latin typeface="Calibri" pitchFamily="34" charset="0"/>
                <a:ea typeface="Calibri" pitchFamily="34" charset="-122"/>
                <a:cs typeface="Calibri" pitchFamily="34" charset="-120"/>
              </a:rPr>
              <a:t>07</a:t>
            </a:r>
            <a:endParaRPr lang="en-US" sz="1400" dirty="0"/>
          </a:p>
        </p:txBody>
      </p:sp>
      <p:sp>
        <p:nvSpPr>
          <p:cNvPr id="52" name="Text 50"/>
          <p:cNvSpPr/>
          <p:nvPr/>
        </p:nvSpPr>
        <p:spPr>
          <a:xfrm>
            <a:off x="6748272" y="3730752"/>
            <a:ext cx="2121408" cy="457200"/>
          </a:xfrm>
          <a:prstGeom prst="rect">
            <a:avLst/>
          </a:prstGeom>
          <a:noFill/>
          <a:ln/>
        </p:spPr>
        <p:txBody>
          <a:bodyPr wrap="square" rtlCol="0" anchor="t"/>
          <a:lstStyle/>
          <a:p>
            <a:pPr indent="0" marL="0">
              <a:lnSpc>
                <a:spcPts val="1300"/>
              </a:lnSpc>
              <a:buNone/>
            </a:pPr>
            <a:r>
              <a:rPr lang="en-US" sz="1100" b="1" dirty="0">
                <a:solidFill>
                  <a:srgbClr val="1A288E"/>
                </a:solidFill>
                <a:latin typeface="Calibri" pitchFamily="34" charset="0"/>
                <a:ea typeface="Calibri" pitchFamily="34" charset="-122"/>
                <a:cs typeface="Calibri" pitchFamily="34" charset="-120"/>
              </a:rPr>
              <a:t>Route meaning changes to the business</a:t>
            </a:r>
            <a:endParaRPr lang="en-US" sz="1100" dirty="0"/>
          </a:p>
        </p:txBody>
      </p:sp>
      <p:sp>
        <p:nvSpPr>
          <p:cNvPr id="53" name="Text 51"/>
          <p:cNvSpPr/>
          <p:nvPr/>
        </p:nvSpPr>
        <p:spPr>
          <a:xfrm>
            <a:off x="6327648" y="4224528"/>
            <a:ext cx="2542032" cy="603504"/>
          </a:xfrm>
          <a:prstGeom prst="rect">
            <a:avLst/>
          </a:prstGeom>
          <a:noFill/>
          <a:ln/>
        </p:spPr>
        <p:txBody>
          <a:bodyPr wrap="square" rtlCol="0" anchor="t"/>
          <a:lstStyle/>
          <a:p>
            <a:pPr indent="0" marL="0">
              <a:lnSpc>
                <a:spcPts val="1150"/>
              </a:lnSpc>
              <a:buNone/>
            </a:pPr>
            <a:r>
              <a:rPr lang="en-US" sz="900" dirty="0">
                <a:solidFill>
                  <a:srgbClr val="5B6577"/>
                </a:solidFill>
                <a:latin typeface="Calibri" pitchFamily="34" charset="0"/>
                <a:ea typeface="Calibri" pitchFamily="34" charset="-122"/>
                <a:cs typeface="Calibri" pitchFamily="34" charset="-120"/>
              </a:rPr>
              <a:t>Evidence, impact and recommendation to the owner; decisions logged.</a:t>
            </a:r>
            <a:endParaRPr lang="en-US" sz="900" dirty="0"/>
          </a:p>
        </p:txBody>
      </p:sp>
      <p:sp>
        <p:nvSpPr>
          <p:cNvPr id="54" name="Shape 52"/>
          <p:cNvSpPr/>
          <p:nvPr/>
        </p:nvSpPr>
        <p:spPr>
          <a:xfrm>
            <a:off x="6327648" y="4864608"/>
            <a:ext cx="2514600" cy="256032"/>
          </a:xfrm>
          <a:prstGeom prst="rect">
            <a:avLst/>
          </a:prstGeom>
          <a:solidFill>
            <a:srgbClr val="E3EAFB"/>
          </a:solidFill>
          <a:ln/>
        </p:spPr>
      </p:sp>
      <p:sp>
        <p:nvSpPr>
          <p:cNvPr id="55" name="Text 53"/>
          <p:cNvSpPr/>
          <p:nvPr/>
        </p:nvSpPr>
        <p:spPr>
          <a:xfrm>
            <a:off x="6400800" y="4892040"/>
            <a:ext cx="2377440" cy="201168"/>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Builds client trust</a:t>
            </a:r>
            <a:endParaRPr lang="en-US" sz="850" dirty="0"/>
          </a:p>
        </p:txBody>
      </p:sp>
      <p:sp>
        <p:nvSpPr>
          <p:cNvPr id="56" name="Shape 54"/>
          <p:cNvSpPr/>
          <p:nvPr/>
        </p:nvSpPr>
        <p:spPr>
          <a:xfrm>
            <a:off x="9153144" y="3602736"/>
            <a:ext cx="2807208" cy="54864"/>
          </a:xfrm>
          <a:prstGeom prst="rect">
            <a:avLst/>
          </a:prstGeom>
          <a:solidFill>
            <a:srgbClr val="F96806"/>
          </a:solidFill>
          <a:ln/>
        </p:spPr>
      </p:sp>
      <p:sp>
        <p:nvSpPr>
          <p:cNvPr id="57" name="Shape 55"/>
          <p:cNvSpPr/>
          <p:nvPr/>
        </p:nvSpPr>
        <p:spPr>
          <a:xfrm>
            <a:off x="9153144" y="3657600"/>
            <a:ext cx="2807208" cy="1554480"/>
          </a:xfrm>
          <a:prstGeom prst="rect">
            <a:avLst/>
          </a:prstGeom>
          <a:solidFill>
            <a:srgbClr val="F2F5FC"/>
          </a:solidFill>
          <a:ln/>
        </p:spPr>
      </p:sp>
      <p:sp>
        <p:nvSpPr>
          <p:cNvPr id="58" name="Text 56"/>
          <p:cNvSpPr/>
          <p:nvPr/>
        </p:nvSpPr>
        <p:spPr>
          <a:xfrm>
            <a:off x="9299448" y="3749040"/>
            <a:ext cx="457200" cy="256032"/>
          </a:xfrm>
          <a:prstGeom prst="rect">
            <a:avLst/>
          </a:prstGeom>
          <a:noFill/>
          <a:ln/>
        </p:spPr>
        <p:txBody>
          <a:bodyPr wrap="square" rtlCol="0" anchor="ctr"/>
          <a:lstStyle/>
          <a:p>
            <a:pPr indent="0" marL="0">
              <a:buNone/>
            </a:pPr>
            <a:r>
              <a:rPr lang="en-US" sz="1400" b="1" dirty="0">
                <a:solidFill>
                  <a:srgbClr val="F96806"/>
                </a:solidFill>
                <a:latin typeface="Calibri" pitchFamily="34" charset="0"/>
                <a:ea typeface="Calibri" pitchFamily="34" charset="-122"/>
                <a:cs typeface="Calibri" pitchFamily="34" charset="-120"/>
              </a:rPr>
              <a:t>08</a:t>
            </a:r>
            <a:endParaRPr lang="en-US" sz="1400" dirty="0"/>
          </a:p>
        </p:txBody>
      </p:sp>
      <p:sp>
        <p:nvSpPr>
          <p:cNvPr id="59" name="Text 57"/>
          <p:cNvSpPr/>
          <p:nvPr/>
        </p:nvSpPr>
        <p:spPr>
          <a:xfrm>
            <a:off x="9720072" y="3730752"/>
            <a:ext cx="2121408" cy="457200"/>
          </a:xfrm>
          <a:prstGeom prst="rect">
            <a:avLst/>
          </a:prstGeom>
          <a:noFill/>
          <a:ln/>
        </p:spPr>
        <p:txBody>
          <a:bodyPr wrap="square" rtlCol="0" anchor="t"/>
          <a:lstStyle/>
          <a:p>
            <a:pPr indent="0" marL="0">
              <a:lnSpc>
                <a:spcPts val="1300"/>
              </a:lnSpc>
              <a:buNone/>
            </a:pPr>
            <a:r>
              <a:rPr lang="en-US" sz="1100" b="1" dirty="0">
                <a:solidFill>
                  <a:srgbClr val="1A288E"/>
                </a:solidFill>
                <a:latin typeface="Calibri" pitchFamily="34" charset="0"/>
                <a:ea typeface="Calibri" pitchFamily="34" charset="-122"/>
                <a:cs typeface="Calibri" pitchFamily="34" charset="-120"/>
              </a:rPr>
              <a:t>Size runtime by queries, not rows</a:t>
            </a:r>
            <a:endParaRPr lang="en-US" sz="1100" dirty="0"/>
          </a:p>
        </p:txBody>
      </p:sp>
      <p:sp>
        <p:nvSpPr>
          <p:cNvPr id="60" name="Text 58"/>
          <p:cNvSpPr/>
          <p:nvPr/>
        </p:nvSpPr>
        <p:spPr>
          <a:xfrm>
            <a:off x="9299448" y="4224528"/>
            <a:ext cx="2542032" cy="603504"/>
          </a:xfrm>
          <a:prstGeom prst="rect">
            <a:avLst/>
          </a:prstGeom>
          <a:noFill/>
          <a:ln/>
        </p:spPr>
        <p:txBody>
          <a:bodyPr wrap="square" rtlCol="0" anchor="t"/>
          <a:lstStyle/>
          <a:p>
            <a:pPr indent="0" marL="0">
              <a:lnSpc>
                <a:spcPts val="1150"/>
              </a:lnSpc>
              <a:buNone/>
            </a:pPr>
            <a:r>
              <a:rPr lang="en-US" sz="900" dirty="0">
                <a:solidFill>
                  <a:srgbClr val="5B6577"/>
                </a:solidFill>
                <a:latin typeface="Calibri" pitchFamily="34" charset="0"/>
                <a:ea typeface="Calibri" pitchFamily="34" charset="-122"/>
                <a:cs typeface="Calibri" pitchFamily="34" charset="-120"/>
              </a:rPr>
              <a:t>Plan parallelism and staging around query count and per-query latency.</a:t>
            </a:r>
            <a:endParaRPr lang="en-US" sz="900" dirty="0"/>
          </a:p>
        </p:txBody>
      </p:sp>
      <p:sp>
        <p:nvSpPr>
          <p:cNvPr id="61" name="Shape 59"/>
          <p:cNvSpPr/>
          <p:nvPr/>
        </p:nvSpPr>
        <p:spPr>
          <a:xfrm>
            <a:off x="9299448" y="4864608"/>
            <a:ext cx="2514600" cy="256032"/>
          </a:xfrm>
          <a:prstGeom prst="rect">
            <a:avLst/>
          </a:prstGeom>
          <a:solidFill>
            <a:srgbClr val="E3EAFB"/>
          </a:solidFill>
          <a:ln/>
        </p:spPr>
      </p:sp>
      <p:sp>
        <p:nvSpPr>
          <p:cNvPr id="62" name="Text 60"/>
          <p:cNvSpPr/>
          <p:nvPr/>
        </p:nvSpPr>
        <p:spPr>
          <a:xfrm>
            <a:off x="9372600" y="4892040"/>
            <a:ext cx="2377440" cy="201168"/>
          </a:xfrm>
          <a:prstGeom prst="rect">
            <a:avLst/>
          </a:prstGeom>
          <a:noFill/>
          <a:ln/>
        </p:spPr>
        <p:txBody>
          <a:bodyPr wrap="square" rtlCol="0" anchor="ctr"/>
          <a:lstStyle/>
          <a:p>
            <a:pPr indent="0" marL="0">
              <a:buNone/>
            </a:pPr>
            <a:r>
              <a:rPr lang="en-US" sz="850" b="1" dirty="0">
                <a:solidFill>
                  <a:srgbClr val="113C75"/>
                </a:solidFill>
                <a:latin typeface="Calibri" pitchFamily="34" charset="0"/>
                <a:ea typeface="Calibri" pitchFamily="34" charset="-122"/>
                <a:cs typeface="Calibri" pitchFamily="34" charset="-120"/>
              </a:rPr>
              <a:t>Accurate run windows</a:t>
            </a:r>
            <a:endParaRPr lang="en-US" sz="850" dirty="0"/>
          </a:p>
        </p:txBody>
      </p:sp>
      <p:sp>
        <p:nvSpPr>
          <p:cNvPr id="63" name="Shape 61"/>
          <p:cNvSpPr/>
          <p:nvPr/>
        </p:nvSpPr>
        <p:spPr>
          <a:xfrm>
            <a:off x="237744" y="5422392"/>
            <a:ext cx="11713464" cy="758952"/>
          </a:xfrm>
          <a:prstGeom prst="rect">
            <a:avLst/>
          </a:prstGeom>
          <a:solidFill>
            <a:srgbClr val="1A288E"/>
          </a:solidFill>
          <a:ln/>
        </p:spPr>
      </p:sp>
      <p:sp>
        <p:nvSpPr>
          <p:cNvPr id="64" name="Text 62"/>
          <p:cNvSpPr/>
          <p:nvPr/>
        </p:nvSpPr>
        <p:spPr>
          <a:xfrm>
            <a:off x="438912" y="5504688"/>
            <a:ext cx="11311128" cy="182880"/>
          </a:xfrm>
          <a:prstGeom prst="rect">
            <a:avLst/>
          </a:prstGeom>
          <a:noFill/>
          <a:ln/>
        </p:spPr>
        <p:txBody>
          <a:bodyPr wrap="square" rtlCol="0" anchor="ctr"/>
          <a:lstStyle/>
          <a:p>
            <a:pPr indent="0" marL="0">
              <a:buNone/>
            </a:pPr>
            <a:r>
              <a:rPr lang="en-US" sz="900" b="1" spc="120" kern="0" dirty="0">
                <a:solidFill>
                  <a:srgbClr val="F96806"/>
                </a:solidFill>
                <a:latin typeface="Calibri" pitchFamily="34" charset="0"/>
                <a:ea typeface="Calibri" pitchFamily="34" charset="-122"/>
                <a:cs typeface="Calibri" pitchFamily="34" charset="-120"/>
              </a:rPr>
              <a:t>WHY THIS MATTERS BEYOND ONE CLIENT</a:t>
            </a:r>
            <a:endParaRPr lang="en-US" sz="900" dirty="0"/>
          </a:p>
        </p:txBody>
      </p:sp>
      <p:sp>
        <p:nvSpPr>
          <p:cNvPr id="65" name="Text 63"/>
          <p:cNvSpPr/>
          <p:nvPr/>
        </p:nvSpPr>
        <p:spPr>
          <a:xfrm>
            <a:off x="438912" y="5696712"/>
            <a:ext cx="11311128" cy="411480"/>
          </a:xfrm>
          <a:prstGeom prst="rect">
            <a:avLst/>
          </a:prstGeom>
          <a:noFill/>
          <a:ln/>
        </p:spPr>
        <p:txBody>
          <a:bodyPr wrap="square"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Any organisation running undocumented legacy analytics faces the same problems — no lineage, changed platform semantics, and no way to prove correctness. This method answers all three, to 100% population</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A288E"/>
        </a:solidFill>
      </p:bgPr>
    </p:bg>
    <p:spTree>
      <p:nvGrpSpPr>
        <p:cNvPr id="1" name=""/>
        <p:cNvGrpSpPr/>
        <p:nvPr/>
      </p:nvGrpSpPr>
      <p:grpSpPr>
        <a:xfrm>
          <a:off x="0" y="0"/>
          <a:ext cx="0" cy="0"/>
          <a:chOff x="0" y="0"/>
          <a:chExt cx="0" cy="0"/>
        </a:xfrm>
      </p:grpSpPr>
      <p:sp>
        <p:nvSpPr>
          <p:cNvPr id="2" name="Shape 0"/>
          <p:cNvSpPr/>
          <p:nvPr/>
        </p:nvSpPr>
        <p:spPr>
          <a:xfrm>
            <a:off x="-2011680" y="4206240"/>
            <a:ext cx="4937760" cy="4937760"/>
          </a:xfrm>
          <a:prstGeom prst="ellipse">
            <a:avLst/>
          </a:prstGeom>
          <a:solidFill>
            <a:srgbClr val="22318F"/>
          </a:solidFill>
          <a:ln/>
        </p:spPr>
      </p:sp>
      <p:sp>
        <p:nvSpPr>
          <p:cNvPr id="3" name="Shape 1"/>
          <p:cNvSpPr/>
          <p:nvPr/>
        </p:nvSpPr>
        <p:spPr>
          <a:xfrm>
            <a:off x="10058400" y="-1645920"/>
            <a:ext cx="4206240" cy="4206240"/>
          </a:xfrm>
          <a:prstGeom prst="ellipse">
            <a:avLst/>
          </a:prstGeom>
          <a:solidFill>
            <a:srgbClr val="22318F"/>
          </a:solidFill>
          <a:ln/>
        </p:spPr>
      </p:sp>
      <p:sp>
        <p:nvSpPr>
          <p:cNvPr id="4" name="Text 2"/>
          <p:cNvSpPr/>
          <p:nvPr/>
        </p:nvSpPr>
        <p:spPr>
          <a:xfrm>
            <a:off x="740664" y="777240"/>
            <a:ext cx="7315200" cy="274320"/>
          </a:xfrm>
          <a:prstGeom prst="rect">
            <a:avLst/>
          </a:prstGeom>
          <a:noFill/>
          <a:ln/>
        </p:spPr>
        <p:txBody>
          <a:bodyPr wrap="square" rtlCol="0" anchor="ctr"/>
          <a:lstStyle/>
          <a:p>
            <a:pPr indent="0" marL="0">
              <a:buNone/>
            </a:pPr>
            <a:r>
              <a:rPr lang="en-US" sz="1100" b="1" spc="150" kern="0" dirty="0">
                <a:solidFill>
                  <a:srgbClr val="F96806"/>
                </a:solidFill>
                <a:latin typeface="Calibri" pitchFamily="34" charset="0"/>
                <a:ea typeface="Calibri" pitchFamily="34" charset="-122"/>
                <a:cs typeface="Calibri" pitchFamily="34" charset="-120"/>
              </a:rPr>
              <a:t>WHERE THIS LEAVES US</a:t>
            </a:r>
            <a:endParaRPr lang="en-US" sz="1100" dirty="0"/>
          </a:p>
        </p:txBody>
      </p:sp>
      <p:sp>
        <p:nvSpPr>
          <p:cNvPr id="5" name="Text 3"/>
          <p:cNvSpPr/>
          <p:nvPr/>
        </p:nvSpPr>
        <p:spPr>
          <a:xfrm>
            <a:off x="740664" y="1097280"/>
            <a:ext cx="10058400" cy="658368"/>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Discovery Was the Deliverable</a:t>
            </a:r>
            <a:endParaRPr lang="en-US" sz="3200" dirty="0"/>
          </a:p>
        </p:txBody>
      </p:sp>
      <p:sp>
        <p:nvSpPr>
          <p:cNvPr id="6" name="Text 4"/>
          <p:cNvSpPr/>
          <p:nvPr/>
        </p:nvSpPr>
        <p:spPr>
          <a:xfrm>
            <a:off x="740664" y="1828800"/>
            <a:ext cx="10607040" cy="822960"/>
          </a:xfrm>
          <a:prstGeom prst="rect">
            <a:avLst/>
          </a:prstGeom>
          <a:noFill/>
          <a:ln/>
        </p:spPr>
        <p:txBody>
          <a:bodyPr wrap="square" rtlCol="0" anchor="ctr"/>
          <a:lstStyle/>
          <a:p>
            <a:pPr indent="0" marL="0">
              <a:lnSpc>
                <a:spcPts val="1900"/>
              </a:lnSpc>
              <a:buNone/>
            </a:pPr>
            <a:r>
              <a:rPr lang="en-US" sz="1300" dirty="0">
                <a:solidFill>
                  <a:srgbClr val="CADCFC"/>
                </a:solidFill>
                <a:latin typeface="Calibri" pitchFamily="34" charset="0"/>
                <a:ea typeface="Calibri" pitchFamily="34" charset="-122"/>
                <a:cs typeface="Calibri" pitchFamily="34" charset="-120"/>
              </a:rPr>
              <a:t>The engagement was scoped as a remapping exercise. What it required was reconstructing an undocumented system well enough to reason about it — and that understanding, not any single fix, is what took the pipeline from ~5,000 errors to 475 of 475 variables populating.</a:t>
            </a:r>
            <a:endParaRPr lang="en-US" sz="1300" dirty="0"/>
          </a:p>
        </p:txBody>
      </p:sp>
      <p:sp>
        <p:nvSpPr>
          <p:cNvPr id="7" name="Shape 5"/>
          <p:cNvSpPr/>
          <p:nvPr/>
        </p:nvSpPr>
        <p:spPr>
          <a:xfrm>
            <a:off x="740664" y="2971800"/>
            <a:ext cx="3401568" cy="45720"/>
          </a:xfrm>
          <a:prstGeom prst="rect">
            <a:avLst/>
          </a:prstGeom>
          <a:solidFill>
            <a:srgbClr val="F96806"/>
          </a:solidFill>
          <a:ln/>
        </p:spPr>
      </p:sp>
      <p:sp>
        <p:nvSpPr>
          <p:cNvPr id="8" name="Text 6"/>
          <p:cNvSpPr/>
          <p:nvPr/>
        </p:nvSpPr>
        <p:spPr>
          <a:xfrm>
            <a:off x="740664" y="3127248"/>
            <a:ext cx="3401568" cy="274320"/>
          </a:xfrm>
          <a:prstGeom prst="rect">
            <a:avLst/>
          </a:prstGeom>
          <a:noFill/>
          <a:ln/>
        </p:spPr>
        <p:txBody>
          <a:bodyPr wrap="square"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 pipeline that runs</a:t>
            </a:r>
            <a:endParaRPr lang="en-US" sz="1400" dirty="0"/>
          </a:p>
        </p:txBody>
      </p:sp>
      <p:sp>
        <p:nvSpPr>
          <p:cNvPr id="9" name="Text 7"/>
          <p:cNvSpPr/>
          <p:nvPr/>
        </p:nvSpPr>
        <p:spPr>
          <a:xfrm>
            <a:off x="740664" y="3474720"/>
            <a:ext cx="3401568" cy="960120"/>
          </a:xfrm>
          <a:prstGeom prst="rect">
            <a:avLst/>
          </a:prstGeom>
          <a:noFill/>
          <a:ln/>
        </p:spPr>
        <p:txBody>
          <a:bodyPr wrap="square" rtlCol="0" anchor="t"/>
          <a:lstStyle/>
          <a:p>
            <a:pPr indent="0" marL="0">
              <a:lnSpc>
                <a:spcPts val="1400"/>
              </a:lnSpc>
              <a:buNone/>
            </a:pPr>
            <a:r>
              <a:rPr lang="en-US" sz="1050" dirty="0">
                <a:solidFill>
                  <a:srgbClr val="9FBEE8"/>
                </a:solidFill>
                <a:latin typeface="Calibri" pitchFamily="34" charset="0"/>
                <a:ea typeface="Calibri" pitchFamily="34" charset="-122"/>
                <a:cs typeface="Calibri" pitchFamily="34" charset="-120"/>
              </a:rPr>
              <a:t>Zero errors, 100% of 475 variables populating, reconciled against legacy and signed off.</a:t>
            </a:r>
            <a:endParaRPr lang="en-US" sz="1050" dirty="0"/>
          </a:p>
        </p:txBody>
      </p:sp>
      <p:sp>
        <p:nvSpPr>
          <p:cNvPr id="10" name="Shape 8"/>
          <p:cNvSpPr/>
          <p:nvPr/>
        </p:nvSpPr>
        <p:spPr>
          <a:xfrm>
            <a:off x="4334256" y="2971800"/>
            <a:ext cx="3401568" cy="45720"/>
          </a:xfrm>
          <a:prstGeom prst="rect">
            <a:avLst/>
          </a:prstGeom>
          <a:solidFill>
            <a:srgbClr val="F96806"/>
          </a:solidFill>
          <a:ln/>
        </p:spPr>
      </p:sp>
      <p:sp>
        <p:nvSpPr>
          <p:cNvPr id="11" name="Text 9"/>
          <p:cNvSpPr/>
          <p:nvPr/>
        </p:nvSpPr>
        <p:spPr>
          <a:xfrm>
            <a:off x="4334256" y="3127248"/>
            <a:ext cx="3401568" cy="274320"/>
          </a:xfrm>
          <a:prstGeom prst="rect">
            <a:avLst/>
          </a:prstGeom>
          <a:noFill/>
          <a:ln/>
        </p:spPr>
        <p:txBody>
          <a:bodyPr wrap="square"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 codebase still the client's</a:t>
            </a:r>
            <a:endParaRPr lang="en-US" sz="1400" dirty="0"/>
          </a:p>
        </p:txBody>
      </p:sp>
      <p:sp>
        <p:nvSpPr>
          <p:cNvPr id="12" name="Text 10"/>
          <p:cNvSpPr/>
          <p:nvPr/>
        </p:nvSpPr>
        <p:spPr>
          <a:xfrm>
            <a:off x="4334256" y="3474720"/>
            <a:ext cx="3401568" cy="960120"/>
          </a:xfrm>
          <a:prstGeom prst="rect">
            <a:avLst/>
          </a:prstGeom>
          <a:noFill/>
          <a:ln/>
        </p:spPr>
        <p:txBody>
          <a:bodyPr wrap="square" rtlCol="0" anchor="t"/>
          <a:lstStyle/>
          <a:p>
            <a:pPr indent="0" marL="0">
              <a:lnSpc>
                <a:spcPts val="1400"/>
              </a:lnSpc>
              <a:buNone/>
            </a:pPr>
            <a:r>
              <a:rPr lang="en-US" sz="1050" dirty="0">
                <a:solidFill>
                  <a:srgbClr val="9FBEE8"/>
                </a:solidFill>
                <a:latin typeface="Calibri" pitchFamily="34" charset="0"/>
                <a:ea typeface="Calibri" pitchFamily="34" charset="-122"/>
                <a:cs typeface="Calibri" pitchFamily="34" charset="-120"/>
              </a:rPr>
              <a:t>Original library untouched; two bridges hold every platform accommodation, documented and reviewable.</a:t>
            </a:r>
            <a:endParaRPr lang="en-US" sz="1050" dirty="0"/>
          </a:p>
        </p:txBody>
      </p:sp>
      <p:sp>
        <p:nvSpPr>
          <p:cNvPr id="13" name="Shape 11"/>
          <p:cNvSpPr/>
          <p:nvPr/>
        </p:nvSpPr>
        <p:spPr>
          <a:xfrm>
            <a:off x="7927848" y="2971800"/>
            <a:ext cx="3401568" cy="45720"/>
          </a:xfrm>
          <a:prstGeom prst="rect">
            <a:avLst/>
          </a:prstGeom>
          <a:solidFill>
            <a:srgbClr val="F96806"/>
          </a:solidFill>
          <a:ln/>
        </p:spPr>
      </p:sp>
      <p:sp>
        <p:nvSpPr>
          <p:cNvPr id="14" name="Text 12"/>
          <p:cNvSpPr/>
          <p:nvPr/>
        </p:nvSpPr>
        <p:spPr>
          <a:xfrm>
            <a:off x="7927848" y="3127248"/>
            <a:ext cx="3401568" cy="274320"/>
          </a:xfrm>
          <a:prstGeom prst="rect">
            <a:avLst/>
          </a:prstGeom>
          <a:noFill/>
          <a:ln/>
        </p:spPr>
        <p:txBody>
          <a:bodyPr wrap="square"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 repeatable method</a:t>
            </a:r>
            <a:endParaRPr lang="en-US" sz="1400" dirty="0"/>
          </a:p>
        </p:txBody>
      </p:sp>
      <p:sp>
        <p:nvSpPr>
          <p:cNvPr id="15" name="Text 13"/>
          <p:cNvSpPr/>
          <p:nvPr/>
        </p:nvSpPr>
        <p:spPr>
          <a:xfrm>
            <a:off x="7927848" y="3474720"/>
            <a:ext cx="3401568" cy="960120"/>
          </a:xfrm>
          <a:prstGeom prst="rect">
            <a:avLst/>
          </a:prstGeom>
          <a:noFill/>
          <a:ln/>
        </p:spPr>
        <p:txBody>
          <a:bodyPr wrap="square" rtlCol="0" anchor="t"/>
          <a:lstStyle/>
          <a:p>
            <a:pPr indent="0" marL="0">
              <a:lnSpc>
                <a:spcPts val="1400"/>
              </a:lnSpc>
              <a:buNone/>
            </a:pPr>
            <a:r>
              <a:rPr lang="en-US" sz="1050" dirty="0">
                <a:solidFill>
                  <a:srgbClr val="9FBEE8"/>
                </a:solidFill>
                <a:latin typeface="Calibri" pitchFamily="34" charset="0"/>
                <a:ea typeface="Calibri" pitchFamily="34" charset="-122"/>
                <a:cs typeface="Calibri" pitchFamily="34" charset="-120"/>
              </a:rPr>
              <a:t>Diagnose at source, fix the generator, prove by value, govern meaning with the business, write it all down.</a:t>
            </a:r>
            <a:endParaRPr lang="en-US" sz="1050" dirty="0"/>
          </a:p>
        </p:txBody>
      </p:sp>
      <p:sp>
        <p:nvSpPr>
          <p:cNvPr id="16" name="Shape 14"/>
          <p:cNvSpPr/>
          <p:nvPr/>
        </p:nvSpPr>
        <p:spPr>
          <a:xfrm>
            <a:off x="740664" y="4800600"/>
            <a:ext cx="10625328" cy="822960"/>
          </a:xfrm>
          <a:prstGeom prst="rect">
            <a:avLst/>
          </a:prstGeom>
          <a:solidFill>
            <a:srgbClr val="22318F"/>
          </a:solidFill>
          <a:ln/>
        </p:spPr>
      </p:sp>
      <p:sp>
        <p:nvSpPr>
          <p:cNvPr id="17" name="Text 15"/>
          <p:cNvSpPr/>
          <p:nvPr/>
        </p:nvSpPr>
        <p:spPr>
          <a:xfrm>
            <a:off x="923544" y="5001768"/>
            <a:ext cx="10241280" cy="438912"/>
          </a:xfrm>
          <a:prstGeom prst="rect">
            <a:avLst/>
          </a:prstGeom>
          <a:noFill/>
          <a:ln/>
        </p:spPr>
        <p:txBody>
          <a:bodyPr wrap="square" rtlCol="0" anchor="ctr"/>
          <a:lstStyle/>
          <a:p>
            <a:pPr indent="0" marL="0">
              <a:lnSpc>
                <a:spcPts val="1600"/>
              </a:lnSpc>
              <a:buNone/>
            </a:pPr>
            <a:r>
              <a:rPr lang="en-US" sz="1200" b="1" dirty="0">
                <a:solidFill>
                  <a:srgbClr val="FFFFFF"/>
                </a:solidFill>
                <a:latin typeface="Calibri" pitchFamily="34" charset="0"/>
                <a:ea typeface="Calibri" pitchFamily="34" charset="-122"/>
                <a:cs typeface="Calibri" pitchFamily="34" charset="-120"/>
              </a:rPr>
              <a:t>No variable was waived. Every closure — code, reference data or business rule — is evidenced at source and recorded in the fix and decision registers</a:t>
            </a:r>
            <a:endParaRPr lang="en-US" sz="1200" dirty="0"/>
          </a:p>
        </p:txBody>
      </p:sp>
      <p:sp>
        <p:nvSpPr>
          <p:cNvPr id="18" name="Text 16"/>
          <p:cNvSpPr/>
          <p:nvPr/>
        </p:nvSpPr>
        <p:spPr>
          <a:xfrm>
            <a:off x="740664" y="5943600"/>
            <a:ext cx="10607040" cy="274320"/>
          </a:xfrm>
          <a:prstGeom prst="rect">
            <a:avLst/>
          </a:prstGeom>
          <a:noFill/>
          <a:ln/>
        </p:spPr>
        <p:txBody>
          <a:bodyPr wrap="square" rtlCol="0" anchor="ctr"/>
          <a:lstStyle/>
          <a:p>
            <a:pPr indent="0" marL="0">
              <a:buNone/>
            </a:pPr>
            <a:r>
              <a:rPr lang="en-US" sz="900" i="1" dirty="0">
                <a:solidFill>
                  <a:srgbClr val="9FBEE8"/>
                </a:solidFill>
                <a:latin typeface="Calibri" pitchFamily="34" charset="0"/>
                <a:ea typeface="Calibri" pitchFamily="34" charset="-122"/>
                <a:cs typeface="Calibri" pitchFamily="34" charset="-120"/>
              </a:rPr>
              <a:t>Client Analytics  ·  Showcase Edition  ·  "Meridian Media" is a hypothetical organisation; all names, figures and code identifiers are illustrative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2026-10-04T09:34:52Z</dcterms:created>
  <dcterms:modified xsi:type="dcterms:W3CDTF">2026-10-04T09:34:52Z</dcterms:modified>
</cp:coreProperties>
</file>